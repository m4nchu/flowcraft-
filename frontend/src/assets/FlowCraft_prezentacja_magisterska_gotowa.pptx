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209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A255-E297-C454-4010-DBC1F6943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2C952-6343-5819-6193-7648BABA0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92EA5-D8C3-FCAF-4EF7-AC45439A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04FB8-BEBB-7023-FD97-06F730B68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D821B-7354-CEF7-003B-16D8383B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06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8F262-89B6-284B-6FA3-2EF38290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4D186-9C23-2B6A-0441-17442DADC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815EA-CCE2-4E9E-9756-4CD74E68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7CD3C-FB2D-EA0A-246B-A0DF3A66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971BE-32F9-C230-CD02-23DF5AF2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342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2F9D-1EAD-3896-1DBC-392532059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B8D32-1FA8-C71A-4A24-8A9C5B7B0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690C0-FA91-882B-6B97-E0E00EA5F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B6C73-7D46-E329-32B5-CF6510C1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9433E-71FD-B9A4-D3F9-71915241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83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1FD41-788E-8A54-187A-ABA86CC0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A211B-0AF0-A0B7-2898-C50E3CE54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86D4E-06AE-3131-5F8B-B13AEEBB2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98AB0-8A26-3EAB-7028-E4D49C6E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96A35-FD76-D434-0C09-0546222E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B6D7A-BED2-20BE-E839-C2F1F582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399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04A7-D179-34FE-9DFC-47788FC41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2FD06-D8AC-245C-145D-A37F8C02D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51CA4-0492-5590-C82A-B81B4C402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CD70-B01F-FF25-175A-E2EC8352C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F4C7C-864C-D286-5A2B-22210FFFE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E1F659-BE73-2E59-3DC9-AFA9B2079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CB6594-89CF-72CC-B37B-55EF5D84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AC4345-1024-9CA8-9979-E18EE9F7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63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EFDC-9D91-F824-D309-5F764CE1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B33CE-55DC-1B97-AADB-D41ED102E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3AE4D-AC54-6FFE-335E-76414413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C69FA-08C6-99BA-FDF8-A330824B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07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07C91-4F8A-919C-4AF5-9CB198FDB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91D42-1F7B-F2BD-1249-3ACB2A58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D41BD-951D-8FD5-5BB8-6E57AE83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14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536AA-6EE3-C382-8B84-5FF57DCAE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FE2B3-4213-8020-A9C3-555CD0BC0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B8F7E-812E-7126-069F-957F4D47E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388F3-F483-6045-5E63-FF0DD620A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E2B15-5923-DD7D-6073-0A1E8A99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9A20D-B257-893E-5CCF-28963ABB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11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6442-4174-F42E-B75A-3931D5B3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E6CACA-8E12-32A8-CCB7-8EC774040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5401E-C977-4CFC-80B9-3A521E753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C5FE9-9760-1105-4AB3-64EEA883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728EF-DBB1-2943-A6C2-78D5C0954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EDA79-7C78-0B7A-5969-7D15ABB67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96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5D75-4564-8CBD-DEEC-FDBB592E5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4C717-4229-911B-D13A-9254ADAB6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C4BDF-1D09-B162-1727-2B31642F0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4D32E-CC0F-978B-20A4-DEBD8910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3CE42-513E-92E3-93C5-9A3369E5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170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D9EDB-340A-361C-E4D3-8FF5F5EB99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F4860-5BA8-59B5-B88D-8C40CB783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66960-C73F-B86F-F60B-72B201BE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F048E-10C7-2A89-FD12-B754F8B8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B6F5A-7000-8F7D-4111-2DAE7A8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599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D7C13-5CAE-9851-1474-488B290B1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4121D-4203-B9C4-D4F7-CD073B532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BE227-D2A8-7BDF-309C-814342F96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ADA02-12A5-4FCD-935C-DA8D82E8505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67E39-5D82-F5BA-30F7-26B4D2A09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5847D-06BE-110A-2CFD-DC23EC767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49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EC257E-D155-1CDE-C269-919D96EDCAE1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2D47B8-4A10-944B-69C0-7DB84D3982D9}"/>
              </a:ext>
            </a:extLst>
          </p:cNvPr>
          <p:cNvSpPr/>
          <p:nvPr/>
        </p:nvSpPr>
        <p:spPr>
          <a:xfrm>
            <a:off x="0" y="1"/>
            <a:ext cx="889000" cy="57150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4A985-6661-D37E-9A27-518147375A47}"/>
              </a:ext>
            </a:extLst>
          </p:cNvPr>
          <p:cNvSpPr txBox="1"/>
          <p:nvPr/>
        </p:nvSpPr>
        <p:spPr>
          <a:xfrm>
            <a:off x="1168400" y="584200"/>
            <a:ext cx="7786914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600" b="1">
                <a:solidFill>
                  <a:srgbClr val="0D9488"/>
                </a:solidFill>
                <a:latin typeface="Aptos Display" panose="020B0004020202020204" pitchFamily="34" charset="0"/>
              </a:rPr>
              <a:t>FlowCraft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D2E5DA-93DD-4DDA-F3C0-78C71FCACFA8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084E0-7F83-125A-7DF5-DB3307398F27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02491-710E-A6E5-1FB4-D2E55BA956D4}"/>
              </a:ext>
            </a:extLst>
          </p:cNvPr>
          <p:cNvSpPr txBox="1"/>
          <p:nvPr/>
        </p:nvSpPr>
        <p:spPr>
          <a:xfrm>
            <a:off x="1168400" y="1905000"/>
            <a:ext cx="7786914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l-PL" sz="2400" dirty="0">
                <a:solidFill>
                  <a:srgbClr val="1E293B"/>
                </a:solidFill>
                <a:latin typeface="Aptos" panose="020B0004020202020204" pitchFamily="34" charset="0"/>
              </a:rPr>
              <a:t>System webowy wspomagający zarządzanie zasobami, przestrzenią hali i procesami operacyjnymi</a:t>
            </a:r>
            <a:endParaRPr lang="en-GB" sz="2400" dirty="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2F4CE9-4F74-D0E3-A4DF-9F824F0596FB}"/>
              </a:ext>
            </a:extLst>
          </p:cNvPr>
          <p:cNvSpPr/>
          <p:nvPr/>
        </p:nvSpPr>
        <p:spPr>
          <a:xfrm>
            <a:off x="1168400" y="4127500"/>
            <a:ext cx="3556000" cy="4318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0E3644-4BFD-69EC-9DF1-E4045A97BC53}"/>
              </a:ext>
            </a:extLst>
          </p:cNvPr>
          <p:cNvSpPr txBox="1"/>
          <p:nvPr/>
        </p:nvSpPr>
        <p:spPr>
          <a:xfrm>
            <a:off x="1397000" y="4203700"/>
            <a:ext cx="317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00" b="1">
                <a:solidFill>
                  <a:srgbClr val="334155"/>
                </a:solidFill>
                <a:latin typeface="Aptos" panose="020B0004020202020204" pitchFamily="34" charset="0"/>
              </a:rPr>
              <a:t>Prezentacja pracy magisterskiej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0A7310-BE80-9620-7089-071428083188}"/>
              </a:ext>
            </a:extLst>
          </p:cNvPr>
          <p:cNvSpPr/>
          <p:nvPr/>
        </p:nvSpPr>
        <p:spPr>
          <a:xfrm>
            <a:off x="1168400" y="5105399"/>
            <a:ext cx="7786914" cy="45719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3DAC78B-DC9E-EE1D-54CB-958442807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3915144"/>
            <a:ext cx="3810000" cy="85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71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03829-FF19-C879-BD1C-0750F2EC98A3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DAF20C-54DE-05EC-1E54-F1D08EF3EC4D}"/>
              </a:ext>
            </a:extLst>
          </p:cNvPr>
          <p:cNvSpPr/>
          <p:nvPr/>
        </p:nvSpPr>
        <p:spPr>
          <a:xfrm>
            <a:off x="0" y="0"/>
            <a:ext cx="889000" cy="57150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7B941-1477-D96A-8762-2C4C75BBBC35}"/>
              </a:ext>
            </a:extLst>
          </p:cNvPr>
          <p:cNvSpPr txBox="1"/>
          <p:nvPr/>
        </p:nvSpPr>
        <p:spPr>
          <a:xfrm>
            <a:off x="1168400" y="439578"/>
            <a:ext cx="749935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600" b="1" dirty="0">
                <a:solidFill>
                  <a:srgbClr val="0F172A"/>
                </a:solidFill>
                <a:latin typeface="Aptos Display" panose="020B0004020202020204" pitchFamily="34" charset="0"/>
              </a:rPr>
              <a:t>Problem </a:t>
            </a:r>
            <a:r>
              <a:rPr lang="en-GB" sz="2600" b="1" dirty="0" err="1">
                <a:solidFill>
                  <a:srgbClr val="0F172A"/>
                </a:solidFill>
                <a:latin typeface="Aptos Display" panose="020B0004020202020204" pitchFamily="34" charset="0"/>
              </a:rPr>
              <a:t>i</a:t>
            </a:r>
            <a:r>
              <a:rPr lang="en-GB" sz="2600" b="1" dirty="0">
                <a:solidFill>
                  <a:srgbClr val="0F172A"/>
                </a:solidFill>
                <a:latin typeface="Aptos Display" panose="020B0004020202020204" pitchFamily="34" charset="0"/>
              </a:rPr>
              <a:t> cel </a:t>
            </a:r>
            <a:r>
              <a:rPr lang="en-GB" sz="2600" b="1" dirty="0" err="1">
                <a:solidFill>
                  <a:srgbClr val="0F172A"/>
                </a:solidFill>
                <a:latin typeface="Aptos Display" panose="020B0004020202020204" pitchFamily="34" charset="0"/>
              </a:rPr>
              <a:t>pracy</a:t>
            </a:r>
            <a:endParaRPr lang="en-GB" sz="2600" b="1" dirty="0">
              <a:solidFill>
                <a:srgbClr val="0F172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FF0978-2B24-F49D-C4E2-E0F095F5D1E4}"/>
              </a:ext>
            </a:extLst>
          </p:cNvPr>
          <p:cNvSpPr/>
          <p:nvPr/>
        </p:nvSpPr>
        <p:spPr>
          <a:xfrm>
            <a:off x="1238250" y="1144032"/>
            <a:ext cx="3048000" cy="50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2D8E1-63A1-3201-F814-3FF5582DF7F8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FE053-A494-C858-498B-F3FFCE050A91}"/>
              </a:ext>
            </a:extLst>
          </p:cNvPr>
          <p:cNvSpPr txBox="1"/>
          <p:nvPr/>
        </p:nvSpPr>
        <p:spPr>
          <a:xfrm>
            <a:off x="1320800" y="1508444"/>
            <a:ext cx="7346950" cy="10033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W wielu zakładach dane o hali, maszynach, awariach, pracownikach i magazynie są rozproszone między różne narzędzia.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Taki model utrudnia szybkie podejmowanie decyzji oraz obniża spójność informacji operacyjnych.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Celem projektu było stworzenie jednego środowiska integrującego model przestrzenny hali z danymi eksploatacyjnymi.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System miał wspierać codzienną pracę operacyjną, a nie wyłącznie ewidencję danych historycznych.</a:t>
            </a:r>
            <a:endParaRPr lang="en-GB" sz="2100" dirty="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472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3E2DCC-611A-AC82-06E2-B7F83D4414E3}"/>
              </a:ext>
            </a:extLst>
          </p:cNvPr>
          <p:cNvSpPr/>
          <p:nvPr/>
        </p:nvSpPr>
        <p:spPr>
          <a:xfrm>
            <a:off x="-5080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BB6C32-7069-1479-D09E-4A34B6BEC485}"/>
              </a:ext>
            </a:extLst>
          </p:cNvPr>
          <p:cNvSpPr/>
          <p:nvPr/>
        </p:nvSpPr>
        <p:spPr>
          <a:xfrm>
            <a:off x="-50800" y="0"/>
            <a:ext cx="939800" cy="57150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2EE50-FDF5-4EFB-82A4-83F93B8ADA4F}"/>
              </a:ext>
            </a:extLst>
          </p:cNvPr>
          <p:cNvSpPr txBox="1"/>
          <p:nvPr/>
        </p:nvSpPr>
        <p:spPr>
          <a:xfrm>
            <a:off x="1168400" y="362634"/>
            <a:ext cx="7489825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600" b="1" dirty="0" err="1">
                <a:solidFill>
                  <a:srgbClr val="EA580C"/>
                </a:solidFill>
                <a:latin typeface="Aptos Display" panose="020B0004020202020204" pitchFamily="34" charset="0"/>
              </a:rPr>
              <a:t>Zakres</a:t>
            </a:r>
            <a:r>
              <a:rPr lang="en-GB" sz="2600" b="1" dirty="0">
                <a:solidFill>
                  <a:srgbClr val="EA580C"/>
                </a:solidFill>
                <a:latin typeface="Aptos Display" panose="020B0004020202020204" pitchFamily="34" charset="0"/>
              </a:rPr>
              <a:t> </a:t>
            </a:r>
            <a:r>
              <a:rPr lang="en-GB" sz="2600" b="1" dirty="0" err="1">
                <a:solidFill>
                  <a:srgbClr val="EA580C"/>
                </a:solidFill>
                <a:latin typeface="Aptos Display" panose="020B0004020202020204" pitchFamily="34" charset="0"/>
              </a:rPr>
              <a:t>funkcjonalny</a:t>
            </a:r>
            <a:r>
              <a:rPr lang="en-GB" sz="2600" b="1" dirty="0">
                <a:solidFill>
                  <a:srgbClr val="EA580C"/>
                </a:solidFill>
                <a:latin typeface="Aptos Display" panose="020B0004020202020204" pitchFamily="34" charset="0"/>
              </a:rPr>
              <a:t> </a:t>
            </a:r>
            <a:r>
              <a:rPr lang="en-GB" sz="2600" b="1" dirty="0" err="1">
                <a:solidFill>
                  <a:srgbClr val="EA580C"/>
                </a:solidFill>
                <a:latin typeface="Aptos Display" panose="020B0004020202020204" pitchFamily="34" charset="0"/>
              </a:rPr>
              <a:t>systemu</a:t>
            </a:r>
            <a:endParaRPr lang="en-GB" sz="2600" b="1" dirty="0">
              <a:solidFill>
                <a:srgbClr val="EA580C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2E7BFC-C785-B717-ACA9-6A230A9CC9ED}"/>
              </a:ext>
            </a:extLst>
          </p:cNvPr>
          <p:cNvSpPr/>
          <p:nvPr/>
        </p:nvSpPr>
        <p:spPr>
          <a:xfrm>
            <a:off x="1168400" y="1073150"/>
            <a:ext cx="3048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83A99B-1520-66A5-71C4-6015220CF8D9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FD9D58-FBC0-FDC1-41A4-722678CBE137}"/>
              </a:ext>
            </a:extLst>
          </p:cNvPr>
          <p:cNvSpPr txBox="1"/>
          <p:nvPr/>
        </p:nvSpPr>
        <p:spPr>
          <a:xfrm>
            <a:off x="1311275" y="1660843"/>
            <a:ext cx="7346950" cy="110172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Zarządzanie halami, sekcjami oraz edytorem layoutu.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Ewidencja maszyn, kategorii technicznych i parametrów zasobów.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Obsługa awarii, przeglądów prewencyjnych i zleceń pracy.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Rejestr pracowników, uprawnień oraz przypisań do maszyn.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Moduł magazynowy, lean/kaizen, dashboard, raporty i lista działań bieżących.</a:t>
            </a:r>
            <a:endParaRPr lang="en-GB" sz="2100" dirty="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596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8CFC8D-762D-F6F4-AC1A-A0322DA7CE2D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CFA828-7AA3-999D-07AB-9D627FBC5116}"/>
              </a:ext>
            </a:extLst>
          </p:cNvPr>
          <p:cNvSpPr/>
          <p:nvPr/>
        </p:nvSpPr>
        <p:spPr>
          <a:xfrm>
            <a:off x="0" y="0"/>
            <a:ext cx="889000" cy="57150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355E82-12D2-F723-D57B-BEF94870F89B}"/>
              </a:ext>
            </a:extLst>
          </p:cNvPr>
          <p:cNvSpPr txBox="1"/>
          <p:nvPr/>
        </p:nvSpPr>
        <p:spPr>
          <a:xfrm>
            <a:off x="1162050" y="493554"/>
            <a:ext cx="73025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600" b="1" dirty="0" err="1">
                <a:solidFill>
                  <a:srgbClr val="0D9488"/>
                </a:solidFill>
                <a:latin typeface="Aptos Display" panose="020B0004020202020204" pitchFamily="34" charset="0"/>
              </a:rPr>
              <a:t>Architektura</a:t>
            </a:r>
            <a:r>
              <a:rPr lang="en-GB" sz="2600" b="1" dirty="0">
                <a:solidFill>
                  <a:srgbClr val="0D9488"/>
                </a:solidFill>
                <a:latin typeface="Aptos Display" panose="020B0004020202020204" pitchFamily="34" charset="0"/>
              </a:rPr>
              <a:t> </a:t>
            </a:r>
            <a:r>
              <a:rPr lang="en-GB" sz="2600" b="1" dirty="0" err="1">
                <a:solidFill>
                  <a:srgbClr val="0D9488"/>
                </a:solidFill>
                <a:latin typeface="Aptos Display" panose="020B0004020202020204" pitchFamily="34" charset="0"/>
              </a:rPr>
              <a:t>rozwiązania</a:t>
            </a:r>
            <a:endParaRPr lang="en-GB" sz="2600" b="1" dirty="0">
              <a:solidFill>
                <a:srgbClr val="0D9488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FAB895-3F8F-8358-76F6-F3068030909F}"/>
              </a:ext>
            </a:extLst>
          </p:cNvPr>
          <p:cNvSpPr/>
          <p:nvPr/>
        </p:nvSpPr>
        <p:spPr>
          <a:xfrm>
            <a:off x="1254125" y="1252697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D6000-DD76-D11B-9638-4735FEF5D06B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8F023-6584-1663-7F58-8EC9874D8689}"/>
              </a:ext>
            </a:extLst>
          </p:cNvPr>
          <p:cNvSpPr txBox="1"/>
          <p:nvPr/>
        </p:nvSpPr>
        <p:spPr>
          <a:xfrm>
            <a:off x="1254125" y="1479550"/>
            <a:ext cx="7442200" cy="10541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Aplikacja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została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zrealizowana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w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architekturze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klient-serwer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Frontend: React, TypeScript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i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Vite w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modelu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SPA.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Backend: ASP.NET Core Web API z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warstwami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Domain, Application, Infrastructure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i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API.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Baza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danych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: PostgreSQL z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wykorzystaniem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Entity Framework Core.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Komunikacja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między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warstwami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odbywa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się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</a:t>
            </a:r>
            <a:r>
              <a:rPr lang="en-GB" sz="2100" dirty="0" err="1">
                <a:solidFill>
                  <a:srgbClr val="1E293B"/>
                </a:solidFill>
                <a:latin typeface="Aptos" panose="020B0004020202020204" pitchFamily="34" charset="0"/>
              </a:rPr>
              <a:t>przez</a:t>
            </a:r>
            <a:r>
              <a:rPr lang="en-GB" sz="2100" dirty="0">
                <a:solidFill>
                  <a:srgbClr val="1E293B"/>
                </a:solidFill>
                <a:latin typeface="Aptos" panose="020B0004020202020204" pitchFamily="34" charset="0"/>
              </a:rPr>
              <a:t> REST API.</a:t>
            </a:r>
          </a:p>
        </p:txBody>
      </p:sp>
    </p:spTree>
    <p:extLst>
      <p:ext uri="{BB962C8B-B14F-4D97-AF65-F5344CB8AC3E}">
        <p14:creationId xmlns:p14="http://schemas.microsoft.com/office/powerpoint/2010/main" val="374686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749B82-6529-349F-53F3-29187367FDA0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35244F-7183-02E7-E956-9B6D7163B2F8}"/>
              </a:ext>
            </a:extLst>
          </p:cNvPr>
          <p:cNvSpPr/>
          <p:nvPr/>
        </p:nvSpPr>
        <p:spPr>
          <a:xfrm>
            <a:off x="0" y="0"/>
            <a:ext cx="889000" cy="57150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AB73D-7B43-795A-D744-82D4B339CDC1}"/>
              </a:ext>
            </a:extLst>
          </p:cNvPr>
          <p:cNvSpPr txBox="1"/>
          <p:nvPr/>
        </p:nvSpPr>
        <p:spPr>
          <a:xfrm>
            <a:off x="1168400" y="584201"/>
            <a:ext cx="746125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l-PL" sz="2600" b="1" dirty="0">
                <a:solidFill>
                  <a:srgbClr val="0F172A"/>
                </a:solidFill>
                <a:latin typeface="Aptos Display" panose="020B0004020202020204" pitchFamily="34" charset="0"/>
              </a:rPr>
              <a:t>Model danych</a:t>
            </a:r>
            <a:endParaRPr lang="en-GB" sz="2600" b="1" dirty="0">
              <a:solidFill>
                <a:srgbClr val="0F172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91C9F1-E56F-DCD8-867A-5264074D97B7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E6651-7D9C-A3B2-DC09-E1D4A768A75A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6D599E-316F-5C00-9D8A-E0BED2F6D6D8}"/>
              </a:ext>
            </a:extLst>
          </p:cNvPr>
          <p:cNvSpPr txBox="1"/>
          <p:nvPr/>
        </p:nvSpPr>
        <p:spPr>
          <a:xfrm>
            <a:off x="1292225" y="2012950"/>
            <a:ext cx="7004050" cy="84455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Centralnym elementem modelu są zasoby techniczne powiązane z halą, sekcją i kategorią.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Maszyny łączą się z awariami, planami przeglądów, zleceniami pracy, uprawnieniami i magazynem.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Kategorie maszyn i pozycje magazynowe mogą być rozszerzane o własne parametry.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682DC-436F-819F-ECE0-4DB2E37687D4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F172A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</p:spTree>
    <p:extLst>
      <p:ext uri="{BB962C8B-B14F-4D97-AF65-F5344CB8AC3E}">
        <p14:creationId xmlns:p14="http://schemas.microsoft.com/office/powerpoint/2010/main" val="225196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0A4F5A-E754-AB5E-FB00-ED4EEC6978C0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B6EEFF-A269-2D00-EA48-3477DE9C3843}"/>
              </a:ext>
            </a:extLst>
          </p:cNvPr>
          <p:cNvSpPr/>
          <p:nvPr/>
        </p:nvSpPr>
        <p:spPr>
          <a:xfrm>
            <a:off x="0" y="0"/>
            <a:ext cx="889000" cy="57150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D6AD0-437A-10FC-297D-BE8BD294A0BC}"/>
              </a:ext>
            </a:extLst>
          </p:cNvPr>
          <p:cNvSpPr txBox="1"/>
          <p:nvPr/>
        </p:nvSpPr>
        <p:spPr>
          <a:xfrm>
            <a:off x="1181100" y="478234"/>
            <a:ext cx="73533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600" b="1" dirty="0" err="1">
                <a:solidFill>
                  <a:srgbClr val="EA580C"/>
                </a:solidFill>
                <a:latin typeface="Aptos Display" panose="020B0004020202020204" pitchFamily="34" charset="0"/>
              </a:rPr>
              <a:t>Kluczowe</a:t>
            </a:r>
            <a:r>
              <a:rPr lang="en-GB" sz="2600" b="1" dirty="0">
                <a:solidFill>
                  <a:srgbClr val="EA580C"/>
                </a:solidFill>
                <a:latin typeface="Aptos Display" panose="020B0004020202020204" pitchFamily="34" charset="0"/>
              </a:rPr>
              <a:t> </a:t>
            </a:r>
            <a:r>
              <a:rPr lang="en-GB" sz="2600" b="1" dirty="0" err="1">
                <a:solidFill>
                  <a:srgbClr val="EA580C"/>
                </a:solidFill>
                <a:latin typeface="Aptos Display" panose="020B0004020202020204" pitchFamily="34" charset="0"/>
              </a:rPr>
              <a:t>moduły</a:t>
            </a:r>
            <a:r>
              <a:rPr lang="en-GB" sz="2600" b="1" dirty="0">
                <a:solidFill>
                  <a:srgbClr val="EA580C"/>
                </a:solidFill>
                <a:latin typeface="Aptos Display" panose="020B0004020202020204" pitchFamily="34" charset="0"/>
              </a:rPr>
              <a:t> </a:t>
            </a:r>
            <a:r>
              <a:rPr lang="en-GB" sz="2600" b="1" dirty="0" err="1">
                <a:solidFill>
                  <a:srgbClr val="EA580C"/>
                </a:solidFill>
                <a:latin typeface="Aptos Display" panose="020B0004020202020204" pitchFamily="34" charset="0"/>
              </a:rPr>
              <a:t>operacyjne</a:t>
            </a:r>
            <a:endParaRPr lang="en-GB" sz="2600" b="1" dirty="0">
              <a:solidFill>
                <a:srgbClr val="EA580C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E68BA1-D794-A44E-0659-C2C8C5761EA0}"/>
              </a:ext>
            </a:extLst>
          </p:cNvPr>
          <p:cNvSpPr/>
          <p:nvPr/>
        </p:nvSpPr>
        <p:spPr>
          <a:xfrm>
            <a:off x="1244600" y="1187450"/>
            <a:ext cx="3048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D3BB56-3D96-D364-921E-404D1E04B4A3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4F74C-441D-50B7-02DC-9C2E27A342B7}"/>
              </a:ext>
            </a:extLst>
          </p:cNvPr>
          <p:cNvSpPr txBox="1"/>
          <p:nvPr/>
        </p:nvSpPr>
        <p:spPr>
          <a:xfrm>
            <a:off x="1244600" y="1671796"/>
            <a:ext cx="7108825" cy="94615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Edytor layoutu umożliwia wizualne rozmieszczanie elementów hali i pracę na płótnie graficznym.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Moduł maszyn agreguje dane techniczne, historię eksploatacji oraz powiązania z innymi obszarami.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Dashboard i raporty zapewniają syntetyczny widok stanu zakładu.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Interfejs został zaprojektowany tak, aby łączyć formularze, listy i widoki operacyjne w jednym środowisku.</a:t>
            </a:r>
            <a:endParaRPr lang="en-GB" sz="2100" dirty="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086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6EB796-D6E5-9B9A-29C0-1076C3D76A71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3D804-294A-3223-88C0-2DD849115697}"/>
              </a:ext>
            </a:extLst>
          </p:cNvPr>
          <p:cNvSpPr/>
          <p:nvPr/>
        </p:nvSpPr>
        <p:spPr>
          <a:xfrm>
            <a:off x="0" y="0"/>
            <a:ext cx="889000" cy="57150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E3FF24-D7A4-FE9E-413C-B220EE238D64}"/>
              </a:ext>
            </a:extLst>
          </p:cNvPr>
          <p:cNvSpPr txBox="1"/>
          <p:nvPr/>
        </p:nvSpPr>
        <p:spPr>
          <a:xfrm>
            <a:off x="1168400" y="584201"/>
            <a:ext cx="7527925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600" b="1" dirty="0" err="1">
                <a:solidFill>
                  <a:srgbClr val="0D9488"/>
                </a:solidFill>
                <a:latin typeface="Aptos Display" panose="020B0004020202020204" pitchFamily="34" charset="0"/>
              </a:rPr>
              <a:t>Utrzymanie</a:t>
            </a:r>
            <a:r>
              <a:rPr lang="en-GB" sz="2600" b="1" dirty="0">
                <a:solidFill>
                  <a:srgbClr val="0D9488"/>
                </a:solidFill>
                <a:latin typeface="Aptos Display" panose="020B0004020202020204" pitchFamily="34" charset="0"/>
              </a:rPr>
              <a:t> </a:t>
            </a:r>
            <a:r>
              <a:rPr lang="en-GB" sz="2600" b="1" dirty="0" err="1">
                <a:solidFill>
                  <a:srgbClr val="0D9488"/>
                </a:solidFill>
                <a:latin typeface="Aptos Display" panose="020B0004020202020204" pitchFamily="34" charset="0"/>
              </a:rPr>
              <a:t>ruchu</a:t>
            </a:r>
            <a:endParaRPr lang="en-GB" sz="2600" b="1" dirty="0">
              <a:solidFill>
                <a:srgbClr val="0D9488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BA57E9-CB22-8658-0B8E-979A808F25A0}"/>
              </a:ext>
            </a:extLst>
          </p:cNvPr>
          <p:cNvSpPr/>
          <p:nvPr/>
        </p:nvSpPr>
        <p:spPr>
          <a:xfrm>
            <a:off x="1244600" y="1317943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22EE5-9C7C-EA63-E6C8-6FB219675103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0F363D-1003-3D8A-CC6E-282722E6BECD}"/>
              </a:ext>
            </a:extLst>
          </p:cNvPr>
          <p:cNvSpPr txBox="1"/>
          <p:nvPr/>
        </p:nvSpPr>
        <p:spPr>
          <a:xfrm>
            <a:off x="1301750" y="1660843"/>
            <a:ext cx="7394575" cy="85407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System obsługuje zgłoszenia awarii, kategorie przyczyn oraz analizę przestojów.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Zaimplementowano plany przeglądów czasowych i licznikowych wraz z rejestracją wykonań.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Zlecenia pracy mogą wynikać zarówno z awarii, jak i z działań prewencyjnych.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Rozwiązanie wspiera jednocześnie reakcję na bieżące problemy i planowanie działań zapobiegawczych.</a:t>
            </a:r>
            <a:endParaRPr lang="en-GB" sz="2100" dirty="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810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6C30C0-88F2-21CF-0252-C93863298078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7D5F6-1488-9C25-1BFF-6765CBB6CA7C}"/>
              </a:ext>
            </a:extLst>
          </p:cNvPr>
          <p:cNvSpPr/>
          <p:nvPr/>
        </p:nvSpPr>
        <p:spPr>
          <a:xfrm>
            <a:off x="0" y="0"/>
            <a:ext cx="889000" cy="57150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10C39-9843-9258-C0E8-0A2B24864F38}"/>
              </a:ext>
            </a:extLst>
          </p:cNvPr>
          <p:cNvSpPr txBox="1"/>
          <p:nvPr/>
        </p:nvSpPr>
        <p:spPr>
          <a:xfrm>
            <a:off x="1168400" y="439578"/>
            <a:ext cx="7747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600" b="1" dirty="0" err="1">
                <a:solidFill>
                  <a:srgbClr val="0F172A"/>
                </a:solidFill>
                <a:latin typeface="Aptos Display" panose="020B0004020202020204" pitchFamily="34" charset="0"/>
              </a:rPr>
              <a:t>Pracownicy</a:t>
            </a:r>
            <a:r>
              <a:rPr lang="en-GB" sz="2600" b="1" dirty="0">
                <a:solidFill>
                  <a:srgbClr val="0F172A"/>
                </a:solidFill>
                <a:latin typeface="Aptos Display" panose="020B0004020202020204" pitchFamily="34" charset="0"/>
              </a:rPr>
              <a:t> </a:t>
            </a:r>
            <a:r>
              <a:rPr lang="en-GB" sz="2600" b="1" dirty="0" err="1">
                <a:solidFill>
                  <a:srgbClr val="0F172A"/>
                </a:solidFill>
                <a:latin typeface="Aptos Display" panose="020B0004020202020204" pitchFamily="34" charset="0"/>
              </a:rPr>
              <a:t>i</a:t>
            </a:r>
            <a:r>
              <a:rPr lang="en-GB" sz="2600" b="1" dirty="0">
                <a:solidFill>
                  <a:srgbClr val="0F172A"/>
                </a:solidFill>
                <a:latin typeface="Aptos Display" panose="020B0004020202020204" pitchFamily="34" charset="0"/>
              </a:rPr>
              <a:t> </a:t>
            </a:r>
            <a:r>
              <a:rPr lang="en-GB" sz="2600" b="1" dirty="0" err="1">
                <a:solidFill>
                  <a:srgbClr val="0F172A"/>
                </a:solidFill>
                <a:latin typeface="Aptos Display" panose="020B0004020202020204" pitchFamily="34" charset="0"/>
              </a:rPr>
              <a:t>uprawnienia</a:t>
            </a:r>
            <a:endParaRPr lang="en-GB" sz="2600" b="1" dirty="0">
              <a:solidFill>
                <a:srgbClr val="0F172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98AC8-F59C-72A5-2937-0E7070A5EA73}"/>
              </a:ext>
            </a:extLst>
          </p:cNvPr>
          <p:cNvSpPr/>
          <p:nvPr/>
        </p:nvSpPr>
        <p:spPr>
          <a:xfrm>
            <a:off x="1225550" y="1212850"/>
            <a:ext cx="3048000" cy="50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2C597-1471-DEDD-6978-5BE3B2021BF2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28359-B857-8FB2-ED99-B2534FB12F2A}"/>
              </a:ext>
            </a:extLst>
          </p:cNvPr>
          <p:cNvSpPr txBox="1"/>
          <p:nvPr/>
        </p:nvSpPr>
        <p:spPr>
          <a:xfrm>
            <a:off x="1330325" y="1660843"/>
            <a:ext cx="7213600" cy="7874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System prowadzi rejestr pracowników i ich powiązania z działami organizacyjnymi.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Uprawnienia mogą być nadawane na poziomie kategorii maszyny lub konkretnego urządzenia.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Możliwe jest również przypisanie pracownika bezpośrednio do maszyny.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Takie podejście lepiej odzwierciedla rzeczywisty model odpowiedzialności i autoryzacji w zakładzie.</a:t>
            </a:r>
            <a:endParaRPr lang="en-GB" sz="2100" dirty="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022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6A1951-436F-1815-B90D-3724A94E69C6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A15A4B-6A97-C171-DE0C-AFBB162007CD}"/>
              </a:ext>
            </a:extLst>
          </p:cNvPr>
          <p:cNvSpPr/>
          <p:nvPr/>
        </p:nvSpPr>
        <p:spPr>
          <a:xfrm>
            <a:off x="0" y="0"/>
            <a:ext cx="889000" cy="57150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8F2262-36D4-CCF9-32CC-12667219E9A0}"/>
              </a:ext>
            </a:extLst>
          </p:cNvPr>
          <p:cNvSpPr txBox="1"/>
          <p:nvPr/>
        </p:nvSpPr>
        <p:spPr>
          <a:xfrm>
            <a:off x="1168400" y="414179"/>
            <a:ext cx="766445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600" b="1" dirty="0" err="1">
                <a:solidFill>
                  <a:srgbClr val="EA580C"/>
                </a:solidFill>
                <a:latin typeface="Aptos Display" panose="020B0004020202020204" pitchFamily="34" charset="0"/>
              </a:rPr>
              <a:t>Magazyn</a:t>
            </a:r>
            <a:r>
              <a:rPr lang="en-GB" sz="2600" b="1" dirty="0">
                <a:solidFill>
                  <a:srgbClr val="EA580C"/>
                </a:solidFill>
                <a:latin typeface="Aptos Display" panose="020B0004020202020204" pitchFamily="34" charset="0"/>
              </a:rPr>
              <a:t> </a:t>
            </a:r>
            <a:r>
              <a:rPr lang="en-GB" sz="2600" b="1" dirty="0" err="1">
                <a:solidFill>
                  <a:srgbClr val="EA580C"/>
                </a:solidFill>
                <a:latin typeface="Aptos Display" panose="020B0004020202020204" pitchFamily="34" charset="0"/>
              </a:rPr>
              <a:t>i</a:t>
            </a:r>
            <a:r>
              <a:rPr lang="en-GB" sz="2600" b="1" dirty="0">
                <a:solidFill>
                  <a:srgbClr val="EA580C"/>
                </a:solidFill>
                <a:latin typeface="Aptos Display" panose="020B0004020202020204" pitchFamily="34" charset="0"/>
              </a:rPr>
              <a:t> </a:t>
            </a:r>
            <a:r>
              <a:rPr lang="en-GB" sz="2600" b="1" dirty="0" err="1">
                <a:solidFill>
                  <a:srgbClr val="EA580C"/>
                </a:solidFill>
                <a:latin typeface="Aptos Display" panose="020B0004020202020204" pitchFamily="34" charset="0"/>
              </a:rPr>
              <a:t>wsparcie</a:t>
            </a:r>
            <a:r>
              <a:rPr lang="en-GB" sz="2600" b="1" dirty="0">
                <a:solidFill>
                  <a:srgbClr val="EA580C"/>
                </a:solidFill>
                <a:latin typeface="Aptos Display" panose="020B0004020202020204" pitchFamily="34" charset="0"/>
              </a:rPr>
              <a:t> </a:t>
            </a:r>
            <a:r>
              <a:rPr lang="en-GB" sz="2600" b="1" dirty="0" err="1">
                <a:solidFill>
                  <a:srgbClr val="EA580C"/>
                </a:solidFill>
                <a:latin typeface="Aptos Display" panose="020B0004020202020204" pitchFamily="34" charset="0"/>
              </a:rPr>
              <a:t>decyzji</a:t>
            </a:r>
            <a:endParaRPr lang="en-GB" sz="2600" b="1" dirty="0">
              <a:solidFill>
                <a:srgbClr val="EA580C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C24101-282C-53C0-2E1D-1781D1A6EAF0}"/>
              </a:ext>
            </a:extLst>
          </p:cNvPr>
          <p:cNvSpPr/>
          <p:nvPr/>
        </p:nvSpPr>
        <p:spPr>
          <a:xfrm>
            <a:off x="1231900" y="1189911"/>
            <a:ext cx="3048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5A5D4-C1A2-3151-4248-37A8AF415F47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CF533E-F57B-BDA9-8437-86FA783BC42E}"/>
              </a:ext>
            </a:extLst>
          </p:cNvPr>
          <p:cNvSpPr txBox="1"/>
          <p:nvPr/>
        </p:nvSpPr>
        <p:spPr>
          <a:xfrm>
            <a:off x="1320800" y="1803400"/>
            <a:ext cx="7280275" cy="7493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Moduł magazynowy obejmuje pozycje, stany minimalne, zamówienia oraz rekomendacje uzupełnienia.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Wprowadzono szybkie akcje i masowe dodawanie pozycji, aby skrócić ścieżki operacyjne użytkownika.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System łączy potrzeby materiałowe z obszarem utrzymania ruchu i gotowości technicznej.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Dodatkowo moduł lean i kaizen wspiera rejestrację oraz ocenę inicjatyw usprawniających.</a:t>
            </a:r>
            <a:endParaRPr lang="en-GB" sz="2100" dirty="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64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00A6F9-3E62-6E55-5AF8-931F476A7A40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F78F83-3D31-B67B-A14D-66097AF940D9}"/>
              </a:ext>
            </a:extLst>
          </p:cNvPr>
          <p:cNvSpPr/>
          <p:nvPr/>
        </p:nvSpPr>
        <p:spPr>
          <a:xfrm>
            <a:off x="0" y="0"/>
            <a:ext cx="889000" cy="57150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60630-AF40-CAD0-7058-7F170C95DC28}"/>
              </a:ext>
            </a:extLst>
          </p:cNvPr>
          <p:cNvSpPr txBox="1"/>
          <p:nvPr/>
        </p:nvSpPr>
        <p:spPr>
          <a:xfrm>
            <a:off x="1168400" y="362634"/>
            <a:ext cx="757555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600" b="1" dirty="0" err="1">
                <a:solidFill>
                  <a:srgbClr val="0D9488"/>
                </a:solidFill>
                <a:latin typeface="Aptos Display" panose="020B0004020202020204" pitchFamily="34" charset="0"/>
              </a:rPr>
              <a:t>Wnioski</a:t>
            </a:r>
            <a:r>
              <a:rPr lang="en-GB" sz="2600" b="1" dirty="0">
                <a:solidFill>
                  <a:srgbClr val="0D9488"/>
                </a:solidFill>
                <a:latin typeface="Aptos Display" panose="020B0004020202020204" pitchFamily="34" charset="0"/>
              </a:rPr>
              <a:t> </a:t>
            </a:r>
            <a:r>
              <a:rPr lang="en-GB" sz="2600" b="1" dirty="0" err="1">
                <a:solidFill>
                  <a:srgbClr val="0D9488"/>
                </a:solidFill>
                <a:latin typeface="Aptos Display" panose="020B0004020202020204" pitchFamily="34" charset="0"/>
              </a:rPr>
              <a:t>końcowe</a:t>
            </a:r>
            <a:endParaRPr lang="en-GB" sz="2600" b="1" dirty="0">
              <a:solidFill>
                <a:srgbClr val="0D9488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0EE7E-F3D8-F6EA-A744-EA272417DF0B}"/>
              </a:ext>
            </a:extLst>
          </p:cNvPr>
          <p:cNvSpPr/>
          <p:nvPr/>
        </p:nvSpPr>
        <p:spPr>
          <a:xfrm>
            <a:off x="1168400" y="111125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3DFAC-4D9F-3571-FCA1-884BCBC7E593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CCBDE-925F-7B88-04E3-DC3C3197D022}"/>
              </a:ext>
            </a:extLst>
          </p:cNvPr>
          <p:cNvSpPr txBox="1"/>
          <p:nvPr/>
        </p:nvSpPr>
        <p:spPr>
          <a:xfrm>
            <a:off x="1338262" y="1514793"/>
            <a:ext cx="7356475" cy="73977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FlowCraft rozwinął się z narzędzia do wizualizacji hali w kierunku wielomodułowej platformy operacyjnej.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Największą wartością systemu jest integracja przestrzeni, zasobów, UR, pracowników i magazynu.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Architektura rozwiązania umożliwia dalszą rozbudowę przy zachowaniu spójności modelu.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 dirty="0">
                <a:solidFill>
                  <a:srgbClr val="1E293B"/>
                </a:solidFill>
                <a:latin typeface="Aptos" panose="020B0004020202020204" pitchFamily="34" charset="0"/>
              </a:rPr>
              <a:t>Projekt potwierdza zasadność budowy jednego środowiska wspierającego bieżące zarządzanie zakładem.</a:t>
            </a:r>
            <a:endParaRPr lang="en-GB" sz="2100" dirty="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916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507</Words>
  <Application>Microsoft Office PowerPoint</Application>
  <PresentationFormat>On-screen Show (16:10)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Maciej Szwast</dc:creator>
  <cp:lastModifiedBy>Maciej Szwast</cp:lastModifiedBy>
  <cp:revision>41</cp:revision>
  <dcterms:created xsi:type="dcterms:W3CDTF">2026-05-05T22:36:28Z</dcterms:created>
  <dcterms:modified xsi:type="dcterms:W3CDTF">2026-05-11T16:03:27Z</dcterms:modified>
</cp:coreProperties>
</file>