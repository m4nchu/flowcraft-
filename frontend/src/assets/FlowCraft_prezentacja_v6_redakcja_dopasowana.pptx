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9" d="100"/>
          <a:sy n="159" d="100"/>
        </p:scale>
        <p:origin x="336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563059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ONE">
    <p:bg>
      <p:bgPr>
        <a:solidFill>
          <a:srgbClr val="061A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6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1.png"/><Relationship Id="rId7" Type="http://schemas.openxmlformats.org/officeDocument/2006/relationships/image" Target="../media/image9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svg"/><Relationship Id="rId5" Type="http://schemas.openxmlformats.org/officeDocument/2006/relationships/image" Target="../media/image7.svg"/><Relationship Id="rId4" Type="http://schemas.openxmlformats.org/officeDocument/2006/relationships/image" Target="../media/image2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svg"/><Relationship Id="rId3" Type="http://schemas.openxmlformats.org/officeDocument/2006/relationships/image" Target="../media/image1.png"/><Relationship Id="rId7" Type="http://schemas.openxmlformats.org/officeDocument/2006/relationships/image" Target="../media/image11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svg"/><Relationship Id="rId5" Type="http://schemas.openxmlformats.org/officeDocument/2006/relationships/image" Target="../media/image8.svg"/><Relationship Id="rId4" Type="http://schemas.openxmlformats.org/officeDocument/2006/relationships/image" Target="../media/image10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1.png"/><Relationship Id="rId7" Type="http://schemas.openxmlformats.org/officeDocument/2006/relationships/image" Target="../media/image13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svg"/><Relationship Id="rId5" Type="http://schemas.openxmlformats.org/officeDocument/2006/relationships/image" Target="../media/image7.svg"/><Relationship Id="rId10" Type="http://schemas.openxmlformats.org/officeDocument/2006/relationships/image" Target="../media/image10.svg"/><Relationship Id="rId4" Type="http://schemas.openxmlformats.org/officeDocument/2006/relationships/image" Target="../media/image12.svg"/><Relationship Id="rId9" Type="http://schemas.openxmlformats.org/officeDocument/2006/relationships/image" Target="../media/image5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1.png"/><Relationship Id="rId7" Type="http://schemas.openxmlformats.org/officeDocument/2006/relationships/image" Target="../media/image8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svg"/><Relationship Id="rId5" Type="http://schemas.openxmlformats.org/officeDocument/2006/relationships/image" Target="../media/image15.svg"/><Relationship Id="rId10" Type="http://schemas.openxmlformats.org/officeDocument/2006/relationships/image" Target="../media/image16.svg"/><Relationship Id="rId4" Type="http://schemas.openxmlformats.org/officeDocument/2006/relationships/image" Target="../media/image14.svg"/><Relationship Id="rId9" Type="http://schemas.openxmlformats.org/officeDocument/2006/relationships/image" Target="../media/image10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6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svg"/><Relationship Id="rId5" Type="http://schemas.openxmlformats.org/officeDocument/2006/relationships/image" Target="../media/image8.svg"/><Relationship Id="rId4" Type="http://schemas.openxmlformats.org/officeDocument/2006/relationships/image" Target="../media/image4.sv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3" Type="http://schemas.openxmlformats.org/officeDocument/2006/relationships/image" Target="../media/image1.png"/><Relationship Id="rId7" Type="http://schemas.openxmlformats.org/officeDocument/2006/relationships/image" Target="../media/image10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svg"/><Relationship Id="rId5" Type="http://schemas.openxmlformats.org/officeDocument/2006/relationships/image" Target="../media/image9.svg"/><Relationship Id="rId4" Type="http://schemas.openxmlformats.org/officeDocument/2006/relationships/image" Target="../media/image2.sv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1.png"/><Relationship Id="rId7" Type="http://schemas.openxmlformats.org/officeDocument/2006/relationships/image" Target="../media/image5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svg"/><Relationship Id="rId5" Type="http://schemas.openxmlformats.org/officeDocument/2006/relationships/image" Target="../media/image4.svg"/><Relationship Id="rId4" Type="http://schemas.openxmlformats.org/officeDocument/2006/relationships/image" Target="../media/image2.sv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1.png"/><Relationship Id="rId7" Type="http://schemas.openxmlformats.org/officeDocument/2006/relationships/image" Target="../media/image18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svg"/><Relationship Id="rId5" Type="http://schemas.openxmlformats.org/officeDocument/2006/relationships/image" Target="../media/image17.svg"/><Relationship Id="rId4" Type="http://schemas.openxmlformats.org/officeDocument/2006/relationships/image" Target="../media/image2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svg"/><Relationship Id="rId4" Type="http://schemas.openxmlformats.org/officeDocument/2006/relationships/image" Target="../media/image16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1A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wide_clean_futuristic_industrial_tech_background.png"/>
          <p:cNvPicPr>
            <a:picLocks noChangeAspect="1"/>
          </p:cNvPicPr>
          <p:nvPr/>
        </p:nvPicPr>
        <p:blipFill>
          <a:blip r:embed="rId3"/>
          <a:srcRect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111F">
              <a:alpha val="93000"/>
            </a:srgbClr>
          </a:solidFill>
          <a:ln w="12700">
            <a:solidFill>
              <a:srgbClr val="03111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B31">
              <a:alpha val="78000"/>
            </a:srgbClr>
          </a:solidFill>
          <a:ln w="12700">
            <a:solidFill>
              <a:srgbClr val="071B3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Shape 2"/>
          <p:cNvSpPr/>
          <p:nvPr/>
        </p:nvSpPr>
        <p:spPr>
          <a:xfrm>
            <a:off x="512064" y="6528816"/>
            <a:ext cx="2011680" cy="0"/>
          </a:xfrm>
          <a:prstGeom prst="line">
            <a:avLst/>
          </a:prstGeom>
          <a:noFill/>
          <a:ln w="15240">
            <a:solidFill>
              <a:srgbClr val="28D9FF">
                <a:alpha val="88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Shape 3"/>
          <p:cNvSpPr/>
          <p:nvPr/>
        </p:nvSpPr>
        <p:spPr>
          <a:xfrm>
            <a:off x="9692640" y="347472"/>
            <a:ext cx="1920240" cy="0"/>
          </a:xfrm>
          <a:prstGeom prst="line">
            <a:avLst/>
          </a:prstGeom>
          <a:noFill/>
          <a:ln w="15240">
            <a:solidFill>
              <a:srgbClr val="28D9FF">
                <a:alpha val="74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4"/>
          <p:cNvSpPr/>
          <p:nvPr/>
        </p:nvSpPr>
        <p:spPr>
          <a:xfrm>
            <a:off x="713232" y="960120"/>
            <a:ext cx="5166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EAF8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FlowCraft</a:t>
            </a:r>
            <a:endParaRPr lang="en-US" sz="4200" dirty="0"/>
          </a:p>
        </p:txBody>
      </p:sp>
      <p:sp>
        <p:nvSpPr>
          <p:cNvPr id="8" name="Shape 5"/>
          <p:cNvSpPr/>
          <p:nvPr/>
        </p:nvSpPr>
        <p:spPr>
          <a:xfrm>
            <a:off x="768096" y="1755648"/>
            <a:ext cx="2057400" cy="0"/>
          </a:xfrm>
          <a:prstGeom prst="line">
            <a:avLst/>
          </a:prstGeom>
          <a:noFill/>
          <a:ln w="38100">
            <a:solidFill>
              <a:srgbClr val="28D9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6"/>
          <p:cNvSpPr/>
          <p:nvPr/>
        </p:nvSpPr>
        <p:spPr>
          <a:xfrm>
            <a:off x="749808" y="2039112"/>
            <a:ext cx="5897880" cy="7498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/>
          </a:bodyPr>
          <a:lstStyle/>
          <a:p>
            <a:pPr marL="0" indent="0">
              <a:buNone/>
            </a:pPr>
            <a:r>
              <a:rPr lang="pl-PL" sz="2200" b="1">
                <a:solidFill>
                  <a:srgbClr val="EAF8FF"/>
                </a:solidFill>
              </a:rPr>
              <a:t>System webowy wspierający zarządzanie halą produkcyjną, zasobami i działaniami operacyjnymi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768096" y="306324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7EEBFF"/>
                </a:solidFill>
              </a:rPr>
              <a:t>Najważniejsze założenia: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832104" y="3561588"/>
            <a:ext cx="109728" cy="109728"/>
          </a:xfrm>
          <a:prstGeom prst="ellipse">
            <a:avLst/>
          </a:prstGeom>
          <a:solidFill>
            <a:srgbClr val="28D9FF"/>
          </a:solidFill>
          <a:ln w="12700">
            <a:solidFill>
              <a:srgbClr val="28D9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9"/>
          <p:cNvSpPr/>
          <p:nvPr/>
        </p:nvSpPr>
        <p:spPr>
          <a:xfrm>
            <a:off x="1051560" y="3493008"/>
            <a:ext cx="4937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pl-PL" sz="1220">
                <a:solidFill>
                  <a:srgbClr val="EAF8FF"/>
                </a:solidFill>
              </a:rPr>
              <a:t>cyfrowy model hali z rozmieszczeniem maszyn i stref pracy</a:t>
            </a:r>
            <a:endParaRPr lang="en-US" sz="1220" dirty="0"/>
          </a:p>
        </p:txBody>
      </p:sp>
      <p:sp>
        <p:nvSpPr>
          <p:cNvPr id="13" name="Shape 10"/>
          <p:cNvSpPr/>
          <p:nvPr/>
        </p:nvSpPr>
        <p:spPr>
          <a:xfrm>
            <a:off x="832104" y="4018788"/>
            <a:ext cx="109728" cy="109728"/>
          </a:xfrm>
          <a:prstGeom prst="ellipse">
            <a:avLst/>
          </a:prstGeom>
          <a:solidFill>
            <a:srgbClr val="28D9FF"/>
          </a:solidFill>
          <a:ln w="12700">
            <a:solidFill>
              <a:srgbClr val="28D9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1"/>
          <p:cNvSpPr/>
          <p:nvPr/>
        </p:nvSpPr>
        <p:spPr>
          <a:xfrm>
            <a:off x="1051560" y="3950208"/>
            <a:ext cx="5486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pl-PL" sz="1220">
                <a:solidFill>
                  <a:srgbClr val="EAF8FF"/>
                </a:solidFill>
              </a:rPr>
              <a:t>awarie, przeglądy, magazyn i raporty w jednym środowisku</a:t>
            </a:r>
            <a:endParaRPr lang="en-US" sz="1220" dirty="0"/>
          </a:p>
        </p:txBody>
      </p:sp>
      <p:sp>
        <p:nvSpPr>
          <p:cNvPr id="15" name="Shape 12"/>
          <p:cNvSpPr/>
          <p:nvPr/>
        </p:nvSpPr>
        <p:spPr>
          <a:xfrm>
            <a:off x="7406640" y="1060704"/>
            <a:ext cx="3566160" cy="3566160"/>
          </a:xfrm>
          <a:prstGeom prst="roundRect">
            <a:avLst>
              <a:gd name="adj" fmla="val 4615"/>
            </a:avLst>
          </a:prstGeom>
          <a:solidFill>
            <a:srgbClr val="061A2F">
              <a:alpha val="80000"/>
            </a:srgbClr>
          </a:solidFill>
          <a:ln w="15240">
            <a:solidFill>
              <a:srgbClr val="28D9FF">
                <a:alpha val="84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Shape 13"/>
          <p:cNvSpPr/>
          <p:nvPr/>
        </p:nvSpPr>
        <p:spPr>
          <a:xfrm>
            <a:off x="8878824" y="2157984"/>
            <a:ext cx="621792" cy="621792"/>
          </a:xfrm>
          <a:prstGeom prst="ellipse">
            <a:avLst/>
          </a:prstGeom>
          <a:solidFill>
            <a:srgbClr val="08223D">
              <a:alpha val="94000"/>
            </a:srgbClr>
          </a:solidFill>
          <a:ln w="15240">
            <a:solidFill>
              <a:srgbClr val="28D9FF">
                <a:alpha val="92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034272" y="2313432"/>
            <a:ext cx="310896" cy="310896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7607808" y="2825496"/>
            <a:ext cx="31638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>
                <a:solidFill>
                  <a:srgbClr val="EAF8FF"/>
                </a:solidFill>
              </a:rPr>
              <a:t>zrzut ekranu aplikacji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7626096" y="3227832"/>
            <a:ext cx="31272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>
                <a:solidFill>
                  <a:srgbClr val="B9D4E5"/>
                </a:solidFill>
              </a:rPr>
              <a:t>dashboard lub edytor layoutu</a:t>
            </a:r>
            <a:endParaRPr lang="en-US" sz="850" dirty="0"/>
          </a:p>
        </p:txBody>
      </p:sp>
      <p:sp>
        <p:nvSpPr>
          <p:cNvPr id="20" name="Text 16"/>
          <p:cNvSpPr/>
          <p:nvPr/>
        </p:nvSpPr>
        <p:spPr>
          <a:xfrm>
            <a:off x="768096" y="5715000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3A9BE"/>
                </a:solidFill>
              </a:rPr>
              <a:t>Maciej Szwast</a:t>
            </a:r>
            <a:endParaRPr lang="en-US" sz="1000" dirty="0"/>
          </a:p>
        </p:txBody>
      </p:sp>
      <p:sp>
        <p:nvSpPr>
          <p:cNvPr id="21" name="Text 17"/>
          <p:cNvSpPr/>
          <p:nvPr/>
        </p:nvSpPr>
        <p:spPr>
          <a:xfrm>
            <a:off x="768096" y="5961888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3A9BE"/>
                </a:solidFill>
              </a:rPr>
              <a:t>Praca dyplomowa magisterska</a:t>
            </a:r>
            <a:endParaRPr lang="en-US" sz="900" dirty="0"/>
          </a:p>
        </p:txBody>
      </p:sp>
      <p:sp>
        <p:nvSpPr>
          <p:cNvPr id="22" name="Text 18"/>
          <p:cNvSpPr/>
          <p:nvPr/>
        </p:nvSpPr>
        <p:spPr>
          <a:xfrm>
            <a:off x="11201400" y="632764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83A9B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61A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wide_clean_futuristic_industrial_tech_background.png"/>
          <p:cNvPicPr>
            <a:picLocks noChangeAspect="1"/>
          </p:cNvPicPr>
          <p:nvPr/>
        </p:nvPicPr>
        <p:blipFill>
          <a:blip r:embed="rId3"/>
          <a:srcRect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111F">
              <a:alpha val="86000"/>
            </a:srgbClr>
          </a:solidFill>
          <a:ln w="12700">
            <a:solidFill>
              <a:srgbClr val="03111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B31">
              <a:alpha val="70000"/>
            </a:srgbClr>
          </a:solidFill>
          <a:ln w="12700">
            <a:solidFill>
              <a:srgbClr val="071B3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Shape 2"/>
          <p:cNvSpPr/>
          <p:nvPr/>
        </p:nvSpPr>
        <p:spPr>
          <a:xfrm>
            <a:off x="512064" y="6528816"/>
            <a:ext cx="2011680" cy="0"/>
          </a:xfrm>
          <a:prstGeom prst="line">
            <a:avLst/>
          </a:prstGeom>
          <a:noFill/>
          <a:ln w="15240">
            <a:solidFill>
              <a:srgbClr val="28D9FF">
                <a:alpha val="88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Shape 3"/>
          <p:cNvSpPr/>
          <p:nvPr/>
        </p:nvSpPr>
        <p:spPr>
          <a:xfrm>
            <a:off x="9692640" y="347472"/>
            <a:ext cx="1920240" cy="0"/>
          </a:xfrm>
          <a:prstGeom prst="line">
            <a:avLst/>
          </a:prstGeom>
          <a:noFill/>
          <a:ln w="15240">
            <a:solidFill>
              <a:srgbClr val="28D9FF">
                <a:alpha val="74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4"/>
          <p:cNvSpPr/>
          <p:nvPr/>
        </p:nvSpPr>
        <p:spPr>
          <a:xfrm>
            <a:off x="640080" y="329184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pl-PL" sz="2500" b="1">
                <a:solidFill>
                  <a:srgbClr val="EAF8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Problem: dane rozproszone między obszarami</a:t>
            </a:r>
            <a:endParaRPr lang="en-US" sz="2500" dirty="0"/>
          </a:p>
        </p:txBody>
      </p:sp>
      <p:sp>
        <p:nvSpPr>
          <p:cNvPr id="8" name="Shape 5"/>
          <p:cNvSpPr/>
          <p:nvPr/>
        </p:nvSpPr>
        <p:spPr>
          <a:xfrm>
            <a:off x="640080" y="969264"/>
            <a:ext cx="1508760" cy="0"/>
          </a:xfrm>
          <a:prstGeom prst="line">
            <a:avLst/>
          </a:prstGeom>
          <a:noFill/>
          <a:ln w="26670">
            <a:solidFill>
              <a:srgbClr val="28D9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6"/>
          <p:cNvSpPr/>
          <p:nvPr/>
        </p:nvSpPr>
        <p:spPr>
          <a:xfrm>
            <a:off x="2322576" y="896112"/>
            <a:ext cx="5394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pl-PL" sz="950">
                <a:solidFill>
                  <a:srgbClr val="B9D4E5"/>
                </a:solidFill>
              </a:rPr>
              <a:t>brak jednego widoku utrudnia szybką ocenę sytuacji operacyjnej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658368" y="6327648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3A9BE"/>
                </a:solidFill>
              </a:rPr>
              <a:t>FlowCraft — praca dyplomowa magisterska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11201400" y="632764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83A9B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750" dirty="0"/>
          </a:p>
        </p:txBody>
      </p:sp>
      <p:sp>
        <p:nvSpPr>
          <p:cNvPr id="12" name="Shape 9"/>
          <p:cNvSpPr/>
          <p:nvPr/>
        </p:nvSpPr>
        <p:spPr>
          <a:xfrm>
            <a:off x="777240" y="1417320"/>
            <a:ext cx="2331720" cy="2011680"/>
          </a:xfrm>
          <a:prstGeom prst="roundRect">
            <a:avLst>
              <a:gd name="adj" fmla="val 6364"/>
            </a:avLst>
          </a:prstGeom>
          <a:solidFill>
            <a:srgbClr val="0D2A47">
              <a:alpha val="97000"/>
            </a:srgbClr>
          </a:solidFill>
          <a:ln w="12700">
            <a:solidFill>
              <a:srgbClr val="286B8A">
                <a:alpha val="82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Shape 10"/>
          <p:cNvSpPr/>
          <p:nvPr/>
        </p:nvSpPr>
        <p:spPr>
          <a:xfrm>
            <a:off x="1659636" y="1618488"/>
            <a:ext cx="566928" cy="566928"/>
          </a:xfrm>
          <a:prstGeom prst="ellipse">
            <a:avLst/>
          </a:prstGeom>
          <a:solidFill>
            <a:srgbClr val="11395F">
              <a:alpha val="94000"/>
            </a:srgbClr>
          </a:solidFill>
          <a:ln w="15240">
            <a:solidFill>
              <a:srgbClr val="28D9FF">
                <a:alpha val="95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801368" y="1760220"/>
            <a:ext cx="283464" cy="28346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886968" y="2286000"/>
            <a:ext cx="211226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AF8FF"/>
                </a:solidFill>
              </a:rPr>
              <a:t>Ewidencja maszyn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978408" y="2688336"/>
            <a:ext cx="1929384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pl-PL" sz="920">
                <a:solidFill>
                  <a:srgbClr val="B9D4E5"/>
                </a:solidFill>
              </a:rPr>
              <a:t>dane techniczne, status i parametry</a:t>
            </a:r>
            <a:endParaRPr lang="en-US" sz="920" dirty="0"/>
          </a:p>
        </p:txBody>
      </p:sp>
      <p:sp>
        <p:nvSpPr>
          <p:cNvPr id="17" name="Shape 13"/>
          <p:cNvSpPr/>
          <p:nvPr/>
        </p:nvSpPr>
        <p:spPr>
          <a:xfrm>
            <a:off x="3566160" y="1417320"/>
            <a:ext cx="2331720" cy="2011680"/>
          </a:xfrm>
          <a:prstGeom prst="roundRect">
            <a:avLst>
              <a:gd name="adj" fmla="val 6364"/>
            </a:avLst>
          </a:prstGeom>
          <a:solidFill>
            <a:srgbClr val="0D2A47">
              <a:alpha val="97000"/>
            </a:srgbClr>
          </a:solidFill>
          <a:ln w="12700">
            <a:solidFill>
              <a:srgbClr val="286B8A">
                <a:alpha val="82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Shape 14"/>
          <p:cNvSpPr/>
          <p:nvPr/>
        </p:nvSpPr>
        <p:spPr>
          <a:xfrm>
            <a:off x="4448556" y="1618488"/>
            <a:ext cx="566928" cy="566928"/>
          </a:xfrm>
          <a:prstGeom prst="ellipse">
            <a:avLst/>
          </a:prstGeom>
          <a:solidFill>
            <a:srgbClr val="11395F">
              <a:alpha val="94000"/>
            </a:srgbClr>
          </a:solidFill>
          <a:ln w="15240">
            <a:solidFill>
              <a:srgbClr val="28D9FF">
                <a:alpha val="95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590288" y="1760220"/>
            <a:ext cx="283464" cy="283464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3675888" y="2286000"/>
            <a:ext cx="211226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>
                <a:solidFill>
                  <a:srgbClr val="EAF8FF"/>
                </a:solidFill>
              </a:rPr>
              <a:t>Awarie i zgłoszenia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3767328" y="2688336"/>
            <a:ext cx="1929384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pl-PL" sz="920">
                <a:solidFill>
                  <a:srgbClr val="B9D4E5"/>
                </a:solidFill>
              </a:rPr>
              <a:t>historia usterek, przestojów i reakcji</a:t>
            </a:r>
            <a:endParaRPr lang="en-US" sz="920" dirty="0"/>
          </a:p>
        </p:txBody>
      </p:sp>
      <p:sp>
        <p:nvSpPr>
          <p:cNvPr id="22" name="Shape 17"/>
          <p:cNvSpPr/>
          <p:nvPr/>
        </p:nvSpPr>
        <p:spPr>
          <a:xfrm>
            <a:off x="6355080" y="1417320"/>
            <a:ext cx="2331720" cy="2011680"/>
          </a:xfrm>
          <a:prstGeom prst="roundRect">
            <a:avLst>
              <a:gd name="adj" fmla="val 6364"/>
            </a:avLst>
          </a:prstGeom>
          <a:solidFill>
            <a:srgbClr val="0D2A47">
              <a:alpha val="97000"/>
            </a:srgbClr>
          </a:solidFill>
          <a:ln w="12700">
            <a:solidFill>
              <a:srgbClr val="286B8A">
                <a:alpha val="82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Shape 18"/>
          <p:cNvSpPr/>
          <p:nvPr/>
        </p:nvSpPr>
        <p:spPr>
          <a:xfrm>
            <a:off x="7237476" y="1618488"/>
            <a:ext cx="566928" cy="566928"/>
          </a:xfrm>
          <a:prstGeom prst="ellipse">
            <a:avLst/>
          </a:prstGeom>
          <a:solidFill>
            <a:srgbClr val="11395F">
              <a:alpha val="94000"/>
            </a:srgbClr>
          </a:solidFill>
          <a:ln w="15240">
            <a:solidFill>
              <a:srgbClr val="28D9FF">
                <a:alpha val="95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379208" y="1760220"/>
            <a:ext cx="283464" cy="283464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6464808" y="2286000"/>
            <a:ext cx="211226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AF8FF"/>
                </a:solidFill>
              </a:rPr>
              <a:t>Magazyn części</a:t>
            </a:r>
            <a:endParaRPr lang="en-US" sz="1500" dirty="0"/>
          </a:p>
        </p:txBody>
      </p:sp>
      <p:sp>
        <p:nvSpPr>
          <p:cNvPr id="26" name="Text 20"/>
          <p:cNvSpPr/>
          <p:nvPr/>
        </p:nvSpPr>
        <p:spPr>
          <a:xfrm>
            <a:off x="6556248" y="2688336"/>
            <a:ext cx="1929384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20">
                <a:solidFill>
                  <a:srgbClr val="B9D4E5"/>
                </a:solidFill>
              </a:rPr>
              <a:t>stany, rezerwacje i zamówienia</a:t>
            </a:r>
            <a:endParaRPr lang="en-US" sz="920" dirty="0"/>
          </a:p>
        </p:txBody>
      </p:sp>
      <p:sp>
        <p:nvSpPr>
          <p:cNvPr id="27" name="Shape 21"/>
          <p:cNvSpPr/>
          <p:nvPr/>
        </p:nvSpPr>
        <p:spPr>
          <a:xfrm>
            <a:off x="9144000" y="1417320"/>
            <a:ext cx="2331720" cy="2011680"/>
          </a:xfrm>
          <a:prstGeom prst="roundRect">
            <a:avLst>
              <a:gd name="adj" fmla="val 6364"/>
            </a:avLst>
          </a:prstGeom>
          <a:solidFill>
            <a:srgbClr val="0D2A47">
              <a:alpha val="97000"/>
            </a:srgbClr>
          </a:solidFill>
          <a:ln w="12700">
            <a:solidFill>
              <a:srgbClr val="286B8A">
                <a:alpha val="82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" name="Shape 22"/>
          <p:cNvSpPr/>
          <p:nvPr/>
        </p:nvSpPr>
        <p:spPr>
          <a:xfrm>
            <a:off x="10026396" y="1618488"/>
            <a:ext cx="566928" cy="566928"/>
          </a:xfrm>
          <a:prstGeom prst="ellipse">
            <a:avLst/>
          </a:prstGeom>
          <a:solidFill>
            <a:srgbClr val="11395F">
              <a:alpha val="94000"/>
            </a:srgbClr>
          </a:solidFill>
          <a:ln w="15240">
            <a:solidFill>
              <a:srgbClr val="28D9FF">
                <a:alpha val="95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29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168128" y="1760220"/>
            <a:ext cx="283464" cy="283464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9253728" y="2286000"/>
            <a:ext cx="211226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AF8FF"/>
                </a:solidFill>
              </a:rPr>
              <a:t>Uprawnienia</a:t>
            </a:r>
            <a:endParaRPr lang="en-US" sz="1500" dirty="0"/>
          </a:p>
        </p:txBody>
      </p:sp>
      <p:sp>
        <p:nvSpPr>
          <p:cNvPr id="31" name="Text 24"/>
          <p:cNvSpPr/>
          <p:nvPr/>
        </p:nvSpPr>
        <p:spPr>
          <a:xfrm>
            <a:off x="9345168" y="2688336"/>
            <a:ext cx="1929384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20">
                <a:solidFill>
                  <a:srgbClr val="B9D4E5"/>
                </a:solidFill>
              </a:rPr>
              <a:t>kompetencje, role i odpowiedzialność</a:t>
            </a:r>
            <a:endParaRPr lang="en-US" sz="920" dirty="0"/>
          </a:p>
        </p:txBody>
      </p:sp>
      <p:sp>
        <p:nvSpPr>
          <p:cNvPr id="32" name="Shape 25"/>
          <p:cNvSpPr/>
          <p:nvPr/>
        </p:nvSpPr>
        <p:spPr>
          <a:xfrm>
            <a:off x="1097280" y="3977640"/>
            <a:ext cx="9875520" cy="0"/>
          </a:xfrm>
          <a:prstGeom prst="line">
            <a:avLst/>
          </a:prstGeom>
          <a:noFill/>
          <a:ln w="15240">
            <a:solidFill>
              <a:srgbClr val="49728A">
                <a:alpha val="88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3" name="Shape 26"/>
          <p:cNvSpPr/>
          <p:nvPr/>
        </p:nvSpPr>
        <p:spPr>
          <a:xfrm>
            <a:off x="896112" y="4389120"/>
            <a:ext cx="5029200" cy="749808"/>
          </a:xfrm>
          <a:prstGeom prst="roundRect">
            <a:avLst>
              <a:gd name="adj" fmla="val 15854"/>
            </a:avLst>
          </a:prstGeom>
          <a:solidFill>
            <a:srgbClr val="07243E">
              <a:alpha val="97000"/>
            </a:srgbClr>
          </a:solidFill>
          <a:ln w="13970">
            <a:solidFill>
              <a:srgbClr val="28D9FF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4" name="Shape 27"/>
          <p:cNvSpPr/>
          <p:nvPr/>
        </p:nvSpPr>
        <p:spPr>
          <a:xfrm>
            <a:off x="1069848" y="4544568"/>
            <a:ext cx="402336" cy="402336"/>
          </a:xfrm>
          <a:prstGeom prst="ellipse">
            <a:avLst/>
          </a:prstGeom>
          <a:solidFill>
            <a:srgbClr val="0C3153">
              <a:alpha val="94000"/>
            </a:srgbClr>
          </a:solidFill>
          <a:ln w="15240">
            <a:solidFill>
              <a:srgbClr val="28D9FF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35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70432" y="4645152"/>
            <a:ext cx="201168" cy="201168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1609344" y="4535424"/>
            <a:ext cx="416966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pl-PL" sz="1200" b="1">
                <a:solidFill>
                  <a:srgbClr val="EAF8FF"/>
                </a:solidFill>
              </a:rPr>
              <a:t>Trudno szybko ustalić, które informacje są aktualne i jak wpływają na siebie nawzajem.</a:t>
            </a:r>
            <a:endParaRPr lang="en-US" sz="1200" dirty="0"/>
          </a:p>
        </p:txBody>
      </p:sp>
      <p:sp>
        <p:nvSpPr>
          <p:cNvPr id="37" name="Shape 29"/>
          <p:cNvSpPr/>
          <p:nvPr/>
        </p:nvSpPr>
        <p:spPr>
          <a:xfrm>
            <a:off x="6537960" y="4315968"/>
            <a:ext cx="4251960" cy="1115568"/>
          </a:xfrm>
          <a:prstGeom prst="roundRect">
            <a:avLst>
              <a:gd name="adj" fmla="val 13115"/>
            </a:avLst>
          </a:prstGeom>
          <a:solidFill>
            <a:srgbClr val="061A2F">
              <a:alpha val="78000"/>
            </a:srgbClr>
          </a:solidFill>
          <a:ln w="13970">
            <a:solidFill>
              <a:srgbClr val="28D9FF">
                <a:alpha val="84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8" name="Text 30"/>
          <p:cNvSpPr/>
          <p:nvPr/>
        </p:nvSpPr>
        <p:spPr>
          <a:xfrm>
            <a:off x="6720840" y="4599432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20" b="1">
                <a:solidFill>
                  <a:srgbClr val="EAF8FF"/>
                </a:solidFill>
              </a:rPr>
              <a:t>przykładowe źródła danych</a:t>
            </a:r>
            <a:endParaRPr lang="en-US" sz="1220" dirty="0"/>
          </a:p>
        </p:txBody>
      </p:sp>
      <p:sp>
        <p:nvSpPr>
          <p:cNvPr id="39" name="Text 31"/>
          <p:cNvSpPr/>
          <p:nvPr/>
        </p:nvSpPr>
        <p:spPr>
          <a:xfrm>
            <a:off x="6720840" y="4928616"/>
            <a:ext cx="3886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pl-PL" sz="880">
                <a:solidFill>
                  <a:srgbClr val="B9D4E5"/>
                </a:solidFill>
              </a:rPr>
              <a:t>np. lista maszyn, awarie, magazyn</a:t>
            </a:r>
            <a:endParaRPr lang="en-US" sz="88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61A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wide_clean_futuristic_industrial_tech_background.png"/>
          <p:cNvPicPr>
            <a:picLocks noChangeAspect="1"/>
          </p:cNvPicPr>
          <p:nvPr/>
        </p:nvPicPr>
        <p:blipFill>
          <a:blip r:embed="rId3"/>
          <a:srcRect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111F">
              <a:alpha val="86000"/>
            </a:srgbClr>
          </a:solidFill>
          <a:ln w="12700">
            <a:solidFill>
              <a:srgbClr val="03111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B31">
              <a:alpha val="70000"/>
            </a:srgbClr>
          </a:solidFill>
          <a:ln w="12700">
            <a:solidFill>
              <a:srgbClr val="071B3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Shape 2"/>
          <p:cNvSpPr/>
          <p:nvPr/>
        </p:nvSpPr>
        <p:spPr>
          <a:xfrm>
            <a:off x="512064" y="6528816"/>
            <a:ext cx="2011680" cy="0"/>
          </a:xfrm>
          <a:prstGeom prst="line">
            <a:avLst/>
          </a:prstGeom>
          <a:noFill/>
          <a:ln w="15240">
            <a:solidFill>
              <a:srgbClr val="28D9FF">
                <a:alpha val="88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Shape 3"/>
          <p:cNvSpPr/>
          <p:nvPr/>
        </p:nvSpPr>
        <p:spPr>
          <a:xfrm>
            <a:off x="9692640" y="347472"/>
            <a:ext cx="1920240" cy="0"/>
          </a:xfrm>
          <a:prstGeom prst="line">
            <a:avLst/>
          </a:prstGeom>
          <a:noFill/>
          <a:ln w="15240">
            <a:solidFill>
              <a:srgbClr val="28D9FF">
                <a:alpha val="74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4"/>
          <p:cNvSpPr/>
          <p:nvPr/>
        </p:nvSpPr>
        <p:spPr>
          <a:xfrm>
            <a:off x="640080" y="329184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pl-PL" sz="2500" b="1">
                <a:solidFill>
                  <a:srgbClr val="EAF8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Cel projektu: jedno środowisko pracy operacyjnej</a:t>
            </a:r>
            <a:endParaRPr lang="en-US" sz="2500" dirty="0"/>
          </a:p>
        </p:txBody>
      </p:sp>
      <p:sp>
        <p:nvSpPr>
          <p:cNvPr id="8" name="Shape 5"/>
          <p:cNvSpPr/>
          <p:nvPr/>
        </p:nvSpPr>
        <p:spPr>
          <a:xfrm>
            <a:off x="640080" y="969264"/>
            <a:ext cx="1508760" cy="0"/>
          </a:xfrm>
          <a:prstGeom prst="line">
            <a:avLst/>
          </a:prstGeom>
          <a:noFill/>
          <a:ln w="26670">
            <a:solidFill>
              <a:srgbClr val="28D9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6"/>
          <p:cNvSpPr/>
          <p:nvPr/>
        </p:nvSpPr>
        <p:spPr>
          <a:xfrm>
            <a:off x="2322576" y="896112"/>
            <a:ext cx="5394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B9D4E5"/>
                </a:solidFill>
              </a:rPr>
              <a:t>wspólny widok dla danych przestrzennych, technicznych i organizacyjnych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658368" y="6327648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3A9BE"/>
                </a:solidFill>
              </a:rPr>
              <a:t>FlowCraft — praca dyplomowa magisterska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11201400" y="632764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83A9B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750" dirty="0"/>
          </a:p>
        </p:txBody>
      </p:sp>
      <p:sp>
        <p:nvSpPr>
          <p:cNvPr id="12" name="Shape 9"/>
          <p:cNvSpPr/>
          <p:nvPr/>
        </p:nvSpPr>
        <p:spPr>
          <a:xfrm>
            <a:off x="768096" y="1444752"/>
            <a:ext cx="4983480" cy="4069080"/>
          </a:xfrm>
          <a:prstGeom prst="roundRect">
            <a:avLst>
              <a:gd name="adj" fmla="val 4045"/>
            </a:avLst>
          </a:prstGeom>
          <a:solidFill>
            <a:srgbClr val="061A2F">
              <a:alpha val="80000"/>
            </a:srgbClr>
          </a:solidFill>
          <a:ln w="15240">
            <a:solidFill>
              <a:srgbClr val="28D9FF">
                <a:alpha val="84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Shape 10"/>
          <p:cNvSpPr/>
          <p:nvPr/>
        </p:nvSpPr>
        <p:spPr>
          <a:xfrm>
            <a:off x="2948940" y="2793492"/>
            <a:ext cx="621792" cy="621792"/>
          </a:xfrm>
          <a:prstGeom prst="ellipse">
            <a:avLst/>
          </a:prstGeom>
          <a:solidFill>
            <a:srgbClr val="08223D">
              <a:alpha val="94000"/>
            </a:srgbClr>
          </a:solidFill>
          <a:ln w="15240">
            <a:solidFill>
              <a:srgbClr val="28D9FF">
                <a:alpha val="92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104388" y="2948940"/>
            <a:ext cx="310896" cy="310896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969264" y="3461004"/>
            <a:ext cx="45811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>
                <a:solidFill>
                  <a:srgbClr val="EAF8FF"/>
                </a:solidFill>
              </a:rPr>
              <a:t>zrzut ekranu systemu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987552" y="3863340"/>
            <a:ext cx="4544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pl-PL" sz="850">
                <a:solidFill>
                  <a:srgbClr val="B9D4E5"/>
                </a:solidFill>
              </a:rPr>
              <a:t>najlepiej dashboard lub widok hali</a:t>
            </a:r>
            <a:endParaRPr lang="en-US" sz="850" dirty="0"/>
          </a:p>
        </p:txBody>
      </p:sp>
      <p:sp>
        <p:nvSpPr>
          <p:cNvPr id="17" name="Shape 13"/>
          <p:cNvSpPr/>
          <p:nvPr/>
        </p:nvSpPr>
        <p:spPr>
          <a:xfrm>
            <a:off x="6263640" y="1417320"/>
            <a:ext cx="5120640" cy="749808"/>
          </a:xfrm>
          <a:prstGeom prst="roundRect">
            <a:avLst>
              <a:gd name="adj" fmla="val 15854"/>
            </a:avLst>
          </a:prstGeom>
          <a:solidFill>
            <a:srgbClr val="07243E">
              <a:alpha val="97000"/>
            </a:srgbClr>
          </a:solidFill>
          <a:ln w="13970">
            <a:solidFill>
              <a:srgbClr val="28D9FF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Shape 14"/>
          <p:cNvSpPr/>
          <p:nvPr/>
        </p:nvSpPr>
        <p:spPr>
          <a:xfrm>
            <a:off x="6437376" y="1572768"/>
            <a:ext cx="402336" cy="402336"/>
          </a:xfrm>
          <a:prstGeom prst="ellipse">
            <a:avLst/>
          </a:prstGeom>
          <a:solidFill>
            <a:srgbClr val="0C3153">
              <a:alpha val="94000"/>
            </a:srgbClr>
          </a:solidFill>
          <a:ln w="15240">
            <a:solidFill>
              <a:srgbClr val="28D9FF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537960" y="1673352"/>
            <a:ext cx="201168" cy="201168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976872" y="1563624"/>
            <a:ext cx="426110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pl-PL" sz="1200" b="1">
                <a:solidFill>
                  <a:srgbClr val="EAF8FF"/>
                </a:solidFill>
              </a:rPr>
              <a:t>Wspólny widok hali i rozmieszczenia maszyn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6263640" y="2404872"/>
            <a:ext cx="5120640" cy="749808"/>
          </a:xfrm>
          <a:prstGeom prst="roundRect">
            <a:avLst>
              <a:gd name="adj" fmla="val 15854"/>
            </a:avLst>
          </a:prstGeom>
          <a:solidFill>
            <a:srgbClr val="07243E">
              <a:alpha val="97000"/>
            </a:srgbClr>
          </a:solidFill>
          <a:ln w="13970">
            <a:solidFill>
              <a:srgbClr val="28D9FF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Shape 17"/>
          <p:cNvSpPr/>
          <p:nvPr/>
        </p:nvSpPr>
        <p:spPr>
          <a:xfrm>
            <a:off x="6437376" y="2560320"/>
            <a:ext cx="402336" cy="402336"/>
          </a:xfrm>
          <a:prstGeom prst="ellipse">
            <a:avLst/>
          </a:prstGeom>
          <a:solidFill>
            <a:srgbClr val="0C3153">
              <a:alpha val="94000"/>
            </a:srgbClr>
          </a:solidFill>
          <a:ln w="15240">
            <a:solidFill>
              <a:srgbClr val="28D9FF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537960" y="2660904"/>
            <a:ext cx="201168" cy="201168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6976872" y="2551176"/>
            <a:ext cx="426110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pl-PL" sz="1200" b="1">
                <a:solidFill>
                  <a:srgbClr val="EAF8FF"/>
                </a:solidFill>
              </a:rPr>
              <a:t>Połączenie maszyny z awariami, przeglądami i zleceniami</a:t>
            </a:r>
            <a:endParaRPr lang="en-US" sz="1200" dirty="0"/>
          </a:p>
        </p:txBody>
      </p:sp>
      <p:sp>
        <p:nvSpPr>
          <p:cNvPr id="25" name="Shape 19"/>
          <p:cNvSpPr/>
          <p:nvPr/>
        </p:nvSpPr>
        <p:spPr>
          <a:xfrm>
            <a:off x="6263640" y="3392424"/>
            <a:ext cx="5120640" cy="749808"/>
          </a:xfrm>
          <a:prstGeom prst="roundRect">
            <a:avLst>
              <a:gd name="adj" fmla="val 15854"/>
            </a:avLst>
          </a:prstGeom>
          <a:solidFill>
            <a:srgbClr val="07243E">
              <a:alpha val="97000"/>
            </a:srgbClr>
          </a:solidFill>
          <a:ln w="13970">
            <a:solidFill>
              <a:srgbClr val="28D9FF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" name="Shape 20"/>
          <p:cNvSpPr/>
          <p:nvPr/>
        </p:nvSpPr>
        <p:spPr>
          <a:xfrm>
            <a:off x="6437376" y="3547872"/>
            <a:ext cx="402336" cy="402336"/>
          </a:xfrm>
          <a:prstGeom prst="ellipse">
            <a:avLst/>
          </a:prstGeom>
          <a:solidFill>
            <a:srgbClr val="0C3153">
              <a:alpha val="94000"/>
            </a:srgbClr>
          </a:solidFill>
          <a:ln w="15240">
            <a:solidFill>
              <a:srgbClr val="28D9FF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537960" y="3648456"/>
            <a:ext cx="201168" cy="201168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6976872" y="3538728"/>
            <a:ext cx="426110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pl-PL" sz="1200" b="1">
                <a:solidFill>
                  <a:srgbClr val="EAF8FF"/>
                </a:solidFill>
              </a:rPr>
              <a:t>Kontrola dostępności części potrzebnych do obsługi</a:t>
            </a:r>
            <a:endParaRPr lang="en-US" sz="1200" dirty="0"/>
          </a:p>
        </p:txBody>
      </p:sp>
      <p:sp>
        <p:nvSpPr>
          <p:cNvPr id="29" name="Shape 22"/>
          <p:cNvSpPr/>
          <p:nvPr/>
        </p:nvSpPr>
        <p:spPr>
          <a:xfrm>
            <a:off x="6263640" y="4379976"/>
            <a:ext cx="5120640" cy="749808"/>
          </a:xfrm>
          <a:prstGeom prst="roundRect">
            <a:avLst>
              <a:gd name="adj" fmla="val 15854"/>
            </a:avLst>
          </a:prstGeom>
          <a:solidFill>
            <a:srgbClr val="07243E">
              <a:alpha val="97000"/>
            </a:srgbClr>
          </a:solidFill>
          <a:ln w="13970">
            <a:solidFill>
              <a:srgbClr val="28D9FF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0" name="Shape 23"/>
          <p:cNvSpPr/>
          <p:nvPr/>
        </p:nvSpPr>
        <p:spPr>
          <a:xfrm>
            <a:off x="6437376" y="4535424"/>
            <a:ext cx="402336" cy="402336"/>
          </a:xfrm>
          <a:prstGeom prst="ellipse">
            <a:avLst/>
          </a:prstGeom>
          <a:solidFill>
            <a:srgbClr val="0C3153">
              <a:alpha val="94000"/>
            </a:srgbClr>
          </a:solidFill>
          <a:ln w="15240">
            <a:solidFill>
              <a:srgbClr val="28D9FF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537960" y="4636008"/>
            <a:ext cx="201168" cy="201168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6976872" y="4526280"/>
            <a:ext cx="426110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pl-PL" sz="1200" b="1">
                <a:solidFill>
                  <a:srgbClr val="EAF8FF"/>
                </a:solidFill>
              </a:rPr>
              <a:t>Szybsza ocena sytuacji dzięki dashboardowi i raportom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61A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wide_clean_futuristic_industrial_tech_background.png"/>
          <p:cNvPicPr>
            <a:picLocks noChangeAspect="1"/>
          </p:cNvPicPr>
          <p:nvPr/>
        </p:nvPicPr>
        <p:blipFill>
          <a:blip r:embed="rId3"/>
          <a:srcRect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111F">
              <a:alpha val="86000"/>
            </a:srgbClr>
          </a:solidFill>
          <a:ln w="12700">
            <a:solidFill>
              <a:srgbClr val="03111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B31">
              <a:alpha val="70000"/>
            </a:srgbClr>
          </a:solidFill>
          <a:ln w="12700">
            <a:solidFill>
              <a:srgbClr val="071B3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Shape 2"/>
          <p:cNvSpPr/>
          <p:nvPr/>
        </p:nvSpPr>
        <p:spPr>
          <a:xfrm>
            <a:off x="512064" y="6528816"/>
            <a:ext cx="2011680" cy="0"/>
          </a:xfrm>
          <a:prstGeom prst="line">
            <a:avLst/>
          </a:prstGeom>
          <a:noFill/>
          <a:ln w="15240">
            <a:solidFill>
              <a:srgbClr val="28D9FF">
                <a:alpha val="88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Shape 3"/>
          <p:cNvSpPr/>
          <p:nvPr/>
        </p:nvSpPr>
        <p:spPr>
          <a:xfrm>
            <a:off x="9692640" y="347472"/>
            <a:ext cx="1920240" cy="0"/>
          </a:xfrm>
          <a:prstGeom prst="line">
            <a:avLst/>
          </a:prstGeom>
          <a:noFill/>
          <a:ln w="15240">
            <a:solidFill>
              <a:srgbClr val="28D9FF">
                <a:alpha val="74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4"/>
          <p:cNvSpPr/>
          <p:nvPr/>
        </p:nvSpPr>
        <p:spPr>
          <a:xfrm>
            <a:off x="640080" y="329184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EAF8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Użytkownicy systemu</a:t>
            </a:r>
            <a:endParaRPr lang="en-US" sz="2500" dirty="0"/>
          </a:p>
        </p:txBody>
      </p:sp>
      <p:sp>
        <p:nvSpPr>
          <p:cNvPr id="8" name="Shape 5"/>
          <p:cNvSpPr/>
          <p:nvPr/>
        </p:nvSpPr>
        <p:spPr>
          <a:xfrm>
            <a:off x="640080" y="969264"/>
            <a:ext cx="1508760" cy="0"/>
          </a:xfrm>
          <a:prstGeom prst="line">
            <a:avLst/>
          </a:prstGeom>
          <a:noFill/>
          <a:ln w="26670">
            <a:solidFill>
              <a:srgbClr val="28D9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6"/>
          <p:cNvSpPr/>
          <p:nvPr/>
        </p:nvSpPr>
        <p:spPr>
          <a:xfrm>
            <a:off x="2322576" y="896112"/>
            <a:ext cx="5394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pl-PL" sz="950">
                <a:solidFill>
                  <a:srgbClr val="B9D4E5"/>
                </a:solidFill>
              </a:rPr>
              <a:t>różne role korzystają z tego samego źródła danych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658368" y="6327648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3A9BE"/>
                </a:solidFill>
              </a:rPr>
              <a:t>FlowCraft — praca dyplomowa magisterska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11201400" y="632764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83A9B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750" dirty="0"/>
          </a:p>
        </p:txBody>
      </p:sp>
      <p:sp>
        <p:nvSpPr>
          <p:cNvPr id="12" name="Shape 9"/>
          <p:cNvSpPr/>
          <p:nvPr/>
        </p:nvSpPr>
        <p:spPr>
          <a:xfrm>
            <a:off x="713232" y="1389888"/>
            <a:ext cx="5157216" cy="822960"/>
          </a:xfrm>
          <a:prstGeom prst="roundRect">
            <a:avLst>
              <a:gd name="adj" fmla="val 12222"/>
            </a:avLst>
          </a:prstGeom>
          <a:solidFill>
            <a:srgbClr val="102B48">
              <a:alpha val="96000"/>
            </a:srgbClr>
          </a:solidFill>
          <a:ln w="10160">
            <a:solidFill>
              <a:srgbClr val="225C7B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Shape 10"/>
          <p:cNvSpPr/>
          <p:nvPr/>
        </p:nvSpPr>
        <p:spPr>
          <a:xfrm>
            <a:off x="886968" y="1586484"/>
            <a:ext cx="429768" cy="429768"/>
          </a:xfrm>
          <a:prstGeom prst="ellipse">
            <a:avLst/>
          </a:prstGeom>
          <a:solidFill>
            <a:srgbClr val="0B2846">
              <a:alpha val="94000"/>
            </a:srgbClr>
          </a:solidFill>
          <a:ln w="15240">
            <a:solidFill>
              <a:srgbClr val="28D9FF">
                <a:alpha val="84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94410" y="1693926"/>
            <a:ext cx="214884" cy="21488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426464" y="1536192"/>
            <a:ext cx="428853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220" b="1" dirty="0">
                <a:solidFill>
                  <a:srgbClr val="EAF8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Kierownik</a:t>
            </a:r>
            <a:endParaRPr lang="en-US" sz="1220" dirty="0"/>
          </a:p>
        </p:txBody>
      </p:sp>
      <p:sp>
        <p:nvSpPr>
          <p:cNvPr id="16" name="Text 12"/>
          <p:cNvSpPr/>
          <p:nvPr/>
        </p:nvSpPr>
        <p:spPr>
          <a:xfrm>
            <a:off x="1426464" y="1828800"/>
            <a:ext cx="4288536" cy="2926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pl-PL" sz="890">
                <a:solidFill>
                  <a:srgbClr val="B9D4E5"/>
                </a:solidFill>
              </a:rPr>
              <a:t>monitoruje KPI, awarie i zadania wymagające reakcji</a:t>
            </a:r>
            <a:endParaRPr lang="en-US" sz="890" dirty="0"/>
          </a:p>
        </p:txBody>
      </p:sp>
      <p:sp>
        <p:nvSpPr>
          <p:cNvPr id="17" name="Shape 13"/>
          <p:cNvSpPr/>
          <p:nvPr/>
        </p:nvSpPr>
        <p:spPr>
          <a:xfrm>
            <a:off x="713232" y="2432304"/>
            <a:ext cx="5157216" cy="822960"/>
          </a:xfrm>
          <a:prstGeom prst="roundRect">
            <a:avLst>
              <a:gd name="adj" fmla="val 12222"/>
            </a:avLst>
          </a:prstGeom>
          <a:solidFill>
            <a:srgbClr val="102B48">
              <a:alpha val="96000"/>
            </a:srgbClr>
          </a:solidFill>
          <a:ln w="10160">
            <a:solidFill>
              <a:srgbClr val="225C7B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Shape 14"/>
          <p:cNvSpPr/>
          <p:nvPr/>
        </p:nvSpPr>
        <p:spPr>
          <a:xfrm>
            <a:off x="886968" y="2628900"/>
            <a:ext cx="429768" cy="429768"/>
          </a:xfrm>
          <a:prstGeom prst="ellipse">
            <a:avLst/>
          </a:prstGeom>
          <a:solidFill>
            <a:srgbClr val="0B2846">
              <a:alpha val="94000"/>
            </a:srgbClr>
          </a:solidFill>
          <a:ln w="15240">
            <a:solidFill>
              <a:srgbClr val="28D9FF">
                <a:alpha val="84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94410" y="2736342"/>
            <a:ext cx="214884" cy="214884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426464" y="2578608"/>
            <a:ext cx="428853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220" b="1" dirty="0">
                <a:solidFill>
                  <a:srgbClr val="EAF8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Utrzymanie ruchu</a:t>
            </a:r>
            <a:endParaRPr lang="en-US" sz="1220" dirty="0"/>
          </a:p>
        </p:txBody>
      </p:sp>
      <p:sp>
        <p:nvSpPr>
          <p:cNvPr id="21" name="Text 16"/>
          <p:cNvSpPr/>
          <p:nvPr/>
        </p:nvSpPr>
        <p:spPr>
          <a:xfrm>
            <a:off x="1426464" y="2871216"/>
            <a:ext cx="4288536" cy="2926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pl-PL" sz="890">
                <a:solidFill>
                  <a:srgbClr val="B9D4E5"/>
                </a:solidFill>
              </a:rPr>
              <a:t>obsługuje awarie, przeglądy i zlecenia serwisowe</a:t>
            </a:r>
            <a:endParaRPr lang="en-US" sz="890" dirty="0"/>
          </a:p>
        </p:txBody>
      </p:sp>
      <p:sp>
        <p:nvSpPr>
          <p:cNvPr id="22" name="Shape 17"/>
          <p:cNvSpPr/>
          <p:nvPr/>
        </p:nvSpPr>
        <p:spPr>
          <a:xfrm>
            <a:off x="713232" y="3474720"/>
            <a:ext cx="5157216" cy="822960"/>
          </a:xfrm>
          <a:prstGeom prst="roundRect">
            <a:avLst>
              <a:gd name="adj" fmla="val 12222"/>
            </a:avLst>
          </a:prstGeom>
          <a:solidFill>
            <a:srgbClr val="102B48">
              <a:alpha val="96000"/>
            </a:srgbClr>
          </a:solidFill>
          <a:ln w="10160">
            <a:solidFill>
              <a:srgbClr val="225C7B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Shape 18"/>
          <p:cNvSpPr/>
          <p:nvPr/>
        </p:nvSpPr>
        <p:spPr>
          <a:xfrm>
            <a:off x="886968" y="3671316"/>
            <a:ext cx="429768" cy="429768"/>
          </a:xfrm>
          <a:prstGeom prst="ellipse">
            <a:avLst/>
          </a:prstGeom>
          <a:solidFill>
            <a:srgbClr val="0B2846">
              <a:alpha val="94000"/>
            </a:srgbClr>
          </a:solidFill>
          <a:ln w="15240">
            <a:solidFill>
              <a:srgbClr val="28D9FF">
                <a:alpha val="84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94410" y="3778758"/>
            <a:ext cx="214884" cy="214884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426464" y="3621024"/>
            <a:ext cx="428853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220" b="1" dirty="0">
                <a:solidFill>
                  <a:srgbClr val="EAF8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Magazyn</a:t>
            </a:r>
            <a:endParaRPr lang="en-US" sz="1220" dirty="0"/>
          </a:p>
        </p:txBody>
      </p:sp>
      <p:sp>
        <p:nvSpPr>
          <p:cNvPr id="26" name="Text 20"/>
          <p:cNvSpPr/>
          <p:nvPr/>
        </p:nvSpPr>
        <p:spPr>
          <a:xfrm>
            <a:off x="1426464" y="3913632"/>
            <a:ext cx="4288536" cy="2926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pl-PL" sz="890">
                <a:solidFill>
                  <a:srgbClr val="B9D4E5"/>
                </a:solidFill>
              </a:rPr>
              <a:t>kontroluje stany, braki i zamówienia uzupełniające</a:t>
            </a:r>
            <a:endParaRPr lang="en-US" sz="890" dirty="0"/>
          </a:p>
        </p:txBody>
      </p:sp>
      <p:sp>
        <p:nvSpPr>
          <p:cNvPr id="27" name="Shape 21"/>
          <p:cNvSpPr/>
          <p:nvPr/>
        </p:nvSpPr>
        <p:spPr>
          <a:xfrm>
            <a:off x="713232" y="4517136"/>
            <a:ext cx="5157216" cy="822960"/>
          </a:xfrm>
          <a:prstGeom prst="roundRect">
            <a:avLst>
              <a:gd name="adj" fmla="val 12222"/>
            </a:avLst>
          </a:prstGeom>
          <a:solidFill>
            <a:srgbClr val="102B48">
              <a:alpha val="96000"/>
            </a:srgbClr>
          </a:solidFill>
          <a:ln w="10160">
            <a:solidFill>
              <a:srgbClr val="225C7B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" name="Shape 22"/>
          <p:cNvSpPr/>
          <p:nvPr/>
        </p:nvSpPr>
        <p:spPr>
          <a:xfrm>
            <a:off x="886968" y="4713732"/>
            <a:ext cx="429768" cy="429768"/>
          </a:xfrm>
          <a:prstGeom prst="ellipse">
            <a:avLst/>
          </a:prstGeom>
          <a:solidFill>
            <a:srgbClr val="0B2846">
              <a:alpha val="94000"/>
            </a:srgbClr>
          </a:solidFill>
          <a:ln w="15240">
            <a:solidFill>
              <a:srgbClr val="28D9FF">
                <a:alpha val="84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29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94410" y="4821174"/>
            <a:ext cx="214884" cy="214884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1426464" y="4663440"/>
            <a:ext cx="428853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220" b="1" dirty="0">
                <a:solidFill>
                  <a:srgbClr val="EAF8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Administrator</a:t>
            </a:r>
            <a:endParaRPr lang="en-US" sz="1220" dirty="0"/>
          </a:p>
        </p:txBody>
      </p:sp>
      <p:sp>
        <p:nvSpPr>
          <p:cNvPr id="31" name="Text 24"/>
          <p:cNvSpPr/>
          <p:nvPr/>
        </p:nvSpPr>
        <p:spPr>
          <a:xfrm>
            <a:off x="1426464" y="4956048"/>
            <a:ext cx="4288536" cy="2926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pl-PL" sz="890">
                <a:solidFill>
                  <a:srgbClr val="B9D4E5"/>
                </a:solidFill>
              </a:rPr>
              <a:t>zarządza kontami, rolami i dostępem do funkcji</a:t>
            </a:r>
            <a:endParaRPr lang="en-US" sz="890" dirty="0"/>
          </a:p>
        </p:txBody>
      </p:sp>
      <p:sp>
        <p:nvSpPr>
          <p:cNvPr id="32" name="Shape 25"/>
          <p:cNvSpPr/>
          <p:nvPr/>
        </p:nvSpPr>
        <p:spPr>
          <a:xfrm>
            <a:off x="6565392" y="1481328"/>
            <a:ext cx="4526280" cy="3886200"/>
          </a:xfrm>
          <a:prstGeom prst="roundRect">
            <a:avLst>
              <a:gd name="adj" fmla="val 4235"/>
            </a:avLst>
          </a:prstGeom>
          <a:solidFill>
            <a:srgbClr val="061A2F">
              <a:alpha val="80000"/>
            </a:srgbClr>
          </a:solidFill>
          <a:ln w="15240">
            <a:solidFill>
              <a:srgbClr val="28D9FF">
                <a:alpha val="84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3" name="Shape 26"/>
          <p:cNvSpPr/>
          <p:nvPr/>
        </p:nvSpPr>
        <p:spPr>
          <a:xfrm>
            <a:off x="8517636" y="2738628"/>
            <a:ext cx="621792" cy="621792"/>
          </a:xfrm>
          <a:prstGeom prst="ellipse">
            <a:avLst/>
          </a:prstGeom>
          <a:solidFill>
            <a:srgbClr val="08223D">
              <a:alpha val="94000"/>
            </a:srgbClr>
          </a:solidFill>
          <a:ln w="15240">
            <a:solidFill>
              <a:srgbClr val="28D9FF">
                <a:alpha val="92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34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673084" y="2894076"/>
            <a:ext cx="310896" cy="310896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6766560" y="3406140"/>
            <a:ext cx="41239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>
                <a:solidFill>
                  <a:srgbClr val="EAF8FF"/>
                </a:solidFill>
              </a:rPr>
              <a:t>zrzut modułów systemu</a:t>
            </a:r>
            <a:endParaRPr lang="en-US" sz="1300" dirty="0"/>
          </a:p>
        </p:txBody>
      </p:sp>
      <p:sp>
        <p:nvSpPr>
          <p:cNvPr id="36" name="Text 28"/>
          <p:cNvSpPr/>
          <p:nvPr/>
        </p:nvSpPr>
        <p:spPr>
          <a:xfrm>
            <a:off x="6784848" y="3808476"/>
            <a:ext cx="4087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pl-PL" sz="850">
                <a:solidFill>
                  <a:srgbClr val="B9D4E5"/>
                </a:solidFill>
              </a:rPr>
              <a:t>np. menu lub ekran główny aplikacji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61A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wide_clean_futuristic_industrial_tech_background.png"/>
          <p:cNvPicPr>
            <a:picLocks noChangeAspect="1"/>
          </p:cNvPicPr>
          <p:nvPr/>
        </p:nvPicPr>
        <p:blipFill>
          <a:blip r:embed="rId3"/>
          <a:srcRect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111F">
              <a:alpha val="86000"/>
            </a:srgbClr>
          </a:solidFill>
          <a:ln w="12700">
            <a:solidFill>
              <a:srgbClr val="03111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Shape 1"/>
          <p:cNvSpPr/>
          <p:nvPr/>
        </p:nvSpPr>
        <p:spPr>
          <a:xfrm>
            <a:off x="0" y="-192024"/>
            <a:ext cx="12191695" cy="6858000"/>
          </a:xfrm>
          <a:prstGeom prst="rect">
            <a:avLst/>
          </a:prstGeom>
          <a:solidFill>
            <a:srgbClr val="071B31">
              <a:alpha val="70000"/>
            </a:srgbClr>
          </a:solidFill>
          <a:ln w="12700">
            <a:solidFill>
              <a:srgbClr val="071B3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Shape 2"/>
          <p:cNvSpPr/>
          <p:nvPr/>
        </p:nvSpPr>
        <p:spPr>
          <a:xfrm>
            <a:off x="512064" y="6528816"/>
            <a:ext cx="2011680" cy="0"/>
          </a:xfrm>
          <a:prstGeom prst="line">
            <a:avLst/>
          </a:prstGeom>
          <a:noFill/>
          <a:ln w="15240">
            <a:solidFill>
              <a:srgbClr val="28D9FF">
                <a:alpha val="88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Shape 3"/>
          <p:cNvSpPr/>
          <p:nvPr/>
        </p:nvSpPr>
        <p:spPr>
          <a:xfrm>
            <a:off x="9692640" y="347472"/>
            <a:ext cx="1920240" cy="0"/>
          </a:xfrm>
          <a:prstGeom prst="line">
            <a:avLst/>
          </a:prstGeom>
          <a:noFill/>
          <a:ln w="15240">
            <a:solidFill>
              <a:srgbClr val="28D9FF">
                <a:alpha val="74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4"/>
          <p:cNvSpPr/>
          <p:nvPr/>
        </p:nvSpPr>
        <p:spPr>
          <a:xfrm>
            <a:off x="640080" y="329184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EAF8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Maszyna jako centrum informacji</a:t>
            </a:r>
            <a:endParaRPr lang="en-US" sz="2500" dirty="0"/>
          </a:p>
        </p:txBody>
      </p:sp>
      <p:sp>
        <p:nvSpPr>
          <p:cNvPr id="8" name="Shape 5"/>
          <p:cNvSpPr/>
          <p:nvPr/>
        </p:nvSpPr>
        <p:spPr>
          <a:xfrm>
            <a:off x="640080" y="969264"/>
            <a:ext cx="1508760" cy="0"/>
          </a:xfrm>
          <a:prstGeom prst="line">
            <a:avLst/>
          </a:prstGeom>
          <a:noFill/>
          <a:ln w="26670">
            <a:solidFill>
              <a:srgbClr val="28D9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6"/>
          <p:cNvSpPr/>
          <p:nvPr/>
        </p:nvSpPr>
        <p:spPr>
          <a:xfrm>
            <a:off x="2322576" y="896112"/>
            <a:ext cx="5394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pl-PL" sz="950">
                <a:solidFill>
                  <a:srgbClr val="B9D4E5"/>
                </a:solidFill>
              </a:rPr>
              <a:t>jedna maszyna łączy dane techniczne, przestrzenne i operacyjne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658368" y="6327648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3A9BE"/>
                </a:solidFill>
              </a:rPr>
              <a:t>FlowCraft — praca dyplomowa magisterska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11201400" y="632764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83A9B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750" dirty="0"/>
          </a:p>
        </p:txBody>
      </p:sp>
      <p:sp>
        <p:nvSpPr>
          <p:cNvPr id="12" name="Shape 9"/>
          <p:cNvSpPr/>
          <p:nvPr/>
        </p:nvSpPr>
        <p:spPr>
          <a:xfrm>
            <a:off x="4838700" y="2491740"/>
            <a:ext cx="2514600" cy="1865376"/>
          </a:xfrm>
          <a:prstGeom prst="ellipse">
            <a:avLst/>
          </a:prstGeom>
          <a:solidFill>
            <a:srgbClr val="0B2E50">
              <a:alpha val="98000"/>
            </a:srgbClr>
          </a:solidFill>
          <a:ln w="17780">
            <a:solidFill>
              <a:srgbClr val="28D9FF">
                <a:alpha val="97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Shape 10"/>
          <p:cNvSpPr/>
          <p:nvPr/>
        </p:nvSpPr>
        <p:spPr>
          <a:xfrm>
            <a:off x="5785104" y="2825496"/>
            <a:ext cx="621792" cy="621792"/>
          </a:xfrm>
          <a:prstGeom prst="ellipse">
            <a:avLst/>
          </a:prstGeom>
          <a:solidFill>
            <a:srgbClr val="11395F">
              <a:alpha val="94000"/>
            </a:srgbClr>
          </a:solidFill>
          <a:ln w="15240">
            <a:solidFill>
              <a:srgbClr val="28D9FF">
                <a:alpha val="95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940552" y="2980944"/>
            <a:ext cx="310896" cy="310896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103876" y="3396996"/>
            <a:ext cx="1965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 err="1">
                <a:solidFill>
                  <a:srgbClr val="EAF8FF"/>
                </a:solidFill>
              </a:rPr>
              <a:t>Maszyna</a:t>
            </a:r>
            <a:endParaRPr lang="en-US" sz="1700" dirty="0"/>
          </a:p>
        </p:txBody>
      </p:sp>
      <p:sp>
        <p:nvSpPr>
          <p:cNvPr id="16" name="Text 12"/>
          <p:cNvSpPr/>
          <p:nvPr/>
        </p:nvSpPr>
        <p:spPr>
          <a:xfrm>
            <a:off x="4846320" y="3794760"/>
            <a:ext cx="2487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50" dirty="0"/>
          </a:p>
        </p:txBody>
      </p:sp>
      <p:sp>
        <p:nvSpPr>
          <p:cNvPr id="17" name="Shape 13"/>
          <p:cNvSpPr/>
          <p:nvPr/>
        </p:nvSpPr>
        <p:spPr>
          <a:xfrm>
            <a:off x="749808" y="1481328"/>
            <a:ext cx="2761488" cy="896112"/>
          </a:xfrm>
          <a:prstGeom prst="roundRect">
            <a:avLst>
              <a:gd name="adj" fmla="val 11224"/>
            </a:avLst>
          </a:prstGeom>
          <a:solidFill>
            <a:srgbClr val="102B48">
              <a:alpha val="96000"/>
            </a:srgbClr>
          </a:solidFill>
          <a:ln w="10160">
            <a:solidFill>
              <a:srgbClr val="225C7B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Shape 14"/>
          <p:cNvSpPr/>
          <p:nvPr/>
        </p:nvSpPr>
        <p:spPr>
          <a:xfrm>
            <a:off x="923544" y="1737360"/>
            <a:ext cx="384048" cy="384048"/>
          </a:xfrm>
          <a:prstGeom prst="ellipse">
            <a:avLst/>
          </a:prstGeom>
          <a:solidFill>
            <a:srgbClr val="0B2846">
              <a:alpha val="94000"/>
            </a:srgbClr>
          </a:solidFill>
          <a:ln w="15240">
            <a:solidFill>
              <a:srgbClr val="28D9FF">
                <a:alpha val="84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9556" y="1833372"/>
            <a:ext cx="192024" cy="192024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463040" y="1627632"/>
            <a:ext cx="1892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220" b="1" dirty="0">
                <a:solidFill>
                  <a:srgbClr val="EAF8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Miejsce na hali</a:t>
            </a:r>
            <a:endParaRPr lang="en-US" sz="1220" dirty="0"/>
          </a:p>
        </p:txBody>
      </p:sp>
      <p:sp>
        <p:nvSpPr>
          <p:cNvPr id="21" name="Text 16"/>
          <p:cNvSpPr/>
          <p:nvPr/>
        </p:nvSpPr>
        <p:spPr>
          <a:xfrm>
            <a:off x="1463040" y="1920240"/>
            <a:ext cx="1892808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pl-PL" sz="890">
                <a:solidFill>
                  <a:srgbClr val="B9D4E5"/>
                </a:solidFill>
              </a:rPr>
              <a:t>lokalizacja w layoutcie i sekcji</a:t>
            </a:r>
            <a:endParaRPr lang="en-US" sz="890" dirty="0"/>
          </a:p>
        </p:txBody>
      </p:sp>
      <p:sp>
        <p:nvSpPr>
          <p:cNvPr id="22" name="Shape 17"/>
          <p:cNvSpPr/>
          <p:nvPr/>
        </p:nvSpPr>
        <p:spPr>
          <a:xfrm>
            <a:off x="4700321" y="1225296"/>
            <a:ext cx="2761488" cy="896112"/>
          </a:xfrm>
          <a:prstGeom prst="roundRect">
            <a:avLst>
              <a:gd name="adj" fmla="val 11224"/>
            </a:avLst>
          </a:prstGeom>
          <a:solidFill>
            <a:srgbClr val="102B48">
              <a:alpha val="96000"/>
            </a:srgbClr>
          </a:solidFill>
          <a:ln w="10160">
            <a:solidFill>
              <a:srgbClr val="225C7B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Shape 18"/>
          <p:cNvSpPr/>
          <p:nvPr/>
        </p:nvSpPr>
        <p:spPr>
          <a:xfrm>
            <a:off x="4874057" y="1481328"/>
            <a:ext cx="384048" cy="384048"/>
          </a:xfrm>
          <a:prstGeom prst="ellipse">
            <a:avLst/>
          </a:prstGeom>
          <a:solidFill>
            <a:srgbClr val="0B2846">
              <a:alpha val="94000"/>
            </a:srgbClr>
          </a:solidFill>
          <a:ln w="15240">
            <a:solidFill>
              <a:srgbClr val="28D9FF">
                <a:alpha val="84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70069" y="1577340"/>
            <a:ext cx="192024" cy="192024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5413553" y="1371600"/>
            <a:ext cx="1892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220" b="1" dirty="0">
                <a:solidFill>
                  <a:srgbClr val="EAF8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Awarie</a:t>
            </a:r>
            <a:endParaRPr lang="en-US" sz="1220" dirty="0"/>
          </a:p>
        </p:txBody>
      </p:sp>
      <p:sp>
        <p:nvSpPr>
          <p:cNvPr id="26" name="Text 20"/>
          <p:cNvSpPr/>
          <p:nvPr/>
        </p:nvSpPr>
        <p:spPr>
          <a:xfrm>
            <a:off x="5413553" y="1664208"/>
            <a:ext cx="1892808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90">
                <a:solidFill>
                  <a:srgbClr val="B9D4E5"/>
                </a:solidFill>
              </a:rPr>
              <a:t>zgłoszenia, przyczyny i przestoje</a:t>
            </a:r>
            <a:endParaRPr lang="en-US" sz="890" dirty="0"/>
          </a:p>
        </p:txBody>
      </p:sp>
      <p:sp>
        <p:nvSpPr>
          <p:cNvPr id="27" name="Shape 21"/>
          <p:cNvSpPr/>
          <p:nvPr/>
        </p:nvSpPr>
        <p:spPr>
          <a:xfrm>
            <a:off x="8650224" y="1481328"/>
            <a:ext cx="2761488" cy="896112"/>
          </a:xfrm>
          <a:prstGeom prst="roundRect">
            <a:avLst>
              <a:gd name="adj" fmla="val 11224"/>
            </a:avLst>
          </a:prstGeom>
          <a:solidFill>
            <a:srgbClr val="102B48">
              <a:alpha val="96000"/>
            </a:srgbClr>
          </a:solidFill>
          <a:ln w="10160">
            <a:solidFill>
              <a:srgbClr val="225C7B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" name="Shape 22"/>
          <p:cNvSpPr/>
          <p:nvPr/>
        </p:nvSpPr>
        <p:spPr>
          <a:xfrm>
            <a:off x="8823960" y="1737360"/>
            <a:ext cx="384048" cy="384048"/>
          </a:xfrm>
          <a:prstGeom prst="ellipse">
            <a:avLst/>
          </a:prstGeom>
          <a:solidFill>
            <a:srgbClr val="0B2846">
              <a:alpha val="94000"/>
            </a:srgbClr>
          </a:solidFill>
          <a:ln w="15240">
            <a:solidFill>
              <a:srgbClr val="28D9FF">
                <a:alpha val="84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29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919972" y="1833372"/>
            <a:ext cx="192024" cy="192024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9363456" y="1627632"/>
            <a:ext cx="1892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220" b="1" dirty="0">
                <a:solidFill>
                  <a:srgbClr val="EAF8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Przeglądy</a:t>
            </a:r>
            <a:endParaRPr lang="en-US" sz="1220" dirty="0"/>
          </a:p>
        </p:txBody>
      </p:sp>
      <p:sp>
        <p:nvSpPr>
          <p:cNvPr id="31" name="Text 24"/>
          <p:cNvSpPr/>
          <p:nvPr/>
        </p:nvSpPr>
        <p:spPr>
          <a:xfrm>
            <a:off x="9363456" y="1920240"/>
            <a:ext cx="1892808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90">
                <a:solidFill>
                  <a:srgbClr val="B9D4E5"/>
                </a:solidFill>
              </a:rPr>
              <a:t>planowane działania i terminy</a:t>
            </a:r>
            <a:endParaRPr lang="en-US" sz="890" dirty="0"/>
          </a:p>
        </p:txBody>
      </p:sp>
      <p:sp>
        <p:nvSpPr>
          <p:cNvPr id="32" name="Shape 25"/>
          <p:cNvSpPr/>
          <p:nvPr/>
        </p:nvSpPr>
        <p:spPr>
          <a:xfrm>
            <a:off x="749808" y="4251960"/>
            <a:ext cx="2761488" cy="896112"/>
          </a:xfrm>
          <a:prstGeom prst="roundRect">
            <a:avLst>
              <a:gd name="adj" fmla="val 11224"/>
            </a:avLst>
          </a:prstGeom>
          <a:solidFill>
            <a:srgbClr val="102B48">
              <a:alpha val="96000"/>
            </a:srgbClr>
          </a:solidFill>
          <a:ln w="10160">
            <a:solidFill>
              <a:srgbClr val="225C7B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3" name="Shape 26"/>
          <p:cNvSpPr/>
          <p:nvPr/>
        </p:nvSpPr>
        <p:spPr>
          <a:xfrm>
            <a:off x="923544" y="4507992"/>
            <a:ext cx="384048" cy="384048"/>
          </a:xfrm>
          <a:prstGeom prst="ellipse">
            <a:avLst/>
          </a:prstGeom>
          <a:solidFill>
            <a:srgbClr val="0B2846">
              <a:alpha val="94000"/>
            </a:srgbClr>
          </a:solidFill>
          <a:ln w="15240">
            <a:solidFill>
              <a:srgbClr val="28D9FF">
                <a:alpha val="84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34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19556" y="4604004"/>
            <a:ext cx="192024" cy="192024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1463040" y="4398264"/>
            <a:ext cx="1892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220" b="1" dirty="0">
                <a:solidFill>
                  <a:srgbClr val="EAF8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Pracownicy</a:t>
            </a:r>
            <a:endParaRPr lang="en-US" sz="1220" dirty="0"/>
          </a:p>
        </p:txBody>
      </p:sp>
      <p:sp>
        <p:nvSpPr>
          <p:cNvPr id="36" name="Text 28"/>
          <p:cNvSpPr/>
          <p:nvPr/>
        </p:nvSpPr>
        <p:spPr>
          <a:xfrm>
            <a:off x="1463040" y="4690872"/>
            <a:ext cx="1892808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90">
                <a:solidFill>
                  <a:srgbClr val="B9D4E5"/>
                </a:solidFill>
              </a:rPr>
              <a:t>przypisania i uprawnienia</a:t>
            </a:r>
            <a:endParaRPr lang="en-US" sz="890" dirty="0"/>
          </a:p>
        </p:txBody>
      </p:sp>
      <p:sp>
        <p:nvSpPr>
          <p:cNvPr id="37" name="Shape 29"/>
          <p:cNvSpPr/>
          <p:nvPr/>
        </p:nvSpPr>
        <p:spPr>
          <a:xfrm>
            <a:off x="4700016" y="4709160"/>
            <a:ext cx="2761488" cy="896112"/>
          </a:xfrm>
          <a:prstGeom prst="roundRect">
            <a:avLst>
              <a:gd name="adj" fmla="val 11224"/>
            </a:avLst>
          </a:prstGeom>
          <a:solidFill>
            <a:srgbClr val="102B48">
              <a:alpha val="96000"/>
            </a:srgbClr>
          </a:solidFill>
          <a:ln w="10160">
            <a:solidFill>
              <a:srgbClr val="225C7B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8" name="Shape 30"/>
          <p:cNvSpPr/>
          <p:nvPr/>
        </p:nvSpPr>
        <p:spPr>
          <a:xfrm>
            <a:off x="4873752" y="4965192"/>
            <a:ext cx="384048" cy="384048"/>
          </a:xfrm>
          <a:prstGeom prst="ellipse">
            <a:avLst/>
          </a:prstGeom>
          <a:solidFill>
            <a:srgbClr val="0B2846">
              <a:alpha val="94000"/>
            </a:srgbClr>
          </a:solidFill>
          <a:ln w="15240">
            <a:solidFill>
              <a:srgbClr val="28D9FF">
                <a:alpha val="84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39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969764" y="5061204"/>
            <a:ext cx="192024" cy="192024"/>
          </a:xfrm>
          <a:prstGeom prst="rect">
            <a:avLst/>
          </a:prstGeom>
        </p:spPr>
      </p:pic>
      <p:sp>
        <p:nvSpPr>
          <p:cNvPr id="40" name="Text 31"/>
          <p:cNvSpPr/>
          <p:nvPr/>
        </p:nvSpPr>
        <p:spPr>
          <a:xfrm>
            <a:off x="5413248" y="4855464"/>
            <a:ext cx="1892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220" b="1" dirty="0">
                <a:solidFill>
                  <a:srgbClr val="EAF8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Części</a:t>
            </a:r>
            <a:endParaRPr lang="en-US" sz="1220" dirty="0"/>
          </a:p>
        </p:txBody>
      </p:sp>
      <p:sp>
        <p:nvSpPr>
          <p:cNvPr id="41" name="Text 32"/>
          <p:cNvSpPr/>
          <p:nvPr/>
        </p:nvSpPr>
        <p:spPr>
          <a:xfrm>
            <a:off x="5413248" y="5148072"/>
            <a:ext cx="1892808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90">
                <a:solidFill>
                  <a:srgbClr val="B9D4E5"/>
                </a:solidFill>
              </a:rPr>
              <a:t>powiązane pozycje magazynowe</a:t>
            </a:r>
            <a:endParaRPr lang="en-US" sz="890" dirty="0"/>
          </a:p>
        </p:txBody>
      </p:sp>
      <p:sp>
        <p:nvSpPr>
          <p:cNvPr id="42" name="Shape 33"/>
          <p:cNvSpPr/>
          <p:nvPr/>
        </p:nvSpPr>
        <p:spPr>
          <a:xfrm>
            <a:off x="8650224" y="4251960"/>
            <a:ext cx="2761488" cy="896112"/>
          </a:xfrm>
          <a:prstGeom prst="roundRect">
            <a:avLst>
              <a:gd name="adj" fmla="val 11224"/>
            </a:avLst>
          </a:prstGeom>
          <a:solidFill>
            <a:srgbClr val="102B48">
              <a:alpha val="96000"/>
            </a:srgbClr>
          </a:solidFill>
          <a:ln w="10160">
            <a:solidFill>
              <a:srgbClr val="225C7B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3" name="Shape 34"/>
          <p:cNvSpPr/>
          <p:nvPr/>
        </p:nvSpPr>
        <p:spPr>
          <a:xfrm>
            <a:off x="8823960" y="4507992"/>
            <a:ext cx="384048" cy="384048"/>
          </a:xfrm>
          <a:prstGeom prst="ellipse">
            <a:avLst/>
          </a:prstGeom>
          <a:solidFill>
            <a:srgbClr val="0B2846">
              <a:alpha val="94000"/>
            </a:srgbClr>
          </a:solidFill>
          <a:ln w="15240">
            <a:solidFill>
              <a:srgbClr val="28D9FF">
                <a:alpha val="84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44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919972" y="4604004"/>
            <a:ext cx="192024" cy="192024"/>
          </a:xfrm>
          <a:prstGeom prst="rect">
            <a:avLst/>
          </a:prstGeom>
        </p:spPr>
      </p:pic>
      <p:sp>
        <p:nvSpPr>
          <p:cNvPr id="45" name="Text 35"/>
          <p:cNvSpPr/>
          <p:nvPr/>
        </p:nvSpPr>
        <p:spPr>
          <a:xfrm>
            <a:off x="9363456" y="4398264"/>
            <a:ext cx="1892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220" b="1" dirty="0">
                <a:solidFill>
                  <a:srgbClr val="EAF8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Raporty</a:t>
            </a:r>
            <a:endParaRPr lang="en-US" sz="1220" dirty="0"/>
          </a:p>
        </p:txBody>
      </p:sp>
      <p:sp>
        <p:nvSpPr>
          <p:cNvPr id="46" name="Text 36"/>
          <p:cNvSpPr/>
          <p:nvPr/>
        </p:nvSpPr>
        <p:spPr>
          <a:xfrm>
            <a:off x="9363456" y="4690872"/>
            <a:ext cx="1892808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90">
                <a:solidFill>
                  <a:srgbClr val="B9D4E5"/>
                </a:solidFill>
              </a:rPr>
              <a:t>status, historia i wnioski</a:t>
            </a:r>
            <a:endParaRPr lang="en-US" sz="890" dirty="0"/>
          </a:p>
        </p:txBody>
      </p:sp>
      <p:sp>
        <p:nvSpPr>
          <p:cNvPr id="47" name="Text 37"/>
          <p:cNvSpPr/>
          <p:nvPr/>
        </p:nvSpPr>
        <p:spPr>
          <a:xfrm>
            <a:off x="1170432" y="5815584"/>
            <a:ext cx="9829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61A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wide_clean_futuristic_industrial_tech_background.png"/>
          <p:cNvPicPr>
            <a:picLocks noChangeAspect="1"/>
          </p:cNvPicPr>
          <p:nvPr/>
        </p:nvPicPr>
        <p:blipFill>
          <a:blip r:embed="rId3"/>
          <a:srcRect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111F">
              <a:alpha val="86000"/>
            </a:srgbClr>
          </a:solidFill>
          <a:ln w="12700">
            <a:solidFill>
              <a:srgbClr val="03111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B31">
              <a:alpha val="70000"/>
            </a:srgbClr>
          </a:solidFill>
          <a:ln w="12700">
            <a:solidFill>
              <a:srgbClr val="071B3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Shape 2"/>
          <p:cNvSpPr/>
          <p:nvPr/>
        </p:nvSpPr>
        <p:spPr>
          <a:xfrm>
            <a:off x="512064" y="6528816"/>
            <a:ext cx="2011680" cy="0"/>
          </a:xfrm>
          <a:prstGeom prst="line">
            <a:avLst/>
          </a:prstGeom>
          <a:noFill/>
          <a:ln w="15240">
            <a:solidFill>
              <a:srgbClr val="28D9FF">
                <a:alpha val="88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Shape 3"/>
          <p:cNvSpPr/>
          <p:nvPr/>
        </p:nvSpPr>
        <p:spPr>
          <a:xfrm>
            <a:off x="9692640" y="347472"/>
            <a:ext cx="1920240" cy="0"/>
          </a:xfrm>
          <a:prstGeom prst="line">
            <a:avLst/>
          </a:prstGeom>
          <a:noFill/>
          <a:ln w="15240">
            <a:solidFill>
              <a:srgbClr val="28D9FF">
                <a:alpha val="74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4"/>
          <p:cNvSpPr/>
          <p:nvPr/>
        </p:nvSpPr>
        <p:spPr>
          <a:xfrm>
            <a:off x="640080" y="329184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EAF8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Zakres funkcjonalny systemu</a:t>
            </a:r>
            <a:endParaRPr lang="en-US" sz="2500" dirty="0"/>
          </a:p>
        </p:txBody>
      </p:sp>
      <p:sp>
        <p:nvSpPr>
          <p:cNvPr id="8" name="Shape 5"/>
          <p:cNvSpPr/>
          <p:nvPr/>
        </p:nvSpPr>
        <p:spPr>
          <a:xfrm>
            <a:off x="640080" y="969264"/>
            <a:ext cx="1508760" cy="0"/>
          </a:xfrm>
          <a:prstGeom prst="line">
            <a:avLst/>
          </a:prstGeom>
          <a:noFill/>
          <a:ln w="26670">
            <a:solidFill>
              <a:srgbClr val="28D9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6"/>
          <p:cNvSpPr/>
          <p:nvPr/>
        </p:nvSpPr>
        <p:spPr>
          <a:xfrm>
            <a:off x="2322576" y="896112"/>
            <a:ext cx="5394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pl-PL" sz="950">
                <a:solidFill>
                  <a:srgbClr val="B9D4E5"/>
                </a:solidFill>
              </a:rPr>
              <a:t>najważniejsze moduły dostępne w aplikacji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658368" y="6327648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3A9BE"/>
                </a:solidFill>
              </a:rPr>
              <a:t>FlowCraft — praca dyplomowa magisterska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11201400" y="632764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83A9B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750" dirty="0"/>
          </a:p>
        </p:txBody>
      </p:sp>
      <p:sp>
        <p:nvSpPr>
          <p:cNvPr id="12" name="Shape 9"/>
          <p:cNvSpPr/>
          <p:nvPr/>
        </p:nvSpPr>
        <p:spPr>
          <a:xfrm>
            <a:off x="914400" y="1463040"/>
            <a:ext cx="2999232" cy="932688"/>
          </a:xfrm>
          <a:prstGeom prst="roundRect">
            <a:avLst>
              <a:gd name="adj" fmla="val 10784"/>
            </a:avLst>
          </a:prstGeom>
          <a:solidFill>
            <a:srgbClr val="102B48">
              <a:alpha val="96000"/>
            </a:srgbClr>
          </a:solidFill>
          <a:ln w="10160">
            <a:solidFill>
              <a:srgbClr val="225C7B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Shape 10"/>
          <p:cNvSpPr/>
          <p:nvPr/>
        </p:nvSpPr>
        <p:spPr>
          <a:xfrm>
            <a:off x="1088136" y="1714500"/>
            <a:ext cx="429768" cy="429768"/>
          </a:xfrm>
          <a:prstGeom prst="ellipse">
            <a:avLst/>
          </a:prstGeom>
          <a:solidFill>
            <a:srgbClr val="0B2846">
              <a:alpha val="94000"/>
            </a:srgbClr>
          </a:solidFill>
          <a:ln w="15240">
            <a:solidFill>
              <a:srgbClr val="28D9FF">
                <a:alpha val="84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95578" y="1821942"/>
            <a:ext cx="214884" cy="21488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627632" y="1609344"/>
            <a:ext cx="2130552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220" b="1" dirty="0">
                <a:solidFill>
                  <a:srgbClr val="EAF8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Hale</a:t>
            </a:r>
            <a:endParaRPr lang="en-US" sz="1220" dirty="0"/>
          </a:p>
        </p:txBody>
      </p:sp>
      <p:sp>
        <p:nvSpPr>
          <p:cNvPr id="16" name="Text 12"/>
          <p:cNvSpPr/>
          <p:nvPr/>
        </p:nvSpPr>
        <p:spPr>
          <a:xfrm>
            <a:off x="1627632" y="1901952"/>
            <a:ext cx="2130552" cy="40233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90">
                <a:solidFill>
                  <a:srgbClr val="B9D4E5"/>
                </a:solidFill>
              </a:rPr>
              <a:t>struktura zakładu i sekcji</a:t>
            </a:r>
            <a:endParaRPr lang="en-US" sz="890" dirty="0"/>
          </a:p>
        </p:txBody>
      </p:sp>
      <p:sp>
        <p:nvSpPr>
          <p:cNvPr id="17" name="Shape 13"/>
          <p:cNvSpPr/>
          <p:nvPr/>
        </p:nvSpPr>
        <p:spPr>
          <a:xfrm>
            <a:off x="4434840" y="1463040"/>
            <a:ext cx="2999232" cy="932688"/>
          </a:xfrm>
          <a:prstGeom prst="roundRect">
            <a:avLst>
              <a:gd name="adj" fmla="val 10784"/>
            </a:avLst>
          </a:prstGeom>
          <a:solidFill>
            <a:srgbClr val="102B48">
              <a:alpha val="96000"/>
            </a:srgbClr>
          </a:solidFill>
          <a:ln w="10160">
            <a:solidFill>
              <a:srgbClr val="225C7B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Shape 14"/>
          <p:cNvSpPr/>
          <p:nvPr/>
        </p:nvSpPr>
        <p:spPr>
          <a:xfrm>
            <a:off x="4608576" y="1714500"/>
            <a:ext cx="429768" cy="429768"/>
          </a:xfrm>
          <a:prstGeom prst="ellipse">
            <a:avLst/>
          </a:prstGeom>
          <a:solidFill>
            <a:srgbClr val="0B2846">
              <a:alpha val="94000"/>
            </a:srgbClr>
          </a:solidFill>
          <a:ln w="15240">
            <a:solidFill>
              <a:srgbClr val="28D9FF">
                <a:alpha val="84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716018" y="1821942"/>
            <a:ext cx="214884" cy="214884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5148072" y="1609344"/>
            <a:ext cx="2130552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220" b="1" dirty="0">
                <a:solidFill>
                  <a:srgbClr val="EAF8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Layout</a:t>
            </a:r>
            <a:endParaRPr lang="en-US" sz="1220" dirty="0"/>
          </a:p>
        </p:txBody>
      </p:sp>
      <p:sp>
        <p:nvSpPr>
          <p:cNvPr id="21" name="Text 16"/>
          <p:cNvSpPr/>
          <p:nvPr/>
        </p:nvSpPr>
        <p:spPr>
          <a:xfrm>
            <a:off x="5148072" y="1901952"/>
            <a:ext cx="2130552" cy="40233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pl-PL" sz="890">
                <a:solidFill>
                  <a:srgbClr val="B9D4E5"/>
                </a:solidFill>
              </a:rPr>
              <a:t>plan hali i rozmieszczenie zasobów</a:t>
            </a:r>
            <a:endParaRPr lang="en-US" sz="890" dirty="0"/>
          </a:p>
        </p:txBody>
      </p:sp>
      <p:sp>
        <p:nvSpPr>
          <p:cNvPr id="22" name="Shape 17"/>
          <p:cNvSpPr/>
          <p:nvPr/>
        </p:nvSpPr>
        <p:spPr>
          <a:xfrm>
            <a:off x="7955280" y="1463040"/>
            <a:ext cx="2999232" cy="932688"/>
          </a:xfrm>
          <a:prstGeom prst="roundRect">
            <a:avLst>
              <a:gd name="adj" fmla="val 10784"/>
            </a:avLst>
          </a:prstGeom>
          <a:solidFill>
            <a:srgbClr val="102B48">
              <a:alpha val="96000"/>
            </a:srgbClr>
          </a:solidFill>
          <a:ln w="10160">
            <a:solidFill>
              <a:srgbClr val="225C7B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Shape 18"/>
          <p:cNvSpPr/>
          <p:nvPr/>
        </p:nvSpPr>
        <p:spPr>
          <a:xfrm>
            <a:off x="8129016" y="1714500"/>
            <a:ext cx="429768" cy="429768"/>
          </a:xfrm>
          <a:prstGeom prst="ellipse">
            <a:avLst/>
          </a:prstGeom>
          <a:solidFill>
            <a:srgbClr val="0B2846">
              <a:alpha val="94000"/>
            </a:srgbClr>
          </a:solidFill>
          <a:ln w="15240">
            <a:solidFill>
              <a:srgbClr val="28D9FF">
                <a:alpha val="84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236458" y="1821942"/>
            <a:ext cx="214884" cy="214884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8668512" y="1609344"/>
            <a:ext cx="2130552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220" b="1" dirty="0">
                <a:solidFill>
                  <a:srgbClr val="EAF8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Maszyny</a:t>
            </a:r>
            <a:endParaRPr lang="en-US" sz="1220" dirty="0"/>
          </a:p>
        </p:txBody>
      </p:sp>
      <p:sp>
        <p:nvSpPr>
          <p:cNvPr id="26" name="Text 20"/>
          <p:cNvSpPr/>
          <p:nvPr/>
        </p:nvSpPr>
        <p:spPr>
          <a:xfrm>
            <a:off x="8668512" y="1901952"/>
            <a:ext cx="2130552" cy="40233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90">
                <a:solidFill>
                  <a:srgbClr val="B9D4E5"/>
                </a:solidFill>
              </a:rPr>
              <a:t>dane techniczne i parametry</a:t>
            </a:r>
            <a:endParaRPr lang="en-US" sz="890" dirty="0"/>
          </a:p>
        </p:txBody>
      </p:sp>
      <p:sp>
        <p:nvSpPr>
          <p:cNvPr id="27" name="Shape 21"/>
          <p:cNvSpPr/>
          <p:nvPr/>
        </p:nvSpPr>
        <p:spPr>
          <a:xfrm>
            <a:off x="914400" y="2880360"/>
            <a:ext cx="2999232" cy="932688"/>
          </a:xfrm>
          <a:prstGeom prst="roundRect">
            <a:avLst>
              <a:gd name="adj" fmla="val 10784"/>
            </a:avLst>
          </a:prstGeom>
          <a:solidFill>
            <a:srgbClr val="102B48">
              <a:alpha val="96000"/>
            </a:srgbClr>
          </a:solidFill>
          <a:ln w="10160">
            <a:solidFill>
              <a:srgbClr val="225C7B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" name="Shape 22"/>
          <p:cNvSpPr/>
          <p:nvPr/>
        </p:nvSpPr>
        <p:spPr>
          <a:xfrm>
            <a:off x="1088136" y="3131820"/>
            <a:ext cx="429768" cy="429768"/>
          </a:xfrm>
          <a:prstGeom prst="ellipse">
            <a:avLst/>
          </a:prstGeom>
          <a:solidFill>
            <a:srgbClr val="0B2846">
              <a:alpha val="94000"/>
            </a:srgbClr>
          </a:solidFill>
          <a:ln w="15240">
            <a:solidFill>
              <a:srgbClr val="28D9FF">
                <a:alpha val="84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29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195578" y="3239262"/>
            <a:ext cx="214884" cy="214884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1627632" y="3026664"/>
            <a:ext cx="2130552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220" b="1" dirty="0">
                <a:solidFill>
                  <a:srgbClr val="EAF8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Awarie</a:t>
            </a:r>
            <a:endParaRPr lang="en-US" sz="1220" dirty="0"/>
          </a:p>
        </p:txBody>
      </p:sp>
      <p:sp>
        <p:nvSpPr>
          <p:cNvPr id="31" name="Text 24"/>
          <p:cNvSpPr/>
          <p:nvPr/>
        </p:nvSpPr>
        <p:spPr>
          <a:xfrm>
            <a:off x="1627632" y="3319272"/>
            <a:ext cx="2130552" cy="40233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90">
                <a:solidFill>
                  <a:srgbClr val="B9D4E5"/>
                </a:solidFill>
              </a:rPr>
              <a:t>zgłoszenia, analiza i naprawy</a:t>
            </a:r>
            <a:endParaRPr lang="en-US" sz="890" dirty="0"/>
          </a:p>
        </p:txBody>
      </p:sp>
      <p:sp>
        <p:nvSpPr>
          <p:cNvPr id="32" name="Shape 25"/>
          <p:cNvSpPr/>
          <p:nvPr/>
        </p:nvSpPr>
        <p:spPr>
          <a:xfrm>
            <a:off x="4434840" y="2880360"/>
            <a:ext cx="2999232" cy="932688"/>
          </a:xfrm>
          <a:prstGeom prst="roundRect">
            <a:avLst>
              <a:gd name="adj" fmla="val 10784"/>
            </a:avLst>
          </a:prstGeom>
          <a:solidFill>
            <a:srgbClr val="102B48">
              <a:alpha val="96000"/>
            </a:srgbClr>
          </a:solidFill>
          <a:ln w="10160">
            <a:solidFill>
              <a:srgbClr val="225C7B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3" name="Shape 26"/>
          <p:cNvSpPr/>
          <p:nvPr/>
        </p:nvSpPr>
        <p:spPr>
          <a:xfrm>
            <a:off x="4608576" y="3131820"/>
            <a:ext cx="429768" cy="429768"/>
          </a:xfrm>
          <a:prstGeom prst="ellipse">
            <a:avLst/>
          </a:prstGeom>
          <a:solidFill>
            <a:srgbClr val="0B2846">
              <a:alpha val="94000"/>
            </a:srgbClr>
          </a:solidFill>
          <a:ln w="15240">
            <a:solidFill>
              <a:srgbClr val="28D9FF">
                <a:alpha val="84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34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716018" y="3239262"/>
            <a:ext cx="214884" cy="214884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5148072" y="3026664"/>
            <a:ext cx="2130552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220" b="1" dirty="0">
                <a:solidFill>
                  <a:srgbClr val="EAF8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Magazyn</a:t>
            </a:r>
            <a:endParaRPr lang="en-US" sz="1220" dirty="0"/>
          </a:p>
        </p:txBody>
      </p:sp>
      <p:sp>
        <p:nvSpPr>
          <p:cNvPr id="36" name="Text 28"/>
          <p:cNvSpPr/>
          <p:nvPr/>
        </p:nvSpPr>
        <p:spPr>
          <a:xfrm>
            <a:off x="5148072" y="3319272"/>
            <a:ext cx="2130552" cy="40233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90">
                <a:solidFill>
                  <a:srgbClr val="B9D4E5"/>
                </a:solidFill>
              </a:rPr>
              <a:t>części, stany i zakupy</a:t>
            </a:r>
            <a:endParaRPr lang="en-US" sz="890" dirty="0"/>
          </a:p>
        </p:txBody>
      </p:sp>
      <p:sp>
        <p:nvSpPr>
          <p:cNvPr id="37" name="Shape 29"/>
          <p:cNvSpPr/>
          <p:nvPr/>
        </p:nvSpPr>
        <p:spPr>
          <a:xfrm>
            <a:off x="7955280" y="2880360"/>
            <a:ext cx="2999232" cy="932688"/>
          </a:xfrm>
          <a:prstGeom prst="roundRect">
            <a:avLst>
              <a:gd name="adj" fmla="val 10784"/>
            </a:avLst>
          </a:prstGeom>
          <a:solidFill>
            <a:srgbClr val="102B48">
              <a:alpha val="96000"/>
            </a:srgbClr>
          </a:solidFill>
          <a:ln w="10160">
            <a:solidFill>
              <a:srgbClr val="225C7B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8" name="Shape 30"/>
          <p:cNvSpPr/>
          <p:nvPr/>
        </p:nvSpPr>
        <p:spPr>
          <a:xfrm>
            <a:off x="8129016" y="3131820"/>
            <a:ext cx="429768" cy="429768"/>
          </a:xfrm>
          <a:prstGeom prst="ellipse">
            <a:avLst/>
          </a:prstGeom>
          <a:solidFill>
            <a:srgbClr val="0B2846">
              <a:alpha val="94000"/>
            </a:srgbClr>
          </a:solidFill>
          <a:ln w="15240">
            <a:solidFill>
              <a:srgbClr val="28D9FF">
                <a:alpha val="84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39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236458" y="3239262"/>
            <a:ext cx="214884" cy="214884"/>
          </a:xfrm>
          <a:prstGeom prst="rect">
            <a:avLst/>
          </a:prstGeom>
        </p:spPr>
      </p:pic>
      <p:sp>
        <p:nvSpPr>
          <p:cNvPr id="40" name="Text 31"/>
          <p:cNvSpPr/>
          <p:nvPr/>
        </p:nvSpPr>
        <p:spPr>
          <a:xfrm>
            <a:off x="8668512" y="3026664"/>
            <a:ext cx="2130552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220" b="1" dirty="0">
                <a:solidFill>
                  <a:srgbClr val="EAF8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Raporty</a:t>
            </a:r>
            <a:endParaRPr lang="en-US" sz="1220" dirty="0"/>
          </a:p>
        </p:txBody>
      </p:sp>
      <p:sp>
        <p:nvSpPr>
          <p:cNvPr id="41" name="Text 32"/>
          <p:cNvSpPr/>
          <p:nvPr/>
        </p:nvSpPr>
        <p:spPr>
          <a:xfrm>
            <a:off x="8668512" y="3319272"/>
            <a:ext cx="2130552" cy="40233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90">
                <a:solidFill>
                  <a:srgbClr val="B9D4E5"/>
                </a:solidFill>
              </a:rPr>
              <a:t>dashboard, KPI i priorytety</a:t>
            </a:r>
            <a:endParaRPr lang="en-US" sz="890" dirty="0"/>
          </a:p>
        </p:txBody>
      </p:sp>
      <p:sp>
        <p:nvSpPr>
          <p:cNvPr id="42" name="Shape 33"/>
          <p:cNvSpPr/>
          <p:nvPr/>
        </p:nvSpPr>
        <p:spPr>
          <a:xfrm>
            <a:off x="1417320" y="4892040"/>
            <a:ext cx="9235440" cy="731520"/>
          </a:xfrm>
          <a:prstGeom prst="roundRect">
            <a:avLst>
              <a:gd name="adj" fmla="val 16250"/>
            </a:avLst>
          </a:prstGeom>
          <a:solidFill>
            <a:srgbClr val="07243E">
              <a:alpha val="97000"/>
            </a:srgbClr>
          </a:solidFill>
          <a:ln w="13970">
            <a:solidFill>
              <a:srgbClr val="28D9FF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3" name="Shape 34"/>
          <p:cNvSpPr/>
          <p:nvPr/>
        </p:nvSpPr>
        <p:spPr>
          <a:xfrm>
            <a:off x="1591056" y="5047488"/>
            <a:ext cx="402336" cy="402336"/>
          </a:xfrm>
          <a:prstGeom prst="ellipse">
            <a:avLst/>
          </a:prstGeom>
          <a:solidFill>
            <a:srgbClr val="0C3153">
              <a:alpha val="94000"/>
            </a:srgbClr>
          </a:solidFill>
          <a:ln w="15240">
            <a:solidFill>
              <a:srgbClr val="28D9FF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44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691640" y="5148072"/>
            <a:ext cx="201168" cy="201168"/>
          </a:xfrm>
          <a:prstGeom prst="rect">
            <a:avLst/>
          </a:prstGeom>
        </p:spPr>
      </p:pic>
      <p:sp>
        <p:nvSpPr>
          <p:cNvPr id="45" name="Text 35"/>
          <p:cNvSpPr/>
          <p:nvPr/>
        </p:nvSpPr>
        <p:spPr>
          <a:xfrm>
            <a:off x="2130552" y="5038344"/>
            <a:ext cx="83759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pl-PL" sz="1200" b="1">
                <a:solidFill>
                  <a:srgbClr val="EAF8FF"/>
                </a:solidFill>
              </a:rPr>
              <a:t>Moduły są powiązane: zdarzenie dotyczy maszyny, angażuje ludzi i może wymagać części z magazynu.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61A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wide_clean_futuristic_industrial_tech_background.png"/>
          <p:cNvPicPr>
            <a:picLocks noChangeAspect="1"/>
          </p:cNvPicPr>
          <p:nvPr/>
        </p:nvPicPr>
        <p:blipFill>
          <a:blip r:embed="rId3"/>
          <a:srcRect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111F">
              <a:alpha val="86000"/>
            </a:srgbClr>
          </a:solidFill>
          <a:ln w="12700">
            <a:solidFill>
              <a:srgbClr val="03111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Shape 2"/>
          <p:cNvSpPr/>
          <p:nvPr/>
        </p:nvSpPr>
        <p:spPr>
          <a:xfrm>
            <a:off x="512064" y="6528816"/>
            <a:ext cx="2011680" cy="0"/>
          </a:xfrm>
          <a:prstGeom prst="line">
            <a:avLst/>
          </a:prstGeom>
          <a:noFill/>
          <a:ln w="15240">
            <a:solidFill>
              <a:srgbClr val="28D9FF">
                <a:alpha val="88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Shape 3"/>
          <p:cNvSpPr/>
          <p:nvPr/>
        </p:nvSpPr>
        <p:spPr>
          <a:xfrm>
            <a:off x="9692640" y="347472"/>
            <a:ext cx="1920240" cy="0"/>
          </a:xfrm>
          <a:prstGeom prst="line">
            <a:avLst/>
          </a:prstGeom>
          <a:noFill/>
          <a:ln w="15240">
            <a:solidFill>
              <a:srgbClr val="28D9FF">
                <a:alpha val="74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4"/>
          <p:cNvSpPr/>
          <p:nvPr/>
        </p:nvSpPr>
        <p:spPr>
          <a:xfrm>
            <a:off x="640080" y="329184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EAF8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Layout hali: plan zamiast samej listy</a:t>
            </a:r>
            <a:endParaRPr lang="en-US" sz="2500" dirty="0"/>
          </a:p>
        </p:txBody>
      </p:sp>
      <p:sp>
        <p:nvSpPr>
          <p:cNvPr id="8" name="Shape 5"/>
          <p:cNvSpPr/>
          <p:nvPr/>
        </p:nvSpPr>
        <p:spPr>
          <a:xfrm>
            <a:off x="640080" y="969264"/>
            <a:ext cx="1508760" cy="0"/>
          </a:xfrm>
          <a:prstGeom prst="line">
            <a:avLst/>
          </a:prstGeom>
          <a:noFill/>
          <a:ln w="26670">
            <a:solidFill>
              <a:srgbClr val="28D9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6"/>
          <p:cNvSpPr/>
          <p:nvPr/>
        </p:nvSpPr>
        <p:spPr>
          <a:xfrm>
            <a:off x="2322576" y="896112"/>
            <a:ext cx="5394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pl-PL" sz="950">
                <a:solidFill>
                  <a:srgbClr val="B9D4E5"/>
                </a:solidFill>
              </a:rPr>
              <a:t>wizualne rozmieszczenie maszyn, sekcji i obszarów pracy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658368" y="6327648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3A9BE"/>
                </a:solidFill>
              </a:rPr>
              <a:t>FlowCraft — praca dyplomowa magisterska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11201400" y="632764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83A9B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750" dirty="0"/>
          </a:p>
        </p:txBody>
      </p:sp>
      <p:sp>
        <p:nvSpPr>
          <p:cNvPr id="12" name="Shape 9"/>
          <p:cNvSpPr/>
          <p:nvPr/>
        </p:nvSpPr>
        <p:spPr>
          <a:xfrm>
            <a:off x="749808" y="1325880"/>
            <a:ext cx="6035040" cy="4434840"/>
          </a:xfrm>
          <a:prstGeom prst="roundRect">
            <a:avLst>
              <a:gd name="adj" fmla="val 3711"/>
            </a:avLst>
          </a:prstGeom>
          <a:solidFill>
            <a:srgbClr val="061A2F">
              <a:alpha val="80000"/>
            </a:srgbClr>
          </a:solidFill>
          <a:ln w="15240">
            <a:solidFill>
              <a:srgbClr val="28D9FF">
                <a:alpha val="84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Shape 10"/>
          <p:cNvSpPr/>
          <p:nvPr/>
        </p:nvSpPr>
        <p:spPr>
          <a:xfrm>
            <a:off x="3456432" y="2857500"/>
            <a:ext cx="621792" cy="621792"/>
          </a:xfrm>
          <a:prstGeom prst="ellipse">
            <a:avLst/>
          </a:prstGeom>
          <a:solidFill>
            <a:srgbClr val="08223D">
              <a:alpha val="94000"/>
            </a:srgbClr>
          </a:solidFill>
          <a:ln w="15240">
            <a:solidFill>
              <a:srgbClr val="28D9FF">
                <a:alpha val="92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611880" y="3012948"/>
            <a:ext cx="310896" cy="310896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950976" y="3525012"/>
            <a:ext cx="56327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AF8FF"/>
                </a:solidFill>
              </a:rPr>
              <a:t>zrzut: edytor layoutu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969264" y="3927348"/>
            <a:ext cx="55961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pl-PL" sz="850">
                <a:solidFill>
                  <a:srgbClr val="B9D4E5"/>
                </a:solidFill>
              </a:rPr>
              <a:t>widok hali z maszynami i sekcjami</a:t>
            </a:r>
            <a:endParaRPr lang="en-US" sz="850" dirty="0"/>
          </a:p>
        </p:txBody>
      </p:sp>
      <p:sp>
        <p:nvSpPr>
          <p:cNvPr id="17" name="Shape 13"/>
          <p:cNvSpPr/>
          <p:nvPr/>
        </p:nvSpPr>
        <p:spPr>
          <a:xfrm>
            <a:off x="7360920" y="1760220"/>
            <a:ext cx="109728" cy="109728"/>
          </a:xfrm>
          <a:prstGeom prst="ellipse">
            <a:avLst/>
          </a:prstGeom>
          <a:solidFill>
            <a:srgbClr val="28D9FF"/>
          </a:solidFill>
          <a:ln w="12700">
            <a:solidFill>
              <a:srgbClr val="28D9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Text 14"/>
          <p:cNvSpPr/>
          <p:nvPr/>
        </p:nvSpPr>
        <p:spPr>
          <a:xfrm>
            <a:off x="7580376" y="1691640"/>
            <a:ext cx="3840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pl-PL" sz="1120">
                <a:solidFill>
                  <a:srgbClr val="EAF8FF"/>
                </a:solidFill>
              </a:rPr>
              <a:t>widok pokazuje położenie maszyn i stref na hali</a:t>
            </a:r>
            <a:endParaRPr lang="en-US" sz="1120" dirty="0"/>
          </a:p>
        </p:txBody>
      </p:sp>
      <p:sp>
        <p:nvSpPr>
          <p:cNvPr id="19" name="Shape 15"/>
          <p:cNvSpPr/>
          <p:nvPr/>
        </p:nvSpPr>
        <p:spPr>
          <a:xfrm>
            <a:off x="7360920" y="2400300"/>
            <a:ext cx="109728" cy="109728"/>
          </a:xfrm>
          <a:prstGeom prst="ellipse">
            <a:avLst/>
          </a:prstGeom>
          <a:solidFill>
            <a:srgbClr val="28D9FF"/>
          </a:solidFill>
          <a:ln w="12700">
            <a:solidFill>
              <a:srgbClr val="28D9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Text 16"/>
          <p:cNvSpPr/>
          <p:nvPr/>
        </p:nvSpPr>
        <p:spPr>
          <a:xfrm>
            <a:off x="7580376" y="2331720"/>
            <a:ext cx="3840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pl-PL" sz="1120">
                <a:solidFill>
                  <a:srgbClr val="EAF8FF"/>
                </a:solidFill>
              </a:rPr>
              <a:t>elementy można dodawać, przesuwać i porządkować</a:t>
            </a:r>
            <a:endParaRPr lang="en-US" sz="1120" dirty="0"/>
          </a:p>
        </p:txBody>
      </p:sp>
      <p:sp>
        <p:nvSpPr>
          <p:cNvPr id="21" name="Shape 17"/>
          <p:cNvSpPr/>
          <p:nvPr/>
        </p:nvSpPr>
        <p:spPr>
          <a:xfrm>
            <a:off x="7360920" y="3040380"/>
            <a:ext cx="109728" cy="109728"/>
          </a:xfrm>
          <a:prstGeom prst="ellipse">
            <a:avLst/>
          </a:prstGeom>
          <a:solidFill>
            <a:srgbClr val="28D9FF"/>
          </a:solidFill>
          <a:ln w="12700">
            <a:solidFill>
              <a:srgbClr val="28D9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Text 18"/>
          <p:cNvSpPr/>
          <p:nvPr/>
        </p:nvSpPr>
        <p:spPr>
          <a:xfrm>
            <a:off x="7580376" y="2971800"/>
            <a:ext cx="3840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pl-PL" sz="1120">
                <a:solidFill>
                  <a:srgbClr val="EAF8FF"/>
                </a:solidFill>
              </a:rPr>
              <a:t>obiekt na planie prowadzi do szczegółów maszyny</a:t>
            </a:r>
            <a:endParaRPr lang="en-US" sz="1120" dirty="0"/>
          </a:p>
        </p:txBody>
      </p:sp>
      <p:sp>
        <p:nvSpPr>
          <p:cNvPr id="23" name="Shape 19"/>
          <p:cNvSpPr/>
          <p:nvPr/>
        </p:nvSpPr>
        <p:spPr>
          <a:xfrm>
            <a:off x="7360920" y="3680460"/>
            <a:ext cx="109728" cy="109728"/>
          </a:xfrm>
          <a:prstGeom prst="ellipse">
            <a:avLst/>
          </a:prstGeom>
          <a:solidFill>
            <a:srgbClr val="28D9FF"/>
          </a:solidFill>
          <a:ln w="12700">
            <a:solidFill>
              <a:srgbClr val="28D9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Text 20"/>
          <p:cNvSpPr/>
          <p:nvPr/>
        </p:nvSpPr>
        <p:spPr>
          <a:xfrm>
            <a:off x="7580376" y="3611880"/>
            <a:ext cx="3840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pl-PL" sz="1120">
                <a:solidFill>
                  <a:srgbClr val="EAF8FF"/>
                </a:solidFill>
              </a:rPr>
              <a:t>łatwiej ocenić układ przestrzeni jako całość</a:t>
            </a:r>
            <a:endParaRPr lang="en-US" sz="112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61A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wide_clean_futuristic_industrial_tech_background.png"/>
          <p:cNvPicPr>
            <a:picLocks noChangeAspect="1"/>
          </p:cNvPicPr>
          <p:nvPr/>
        </p:nvPicPr>
        <p:blipFill>
          <a:blip r:embed="rId3"/>
          <a:srcRect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111F">
              <a:alpha val="86000"/>
            </a:srgbClr>
          </a:solidFill>
          <a:ln w="12700">
            <a:solidFill>
              <a:srgbClr val="03111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B31">
              <a:alpha val="70000"/>
            </a:srgbClr>
          </a:solidFill>
          <a:ln w="12700">
            <a:solidFill>
              <a:srgbClr val="071B3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Shape 2"/>
          <p:cNvSpPr/>
          <p:nvPr/>
        </p:nvSpPr>
        <p:spPr>
          <a:xfrm>
            <a:off x="512064" y="6528816"/>
            <a:ext cx="2011680" cy="0"/>
          </a:xfrm>
          <a:prstGeom prst="line">
            <a:avLst/>
          </a:prstGeom>
          <a:noFill/>
          <a:ln w="15240">
            <a:solidFill>
              <a:srgbClr val="28D9FF">
                <a:alpha val="88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Shape 3"/>
          <p:cNvSpPr/>
          <p:nvPr/>
        </p:nvSpPr>
        <p:spPr>
          <a:xfrm>
            <a:off x="9692640" y="347472"/>
            <a:ext cx="1920240" cy="0"/>
          </a:xfrm>
          <a:prstGeom prst="line">
            <a:avLst/>
          </a:prstGeom>
          <a:noFill/>
          <a:ln w="15240">
            <a:solidFill>
              <a:srgbClr val="28D9FF">
                <a:alpha val="74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4"/>
          <p:cNvSpPr/>
          <p:nvPr/>
        </p:nvSpPr>
        <p:spPr>
          <a:xfrm>
            <a:off x="640080" y="329184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EAF8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Utrzymanie ruchu</a:t>
            </a:r>
            <a:endParaRPr lang="en-US" sz="2500" dirty="0"/>
          </a:p>
        </p:txBody>
      </p:sp>
      <p:sp>
        <p:nvSpPr>
          <p:cNvPr id="8" name="Shape 5"/>
          <p:cNvSpPr/>
          <p:nvPr/>
        </p:nvSpPr>
        <p:spPr>
          <a:xfrm>
            <a:off x="640080" y="969264"/>
            <a:ext cx="1508760" cy="0"/>
          </a:xfrm>
          <a:prstGeom prst="line">
            <a:avLst/>
          </a:prstGeom>
          <a:noFill/>
          <a:ln w="26670">
            <a:solidFill>
              <a:srgbClr val="28D9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6"/>
          <p:cNvSpPr/>
          <p:nvPr/>
        </p:nvSpPr>
        <p:spPr>
          <a:xfrm>
            <a:off x="2322576" y="896112"/>
            <a:ext cx="5394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pl-PL" sz="950">
                <a:solidFill>
                  <a:srgbClr val="B9D4E5"/>
                </a:solidFill>
              </a:rPr>
              <a:t>obsługa awarii, zleceń serwisowych i przeglądów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658368" y="6327648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3A9BE"/>
                </a:solidFill>
              </a:rPr>
              <a:t>FlowCraft — praca dyplomowa magisterska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11201400" y="632764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83A9B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750" dirty="0"/>
          </a:p>
        </p:txBody>
      </p:sp>
      <p:sp>
        <p:nvSpPr>
          <p:cNvPr id="12" name="Shape 9"/>
          <p:cNvSpPr/>
          <p:nvPr/>
        </p:nvSpPr>
        <p:spPr>
          <a:xfrm>
            <a:off x="841248" y="2029968"/>
            <a:ext cx="2615184" cy="2011680"/>
          </a:xfrm>
          <a:prstGeom prst="roundRect">
            <a:avLst>
              <a:gd name="adj" fmla="val 6364"/>
            </a:avLst>
          </a:prstGeom>
          <a:solidFill>
            <a:srgbClr val="0D2A47">
              <a:alpha val="97000"/>
            </a:srgbClr>
          </a:solidFill>
          <a:ln w="12700">
            <a:solidFill>
              <a:srgbClr val="286B8A">
                <a:alpha val="82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Shape 10"/>
          <p:cNvSpPr/>
          <p:nvPr/>
        </p:nvSpPr>
        <p:spPr>
          <a:xfrm>
            <a:off x="1865376" y="2231136"/>
            <a:ext cx="566928" cy="566928"/>
          </a:xfrm>
          <a:prstGeom prst="ellipse">
            <a:avLst/>
          </a:prstGeom>
          <a:solidFill>
            <a:srgbClr val="11395F">
              <a:alpha val="94000"/>
            </a:srgbClr>
          </a:solidFill>
          <a:ln w="15240">
            <a:solidFill>
              <a:srgbClr val="28D9FF">
                <a:alpha val="95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007108" y="2372868"/>
            <a:ext cx="283464" cy="28346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950976" y="2898648"/>
            <a:ext cx="23957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AF8FF"/>
                </a:solidFill>
              </a:rPr>
              <a:t>Zgłoszenie awarii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1042416" y="3300984"/>
            <a:ext cx="221284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pl-PL" sz="920">
                <a:solidFill>
                  <a:srgbClr val="B9D4E5"/>
                </a:solidFill>
              </a:rPr>
              <a:t>opis problemu i powiązana maszyna</a:t>
            </a:r>
            <a:endParaRPr lang="en-US" sz="920" dirty="0"/>
          </a:p>
        </p:txBody>
      </p:sp>
      <p:sp>
        <p:nvSpPr>
          <p:cNvPr id="17" name="Shape 13"/>
          <p:cNvSpPr/>
          <p:nvPr/>
        </p:nvSpPr>
        <p:spPr>
          <a:xfrm>
            <a:off x="3566160" y="3035808"/>
            <a:ext cx="896112" cy="0"/>
          </a:xfrm>
          <a:prstGeom prst="line">
            <a:avLst/>
          </a:prstGeom>
          <a:noFill/>
          <a:ln w="22860">
            <a:solidFill>
              <a:srgbClr val="28D9F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8" name="Shape 14"/>
          <p:cNvSpPr/>
          <p:nvPr/>
        </p:nvSpPr>
        <p:spPr>
          <a:xfrm>
            <a:off x="4608576" y="2029968"/>
            <a:ext cx="2615184" cy="2011680"/>
          </a:xfrm>
          <a:prstGeom prst="roundRect">
            <a:avLst>
              <a:gd name="adj" fmla="val 6364"/>
            </a:avLst>
          </a:prstGeom>
          <a:solidFill>
            <a:srgbClr val="0D2A47">
              <a:alpha val="97000"/>
            </a:srgbClr>
          </a:solidFill>
          <a:ln w="12700">
            <a:solidFill>
              <a:srgbClr val="286B8A">
                <a:alpha val="82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Shape 15"/>
          <p:cNvSpPr/>
          <p:nvPr/>
        </p:nvSpPr>
        <p:spPr>
          <a:xfrm>
            <a:off x="5632704" y="2231136"/>
            <a:ext cx="566928" cy="566928"/>
          </a:xfrm>
          <a:prstGeom prst="ellipse">
            <a:avLst/>
          </a:prstGeom>
          <a:solidFill>
            <a:srgbClr val="11395F">
              <a:alpha val="94000"/>
            </a:srgbClr>
          </a:solidFill>
          <a:ln w="15240">
            <a:solidFill>
              <a:srgbClr val="28D9FF">
                <a:alpha val="95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774436" y="2372868"/>
            <a:ext cx="283464" cy="283464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4718304" y="2898648"/>
            <a:ext cx="23957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AF8FF"/>
                </a:solidFill>
              </a:rPr>
              <a:t>Zlecenie pracy</a:t>
            </a:r>
            <a:endParaRPr lang="en-US" sz="1500" dirty="0"/>
          </a:p>
        </p:txBody>
      </p:sp>
      <p:sp>
        <p:nvSpPr>
          <p:cNvPr id="22" name="Text 17"/>
          <p:cNvSpPr/>
          <p:nvPr/>
        </p:nvSpPr>
        <p:spPr>
          <a:xfrm>
            <a:off x="4809744" y="3300984"/>
            <a:ext cx="221284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20">
                <a:solidFill>
                  <a:srgbClr val="B9D4E5"/>
                </a:solidFill>
              </a:rPr>
              <a:t>zakres działań i odpowiedzialność</a:t>
            </a:r>
            <a:endParaRPr lang="en-US" sz="920" dirty="0"/>
          </a:p>
        </p:txBody>
      </p:sp>
      <p:sp>
        <p:nvSpPr>
          <p:cNvPr id="23" name="Shape 18"/>
          <p:cNvSpPr/>
          <p:nvPr/>
        </p:nvSpPr>
        <p:spPr>
          <a:xfrm>
            <a:off x="7333488" y="3035808"/>
            <a:ext cx="896112" cy="0"/>
          </a:xfrm>
          <a:prstGeom prst="line">
            <a:avLst/>
          </a:prstGeom>
          <a:noFill/>
          <a:ln w="22860">
            <a:solidFill>
              <a:srgbClr val="28D9F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24" name="Shape 19"/>
          <p:cNvSpPr/>
          <p:nvPr/>
        </p:nvSpPr>
        <p:spPr>
          <a:xfrm>
            <a:off x="8375904" y="2029968"/>
            <a:ext cx="2615184" cy="2011680"/>
          </a:xfrm>
          <a:prstGeom prst="roundRect">
            <a:avLst>
              <a:gd name="adj" fmla="val 6364"/>
            </a:avLst>
          </a:prstGeom>
          <a:solidFill>
            <a:srgbClr val="0D2A47">
              <a:alpha val="97000"/>
            </a:srgbClr>
          </a:solidFill>
          <a:ln w="12700">
            <a:solidFill>
              <a:srgbClr val="286B8A">
                <a:alpha val="82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Shape 20"/>
          <p:cNvSpPr/>
          <p:nvPr/>
        </p:nvSpPr>
        <p:spPr>
          <a:xfrm>
            <a:off x="9400032" y="2231136"/>
            <a:ext cx="566928" cy="566928"/>
          </a:xfrm>
          <a:prstGeom prst="ellipse">
            <a:avLst/>
          </a:prstGeom>
          <a:solidFill>
            <a:srgbClr val="11395F">
              <a:alpha val="94000"/>
            </a:srgbClr>
          </a:solidFill>
          <a:ln w="15240">
            <a:solidFill>
              <a:srgbClr val="28D9FF">
                <a:alpha val="95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541764" y="2372868"/>
            <a:ext cx="283464" cy="283464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8485632" y="2898648"/>
            <a:ext cx="23957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AF8FF"/>
                </a:solidFill>
              </a:rPr>
              <a:t>Przegląd</a:t>
            </a:r>
            <a:endParaRPr lang="en-US" sz="1500" dirty="0"/>
          </a:p>
        </p:txBody>
      </p:sp>
      <p:sp>
        <p:nvSpPr>
          <p:cNvPr id="28" name="Text 22"/>
          <p:cNvSpPr/>
          <p:nvPr/>
        </p:nvSpPr>
        <p:spPr>
          <a:xfrm>
            <a:off x="8577072" y="3300984"/>
            <a:ext cx="221284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20">
                <a:solidFill>
                  <a:srgbClr val="B9D4E5"/>
                </a:solidFill>
              </a:rPr>
              <a:t>działanie cykliczne lub licznikowe</a:t>
            </a:r>
            <a:endParaRPr lang="en-US" sz="920" dirty="0"/>
          </a:p>
        </p:txBody>
      </p:sp>
      <p:sp>
        <p:nvSpPr>
          <p:cNvPr id="29" name="Shape 23"/>
          <p:cNvSpPr/>
          <p:nvPr/>
        </p:nvSpPr>
        <p:spPr>
          <a:xfrm>
            <a:off x="1234440" y="4754880"/>
            <a:ext cx="9646920" cy="749808"/>
          </a:xfrm>
          <a:prstGeom prst="roundRect">
            <a:avLst>
              <a:gd name="adj" fmla="val 15854"/>
            </a:avLst>
          </a:prstGeom>
          <a:solidFill>
            <a:srgbClr val="07243E">
              <a:alpha val="97000"/>
            </a:srgbClr>
          </a:solidFill>
          <a:ln w="13970">
            <a:solidFill>
              <a:srgbClr val="28D9FF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0" name="Shape 24"/>
          <p:cNvSpPr/>
          <p:nvPr/>
        </p:nvSpPr>
        <p:spPr>
          <a:xfrm>
            <a:off x="1408176" y="4910328"/>
            <a:ext cx="402336" cy="402336"/>
          </a:xfrm>
          <a:prstGeom prst="ellipse">
            <a:avLst/>
          </a:prstGeom>
          <a:solidFill>
            <a:srgbClr val="0C3153">
              <a:alpha val="94000"/>
            </a:srgbClr>
          </a:solidFill>
          <a:ln w="15240">
            <a:solidFill>
              <a:srgbClr val="28D9FF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508760" y="5010912"/>
            <a:ext cx="201168" cy="201168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1947672" y="4901184"/>
            <a:ext cx="878738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pl-PL" sz="1200" b="1">
                <a:solidFill>
                  <a:srgbClr val="EAF8FF"/>
                </a:solidFill>
              </a:rPr>
              <a:t>Historia zdarzeń jest przypisana do maszyny, co ułatwia analizę powtarzalnych problemów i planowanie prewencji.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61A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wide_clean_futuristic_industrial_tech_background.png"/>
          <p:cNvPicPr>
            <a:picLocks noChangeAspect="1"/>
          </p:cNvPicPr>
          <p:nvPr/>
        </p:nvPicPr>
        <p:blipFill>
          <a:blip r:embed="rId3"/>
          <a:srcRect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111F">
              <a:alpha val="86000"/>
            </a:srgbClr>
          </a:solidFill>
          <a:ln w="12700">
            <a:solidFill>
              <a:srgbClr val="03111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B31">
              <a:alpha val="70000"/>
            </a:srgbClr>
          </a:solidFill>
          <a:ln w="12700">
            <a:solidFill>
              <a:srgbClr val="071B3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Shape 2"/>
          <p:cNvSpPr/>
          <p:nvPr/>
        </p:nvSpPr>
        <p:spPr>
          <a:xfrm>
            <a:off x="512064" y="6528816"/>
            <a:ext cx="2011680" cy="0"/>
          </a:xfrm>
          <a:prstGeom prst="line">
            <a:avLst/>
          </a:prstGeom>
          <a:noFill/>
          <a:ln w="15240">
            <a:solidFill>
              <a:srgbClr val="28D9FF">
                <a:alpha val="88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Shape 3"/>
          <p:cNvSpPr/>
          <p:nvPr/>
        </p:nvSpPr>
        <p:spPr>
          <a:xfrm>
            <a:off x="9692640" y="347472"/>
            <a:ext cx="1920240" cy="0"/>
          </a:xfrm>
          <a:prstGeom prst="line">
            <a:avLst/>
          </a:prstGeom>
          <a:noFill/>
          <a:ln w="15240">
            <a:solidFill>
              <a:srgbClr val="28D9FF">
                <a:alpha val="74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4"/>
          <p:cNvSpPr/>
          <p:nvPr/>
        </p:nvSpPr>
        <p:spPr>
          <a:xfrm>
            <a:off x="640080" y="329184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EAF8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Magazyn części i zaopatrzenie</a:t>
            </a:r>
            <a:endParaRPr lang="en-US" sz="2500" dirty="0"/>
          </a:p>
        </p:txBody>
      </p:sp>
      <p:sp>
        <p:nvSpPr>
          <p:cNvPr id="8" name="Shape 5"/>
          <p:cNvSpPr/>
          <p:nvPr/>
        </p:nvSpPr>
        <p:spPr>
          <a:xfrm>
            <a:off x="640080" y="969264"/>
            <a:ext cx="1508760" cy="0"/>
          </a:xfrm>
          <a:prstGeom prst="line">
            <a:avLst/>
          </a:prstGeom>
          <a:noFill/>
          <a:ln w="26670">
            <a:solidFill>
              <a:srgbClr val="28D9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6"/>
          <p:cNvSpPr/>
          <p:nvPr/>
        </p:nvSpPr>
        <p:spPr>
          <a:xfrm>
            <a:off x="2322576" y="896112"/>
            <a:ext cx="5394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pl-PL" sz="950">
                <a:solidFill>
                  <a:srgbClr val="B9D4E5"/>
                </a:solidFill>
              </a:rPr>
              <a:t>dostępność materiałów wpływa na czas napraw i przeglądów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658368" y="6327648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3A9BE"/>
                </a:solidFill>
              </a:rPr>
              <a:t>FlowCraft — praca dyplomowa magisterska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11201400" y="632764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83A9B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750" dirty="0"/>
          </a:p>
        </p:txBody>
      </p:sp>
      <p:sp>
        <p:nvSpPr>
          <p:cNvPr id="12" name="Shape 9"/>
          <p:cNvSpPr/>
          <p:nvPr/>
        </p:nvSpPr>
        <p:spPr>
          <a:xfrm>
            <a:off x="6748272" y="1353312"/>
            <a:ext cx="4434840" cy="4069080"/>
          </a:xfrm>
          <a:prstGeom prst="roundRect">
            <a:avLst>
              <a:gd name="adj" fmla="val 4045"/>
            </a:avLst>
          </a:prstGeom>
          <a:solidFill>
            <a:srgbClr val="061A2F">
              <a:alpha val="80000"/>
            </a:srgbClr>
          </a:solidFill>
          <a:ln w="15240">
            <a:solidFill>
              <a:srgbClr val="28D9FF">
                <a:alpha val="84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Shape 10"/>
          <p:cNvSpPr/>
          <p:nvPr/>
        </p:nvSpPr>
        <p:spPr>
          <a:xfrm>
            <a:off x="8654796" y="2702052"/>
            <a:ext cx="621792" cy="621792"/>
          </a:xfrm>
          <a:prstGeom prst="ellipse">
            <a:avLst/>
          </a:prstGeom>
          <a:solidFill>
            <a:srgbClr val="08223D">
              <a:alpha val="94000"/>
            </a:srgbClr>
          </a:solidFill>
          <a:ln w="15240">
            <a:solidFill>
              <a:srgbClr val="28D9FF">
                <a:alpha val="92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810244" y="2857500"/>
            <a:ext cx="310896" cy="310896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6949440" y="3369564"/>
            <a:ext cx="40325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AF8FF"/>
                </a:solidFill>
              </a:rPr>
              <a:t>zrzut: magazyn części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6967728" y="3771900"/>
            <a:ext cx="3995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pl-PL" sz="850">
                <a:solidFill>
                  <a:srgbClr val="B9D4E5"/>
                </a:solidFill>
              </a:rPr>
              <a:t>lista pozycji i rekomendacje uzupełnienia</a:t>
            </a:r>
            <a:endParaRPr lang="en-US" sz="850" dirty="0"/>
          </a:p>
        </p:txBody>
      </p:sp>
      <p:sp>
        <p:nvSpPr>
          <p:cNvPr id="17" name="Shape 13"/>
          <p:cNvSpPr/>
          <p:nvPr/>
        </p:nvSpPr>
        <p:spPr>
          <a:xfrm>
            <a:off x="868680" y="1426464"/>
            <a:ext cx="4800600" cy="841248"/>
          </a:xfrm>
          <a:prstGeom prst="roundRect">
            <a:avLst>
              <a:gd name="adj" fmla="val 11957"/>
            </a:avLst>
          </a:prstGeom>
          <a:solidFill>
            <a:srgbClr val="102B48">
              <a:alpha val="96000"/>
            </a:srgbClr>
          </a:solidFill>
          <a:ln w="10160">
            <a:solidFill>
              <a:srgbClr val="225C7B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Shape 14"/>
          <p:cNvSpPr/>
          <p:nvPr/>
        </p:nvSpPr>
        <p:spPr>
          <a:xfrm>
            <a:off x="1042416" y="1632204"/>
            <a:ext cx="429768" cy="429768"/>
          </a:xfrm>
          <a:prstGeom prst="ellipse">
            <a:avLst/>
          </a:prstGeom>
          <a:solidFill>
            <a:srgbClr val="0B2846">
              <a:alpha val="94000"/>
            </a:srgbClr>
          </a:solidFill>
          <a:ln w="15240">
            <a:solidFill>
              <a:srgbClr val="28D9FF">
                <a:alpha val="84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49858" y="1739646"/>
            <a:ext cx="214884" cy="214884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581912" y="1572768"/>
            <a:ext cx="393192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220" b="1" dirty="0">
                <a:solidFill>
                  <a:srgbClr val="EAF8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Stan magazynowy</a:t>
            </a:r>
            <a:endParaRPr lang="en-US" sz="1220" dirty="0"/>
          </a:p>
        </p:txBody>
      </p:sp>
      <p:sp>
        <p:nvSpPr>
          <p:cNvPr id="21" name="Text 16"/>
          <p:cNvSpPr/>
          <p:nvPr/>
        </p:nvSpPr>
        <p:spPr>
          <a:xfrm>
            <a:off x="1581912" y="1865376"/>
            <a:ext cx="3931920" cy="31089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90">
                <a:solidFill>
                  <a:srgbClr val="B9D4E5"/>
                </a:solidFill>
              </a:rPr>
              <a:t>bieżąca liczba dostępnych sztuk</a:t>
            </a:r>
            <a:endParaRPr lang="en-US" sz="890" dirty="0"/>
          </a:p>
        </p:txBody>
      </p:sp>
      <p:sp>
        <p:nvSpPr>
          <p:cNvPr id="22" name="Shape 17"/>
          <p:cNvSpPr/>
          <p:nvPr/>
        </p:nvSpPr>
        <p:spPr>
          <a:xfrm>
            <a:off x="868680" y="2487168"/>
            <a:ext cx="4800600" cy="841248"/>
          </a:xfrm>
          <a:prstGeom prst="roundRect">
            <a:avLst>
              <a:gd name="adj" fmla="val 11957"/>
            </a:avLst>
          </a:prstGeom>
          <a:solidFill>
            <a:srgbClr val="102B48">
              <a:alpha val="96000"/>
            </a:srgbClr>
          </a:solidFill>
          <a:ln w="10160">
            <a:solidFill>
              <a:srgbClr val="225C7B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Shape 18"/>
          <p:cNvSpPr/>
          <p:nvPr/>
        </p:nvSpPr>
        <p:spPr>
          <a:xfrm>
            <a:off x="1042416" y="2692908"/>
            <a:ext cx="429768" cy="429768"/>
          </a:xfrm>
          <a:prstGeom prst="ellipse">
            <a:avLst/>
          </a:prstGeom>
          <a:solidFill>
            <a:srgbClr val="0B2846">
              <a:alpha val="94000"/>
            </a:srgbClr>
          </a:solidFill>
          <a:ln w="15240">
            <a:solidFill>
              <a:srgbClr val="28D9FF">
                <a:alpha val="84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49858" y="2800350"/>
            <a:ext cx="214884" cy="214884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581912" y="2633472"/>
            <a:ext cx="393192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220" b="1" dirty="0">
                <a:solidFill>
                  <a:srgbClr val="EAF8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Poziom minimalny</a:t>
            </a:r>
            <a:endParaRPr lang="en-US" sz="1220" dirty="0"/>
          </a:p>
        </p:txBody>
      </p:sp>
      <p:sp>
        <p:nvSpPr>
          <p:cNvPr id="26" name="Text 20"/>
          <p:cNvSpPr/>
          <p:nvPr/>
        </p:nvSpPr>
        <p:spPr>
          <a:xfrm>
            <a:off x="1581912" y="2926080"/>
            <a:ext cx="3931920" cy="31089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pl-PL" sz="890">
                <a:solidFill>
                  <a:srgbClr val="B9D4E5"/>
                </a:solidFill>
              </a:rPr>
              <a:t>sygnał, że zapas wymaga uzupełnienia</a:t>
            </a:r>
            <a:endParaRPr lang="en-US" sz="890" dirty="0"/>
          </a:p>
        </p:txBody>
      </p:sp>
      <p:sp>
        <p:nvSpPr>
          <p:cNvPr id="27" name="Shape 21"/>
          <p:cNvSpPr/>
          <p:nvPr/>
        </p:nvSpPr>
        <p:spPr>
          <a:xfrm>
            <a:off x="868680" y="3547872"/>
            <a:ext cx="4800600" cy="841248"/>
          </a:xfrm>
          <a:prstGeom prst="roundRect">
            <a:avLst>
              <a:gd name="adj" fmla="val 11957"/>
            </a:avLst>
          </a:prstGeom>
          <a:solidFill>
            <a:srgbClr val="102B48">
              <a:alpha val="96000"/>
            </a:srgbClr>
          </a:solidFill>
          <a:ln w="10160">
            <a:solidFill>
              <a:srgbClr val="225C7B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" name="Shape 22"/>
          <p:cNvSpPr/>
          <p:nvPr/>
        </p:nvSpPr>
        <p:spPr>
          <a:xfrm>
            <a:off x="1042416" y="3753612"/>
            <a:ext cx="429768" cy="429768"/>
          </a:xfrm>
          <a:prstGeom prst="ellipse">
            <a:avLst/>
          </a:prstGeom>
          <a:solidFill>
            <a:srgbClr val="0B2846">
              <a:alpha val="94000"/>
            </a:srgbClr>
          </a:solidFill>
          <a:ln w="15240">
            <a:solidFill>
              <a:srgbClr val="28D9FF">
                <a:alpha val="84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29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149858" y="3861054"/>
            <a:ext cx="214884" cy="214884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1581912" y="3694176"/>
            <a:ext cx="393192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220" b="1" dirty="0">
                <a:solidFill>
                  <a:srgbClr val="EAF8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Rekomendacje zakupowe</a:t>
            </a:r>
            <a:endParaRPr lang="en-US" sz="1220" dirty="0"/>
          </a:p>
        </p:txBody>
      </p:sp>
      <p:sp>
        <p:nvSpPr>
          <p:cNvPr id="31" name="Text 24"/>
          <p:cNvSpPr/>
          <p:nvPr/>
        </p:nvSpPr>
        <p:spPr>
          <a:xfrm>
            <a:off x="1581912" y="3986784"/>
            <a:ext cx="3931920" cy="31089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90">
                <a:solidFill>
                  <a:srgbClr val="B9D4E5"/>
                </a:solidFill>
              </a:rPr>
              <a:t>pozycje wskazane do zamówienia</a:t>
            </a:r>
            <a:endParaRPr lang="en-US" sz="890" dirty="0"/>
          </a:p>
        </p:txBody>
      </p:sp>
      <p:sp>
        <p:nvSpPr>
          <p:cNvPr id="32" name="Shape 25"/>
          <p:cNvSpPr/>
          <p:nvPr/>
        </p:nvSpPr>
        <p:spPr>
          <a:xfrm>
            <a:off x="868680" y="4864608"/>
            <a:ext cx="4800600" cy="685800"/>
          </a:xfrm>
          <a:prstGeom prst="roundRect">
            <a:avLst>
              <a:gd name="adj" fmla="val 17333"/>
            </a:avLst>
          </a:prstGeom>
          <a:solidFill>
            <a:srgbClr val="07243E">
              <a:alpha val="97000"/>
            </a:srgbClr>
          </a:solidFill>
          <a:ln w="13970">
            <a:solidFill>
              <a:srgbClr val="28D9FF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3" name="Shape 26"/>
          <p:cNvSpPr/>
          <p:nvPr/>
        </p:nvSpPr>
        <p:spPr>
          <a:xfrm>
            <a:off x="1042416" y="5020056"/>
            <a:ext cx="402336" cy="402336"/>
          </a:xfrm>
          <a:prstGeom prst="ellipse">
            <a:avLst/>
          </a:prstGeom>
          <a:solidFill>
            <a:srgbClr val="0C3153">
              <a:alpha val="94000"/>
            </a:srgbClr>
          </a:solidFill>
          <a:ln w="15240">
            <a:solidFill>
              <a:srgbClr val="28D9FF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34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43000" y="5120640"/>
            <a:ext cx="201168" cy="201168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1581912" y="5010912"/>
            <a:ext cx="3941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pl-PL" sz="1200" b="1">
                <a:solidFill>
                  <a:srgbClr val="EAF8FF"/>
                </a:solidFill>
              </a:rPr>
              <a:t>Magazyn wspiera realizację napraw, przeglądów i zleceń serwisowych.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61A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wide_clean_futuristic_industrial_tech_background.png"/>
          <p:cNvPicPr>
            <a:picLocks noChangeAspect="1"/>
          </p:cNvPicPr>
          <p:nvPr/>
        </p:nvPicPr>
        <p:blipFill>
          <a:blip r:embed="rId3"/>
          <a:srcRect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111F">
              <a:alpha val="86000"/>
            </a:srgbClr>
          </a:solidFill>
          <a:ln w="12700">
            <a:solidFill>
              <a:srgbClr val="03111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B31">
              <a:alpha val="70000"/>
            </a:srgbClr>
          </a:solidFill>
          <a:ln w="12700">
            <a:solidFill>
              <a:srgbClr val="071B3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Shape 2"/>
          <p:cNvSpPr/>
          <p:nvPr/>
        </p:nvSpPr>
        <p:spPr>
          <a:xfrm>
            <a:off x="512064" y="6528816"/>
            <a:ext cx="2011680" cy="0"/>
          </a:xfrm>
          <a:prstGeom prst="line">
            <a:avLst/>
          </a:prstGeom>
          <a:noFill/>
          <a:ln w="15240">
            <a:solidFill>
              <a:srgbClr val="28D9FF">
                <a:alpha val="88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Shape 3"/>
          <p:cNvSpPr/>
          <p:nvPr/>
        </p:nvSpPr>
        <p:spPr>
          <a:xfrm>
            <a:off x="9692640" y="347472"/>
            <a:ext cx="1920240" cy="0"/>
          </a:xfrm>
          <a:prstGeom prst="line">
            <a:avLst/>
          </a:prstGeom>
          <a:noFill/>
          <a:ln w="15240">
            <a:solidFill>
              <a:srgbClr val="28D9FF">
                <a:alpha val="74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4"/>
          <p:cNvSpPr/>
          <p:nvPr/>
        </p:nvSpPr>
        <p:spPr>
          <a:xfrm>
            <a:off x="640080" y="329184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EAF8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Dashboard i raporty</a:t>
            </a:r>
            <a:endParaRPr lang="en-US" sz="2500" dirty="0"/>
          </a:p>
        </p:txBody>
      </p:sp>
      <p:sp>
        <p:nvSpPr>
          <p:cNvPr id="8" name="Shape 5"/>
          <p:cNvSpPr/>
          <p:nvPr/>
        </p:nvSpPr>
        <p:spPr>
          <a:xfrm>
            <a:off x="640080" y="969264"/>
            <a:ext cx="1508760" cy="0"/>
          </a:xfrm>
          <a:prstGeom prst="line">
            <a:avLst/>
          </a:prstGeom>
          <a:noFill/>
          <a:ln w="26670">
            <a:solidFill>
              <a:srgbClr val="28D9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6"/>
          <p:cNvSpPr/>
          <p:nvPr/>
        </p:nvSpPr>
        <p:spPr>
          <a:xfrm>
            <a:off x="2322576" y="896112"/>
            <a:ext cx="5394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pl-PL" sz="950">
                <a:solidFill>
                  <a:srgbClr val="B9D4E5"/>
                </a:solidFill>
              </a:rPr>
              <a:t>zbiorczy widok najważniejszych informacji operacyjnych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658368" y="6327648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3A9BE"/>
                </a:solidFill>
              </a:rPr>
              <a:t>FlowCraft — praca dyplomowa magisterska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11201400" y="632764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83A9B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750" dirty="0"/>
          </a:p>
        </p:txBody>
      </p:sp>
      <p:sp>
        <p:nvSpPr>
          <p:cNvPr id="12" name="Shape 9"/>
          <p:cNvSpPr/>
          <p:nvPr/>
        </p:nvSpPr>
        <p:spPr>
          <a:xfrm>
            <a:off x="749808" y="1298448"/>
            <a:ext cx="5989320" cy="4498848"/>
          </a:xfrm>
          <a:prstGeom prst="roundRect">
            <a:avLst>
              <a:gd name="adj" fmla="val 3659"/>
            </a:avLst>
          </a:prstGeom>
          <a:solidFill>
            <a:srgbClr val="061A2F">
              <a:alpha val="80000"/>
            </a:srgbClr>
          </a:solidFill>
          <a:ln w="15240">
            <a:solidFill>
              <a:srgbClr val="28D9FF">
                <a:alpha val="84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Shape 10"/>
          <p:cNvSpPr/>
          <p:nvPr/>
        </p:nvSpPr>
        <p:spPr>
          <a:xfrm>
            <a:off x="3433572" y="2862072"/>
            <a:ext cx="621792" cy="621792"/>
          </a:xfrm>
          <a:prstGeom prst="ellipse">
            <a:avLst/>
          </a:prstGeom>
          <a:solidFill>
            <a:srgbClr val="08223D">
              <a:alpha val="94000"/>
            </a:srgbClr>
          </a:solidFill>
          <a:ln w="15240">
            <a:solidFill>
              <a:srgbClr val="28D9FF">
                <a:alpha val="92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589020" y="3017520"/>
            <a:ext cx="310896" cy="310896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950976" y="3529584"/>
            <a:ext cx="55869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AF8FF"/>
                </a:solidFill>
              </a:rPr>
              <a:t>zrzut: dashboard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969264" y="3931920"/>
            <a:ext cx="55504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pl-PL" sz="850">
                <a:solidFill>
                  <a:srgbClr val="B9D4E5"/>
                </a:solidFill>
              </a:rPr>
              <a:t>kafle KPI i lista priorytetów</a:t>
            </a:r>
            <a:endParaRPr lang="en-US" sz="850" dirty="0"/>
          </a:p>
        </p:txBody>
      </p:sp>
      <p:sp>
        <p:nvSpPr>
          <p:cNvPr id="17" name="Shape 13"/>
          <p:cNvSpPr/>
          <p:nvPr/>
        </p:nvSpPr>
        <p:spPr>
          <a:xfrm>
            <a:off x="7150608" y="1417320"/>
            <a:ext cx="4160520" cy="749808"/>
          </a:xfrm>
          <a:prstGeom prst="roundRect">
            <a:avLst>
              <a:gd name="adj" fmla="val 13415"/>
            </a:avLst>
          </a:prstGeom>
          <a:solidFill>
            <a:srgbClr val="102B48">
              <a:alpha val="96000"/>
            </a:srgbClr>
          </a:solidFill>
          <a:ln w="10160">
            <a:solidFill>
              <a:srgbClr val="225C7B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Shape 14"/>
          <p:cNvSpPr/>
          <p:nvPr/>
        </p:nvSpPr>
        <p:spPr>
          <a:xfrm>
            <a:off x="7324344" y="1600200"/>
            <a:ext cx="384048" cy="384048"/>
          </a:xfrm>
          <a:prstGeom prst="ellipse">
            <a:avLst/>
          </a:prstGeom>
          <a:solidFill>
            <a:srgbClr val="0B2846">
              <a:alpha val="94000"/>
            </a:srgbClr>
          </a:solidFill>
          <a:ln w="15240">
            <a:solidFill>
              <a:srgbClr val="28D9FF">
                <a:alpha val="84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420356" y="1696212"/>
            <a:ext cx="192024" cy="192024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7863840" y="1563624"/>
            <a:ext cx="329184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220" b="1" dirty="0">
                <a:solidFill>
                  <a:srgbClr val="EAF8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Awarie krytyczne</a:t>
            </a:r>
            <a:endParaRPr lang="en-US" sz="1220" dirty="0"/>
          </a:p>
        </p:txBody>
      </p:sp>
      <p:sp>
        <p:nvSpPr>
          <p:cNvPr id="21" name="Shape 16"/>
          <p:cNvSpPr/>
          <p:nvPr/>
        </p:nvSpPr>
        <p:spPr>
          <a:xfrm>
            <a:off x="7150608" y="2432304"/>
            <a:ext cx="4160520" cy="749808"/>
          </a:xfrm>
          <a:prstGeom prst="roundRect">
            <a:avLst>
              <a:gd name="adj" fmla="val 13415"/>
            </a:avLst>
          </a:prstGeom>
          <a:solidFill>
            <a:srgbClr val="102B48">
              <a:alpha val="96000"/>
            </a:srgbClr>
          </a:solidFill>
          <a:ln w="10160">
            <a:solidFill>
              <a:srgbClr val="225C7B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Shape 17"/>
          <p:cNvSpPr/>
          <p:nvPr/>
        </p:nvSpPr>
        <p:spPr>
          <a:xfrm>
            <a:off x="7324344" y="2615184"/>
            <a:ext cx="384048" cy="384048"/>
          </a:xfrm>
          <a:prstGeom prst="ellipse">
            <a:avLst/>
          </a:prstGeom>
          <a:solidFill>
            <a:srgbClr val="0B2846">
              <a:alpha val="94000"/>
            </a:srgbClr>
          </a:solidFill>
          <a:ln w="15240">
            <a:solidFill>
              <a:srgbClr val="28D9FF">
                <a:alpha val="84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420356" y="2711196"/>
            <a:ext cx="192024" cy="192024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7863840" y="2578608"/>
            <a:ext cx="329184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220" b="1" dirty="0">
                <a:solidFill>
                  <a:srgbClr val="EAF8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Przeglądy po terminie</a:t>
            </a:r>
            <a:endParaRPr lang="en-US" sz="1220" dirty="0"/>
          </a:p>
        </p:txBody>
      </p:sp>
      <p:sp>
        <p:nvSpPr>
          <p:cNvPr id="25" name="Shape 19"/>
          <p:cNvSpPr/>
          <p:nvPr/>
        </p:nvSpPr>
        <p:spPr>
          <a:xfrm>
            <a:off x="7150608" y="3447288"/>
            <a:ext cx="4160520" cy="749808"/>
          </a:xfrm>
          <a:prstGeom prst="roundRect">
            <a:avLst>
              <a:gd name="adj" fmla="val 13415"/>
            </a:avLst>
          </a:prstGeom>
          <a:solidFill>
            <a:srgbClr val="102B48">
              <a:alpha val="96000"/>
            </a:srgbClr>
          </a:solidFill>
          <a:ln w="10160">
            <a:solidFill>
              <a:srgbClr val="225C7B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" name="Shape 20"/>
          <p:cNvSpPr/>
          <p:nvPr/>
        </p:nvSpPr>
        <p:spPr>
          <a:xfrm>
            <a:off x="7324344" y="3630168"/>
            <a:ext cx="384048" cy="384048"/>
          </a:xfrm>
          <a:prstGeom prst="ellipse">
            <a:avLst/>
          </a:prstGeom>
          <a:solidFill>
            <a:srgbClr val="0B2846">
              <a:alpha val="94000"/>
            </a:srgbClr>
          </a:solidFill>
          <a:ln w="15240">
            <a:solidFill>
              <a:srgbClr val="28D9FF">
                <a:alpha val="84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420356" y="3726180"/>
            <a:ext cx="192024" cy="192024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7863840" y="3593592"/>
            <a:ext cx="329184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220" b="1">
                <a:solidFill>
                  <a:srgbClr val="EAF8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Niski stan magazynowy</a:t>
            </a:r>
            <a:endParaRPr lang="en-US" sz="1220" dirty="0"/>
          </a:p>
        </p:txBody>
      </p:sp>
      <p:sp>
        <p:nvSpPr>
          <p:cNvPr id="29" name="Shape 22"/>
          <p:cNvSpPr/>
          <p:nvPr/>
        </p:nvSpPr>
        <p:spPr>
          <a:xfrm>
            <a:off x="7150608" y="4462272"/>
            <a:ext cx="4160520" cy="749808"/>
          </a:xfrm>
          <a:prstGeom prst="roundRect">
            <a:avLst>
              <a:gd name="adj" fmla="val 13415"/>
            </a:avLst>
          </a:prstGeom>
          <a:solidFill>
            <a:srgbClr val="102B48">
              <a:alpha val="96000"/>
            </a:srgbClr>
          </a:solidFill>
          <a:ln w="10160">
            <a:solidFill>
              <a:srgbClr val="225C7B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0" name="Shape 23"/>
          <p:cNvSpPr/>
          <p:nvPr/>
        </p:nvSpPr>
        <p:spPr>
          <a:xfrm>
            <a:off x="7324344" y="4645152"/>
            <a:ext cx="384048" cy="384048"/>
          </a:xfrm>
          <a:prstGeom prst="ellipse">
            <a:avLst/>
          </a:prstGeom>
          <a:solidFill>
            <a:srgbClr val="0B2846">
              <a:alpha val="94000"/>
            </a:srgbClr>
          </a:solidFill>
          <a:ln w="15240">
            <a:solidFill>
              <a:srgbClr val="28D9FF">
                <a:alpha val="84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420356" y="4741164"/>
            <a:ext cx="192024" cy="192024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7863840" y="4608576"/>
            <a:ext cx="329184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220" b="1">
                <a:solidFill>
                  <a:srgbClr val="EAF8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Luki kompetencyjne</a:t>
            </a:r>
            <a:endParaRPr lang="en-US" sz="1220" dirty="0"/>
          </a:p>
        </p:txBody>
      </p:sp>
      <p:sp>
        <p:nvSpPr>
          <p:cNvPr id="33" name="Text 25"/>
          <p:cNvSpPr/>
          <p:nvPr/>
        </p:nvSpPr>
        <p:spPr>
          <a:xfrm>
            <a:off x="7269480" y="544068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pl-PL" sz="1100">
                <a:solidFill>
                  <a:srgbClr val="EAF8FF"/>
                </a:solidFill>
              </a:rPr>
              <a:t>Cel widoku: szybkie wskazanie obszarów wymagających reakcji w danym dniu.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61A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wide_clean_futuristic_industrial_tech_background.png"/>
          <p:cNvPicPr>
            <a:picLocks noChangeAspect="1"/>
          </p:cNvPicPr>
          <p:nvPr/>
        </p:nvPicPr>
        <p:blipFill>
          <a:blip r:embed="rId3"/>
          <a:srcRect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111F">
              <a:alpha val="86000"/>
            </a:srgbClr>
          </a:solidFill>
          <a:ln w="12700">
            <a:solidFill>
              <a:srgbClr val="03111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B31">
              <a:alpha val="70000"/>
            </a:srgbClr>
          </a:solidFill>
          <a:ln w="12700">
            <a:solidFill>
              <a:srgbClr val="071B3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Shape 2"/>
          <p:cNvSpPr/>
          <p:nvPr/>
        </p:nvSpPr>
        <p:spPr>
          <a:xfrm>
            <a:off x="512064" y="6528816"/>
            <a:ext cx="2011680" cy="0"/>
          </a:xfrm>
          <a:prstGeom prst="line">
            <a:avLst/>
          </a:prstGeom>
          <a:noFill/>
          <a:ln w="15240">
            <a:solidFill>
              <a:srgbClr val="28D9FF">
                <a:alpha val="88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Shape 3"/>
          <p:cNvSpPr/>
          <p:nvPr/>
        </p:nvSpPr>
        <p:spPr>
          <a:xfrm>
            <a:off x="9692640" y="347472"/>
            <a:ext cx="1920240" cy="0"/>
          </a:xfrm>
          <a:prstGeom prst="line">
            <a:avLst/>
          </a:prstGeom>
          <a:noFill/>
          <a:ln w="15240">
            <a:solidFill>
              <a:srgbClr val="28D9FF">
                <a:alpha val="74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4"/>
          <p:cNvSpPr/>
          <p:nvPr/>
        </p:nvSpPr>
        <p:spPr>
          <a:xfrm>
            <a:off x="640080" y="329184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EAF8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Architektura rozwiązania</a:t>
            </a:r>
            <a:endParaRPr lang="en-US" sz="2500" dirty="0"/>
          </a:p>
        </p:txBody>
      </p:sp>
      <p:sp>
        <p:nvSpPr>
          <p:cNvPr id="8" name="Shape 5"/>
          <p:cNvSpPr/>
          <p:nvPr/>
        </p:nvSpPr>
        <p:spPr>
          <a:xfrm>
            <a:off x="640080" y="969264"/>
            <a:ext cx="1508760" cy="0"/>
          </a:xfrm>
          <a:prstGeom prst="line">
            <a:avLst/>
          </a:prstGeom>
          <a:noFill/>
          <a:ln w="26670">
            <a:solidFill>
              <a:srgbClr val="28D9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6"/>
          <p:cNvSpPr/>
          <p:nvPr/>
        </p:nvSpPr>
        <p:spPr>
          <a:xfrm>
            <a:off x="2322576" y="896112"/>
            <a:ext cx="5394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pl-PL" sz="950">
                <a:solidFill>
                  <a:srgbClr val="B9D4E5"/>
                </a:solidFill>
              </a:rPr>
              <a:t>podział na interfejs użytkownika, API i bazę danych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658368" y="6327648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3A9BE"/>
                </a:solidFill>
              </a:rPr>
              <a:t>FlowCraft — praca dyplomowa magisterska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11201400" y="632764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83A9B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750" dirty="0"/>
          </a:p>
        </p:txBody>
      </p:sp>
      <p:sp>
        <p:nvSpPr>
          <p:cNvPr id="12" name="Shape 9"/>
          <p:cNvSpPr/>
          <p:nvPr/>
        </p:nvSpPr>
        <p:spPr>
          <a:xfrm>
            <a:off x="868680" y="1463040"/>
            <a:ext cx="2697480" cy="2057400"/>
          </a:xfrm>
          <a:prstGeom prst="roundRect">
            <a:avLst>
              <a:gd name="adj" fmla="val 6222"/>
            </a:avLst>
          </a:prstGeom>
          <a:solidFill>
            <a:srgbClr val="0D2A47">
              <a:alpha val="97000"/>
            </a:srgbClr>
          </a:solidFill>
          <a:ln w="12700">
            <a:solidFill>
              <a:srgbClr val="286B8A">
                <a:alpha val="82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Shape 10"/>
          <p:cNvSpPr/>
          <p:nvPr/>
        </p:nvSpPr>
        <p:spPr>
          <a:xfrm>
            <a:off x="1933956" y="1664208"/>
            <a:ext cx="566928" cy="566928"/>
          </a:xfrm>
          <a:prstGeom prst="ellipse">
            <a:avLst/>
          </a:prstGeom>
          <a:solidFill>
            <a:srgbClr val="11395F">
              <a:alpha val="94000"/>
            </a:srgbClr>
          </a:solidFill>
          <a:ln w="15240">
            <a:solidFill>
              <a:srgbClr val="28D9FF">
                <a:alpha val="95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075688" y="1805940"/>
            <a:ext cx="283464" cy="28346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978408" y="2331720"/>
            <a:ext cx="247802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AF8FF"/>
                </a:solidFill>
              </a:rPr>
              <a:t>Frontend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1069848" y="2734056"/>
            <a:ext cx="22951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20">
                <a:solidFill>
                  <a:srgbClr val="B9D4E5"/>
                </a:solidFill>
              </a:rPr>
              <a:t>React + TypeScript</a:t>
            </a:r>
          </a:p>
          <a:p>
            <a:pPr marL="0" indent="0" algn="ctr">
              <a:buNone/>
            </a:pPr>
            <a:r>
              <a:rPr lang="en-US" sz="920">
                <a:solidFill>
                  <a:srgbClr val="B9D4E5"/>
                </a:solidFill>
              </a:rPr>
              <a:t>widoki, formularze i edytor layoutu</a:t>
            </a:r>
            <a:endParaRPr lang="en-US" sz="920" dirty="0"/>
          </a:p>
        </p:txBody>
      </p:sp>
      <p:sp>
        <p:nvSpPr>
          <p:cNvPr id="17" name="Shape 13"/>
          <p:cNvSpPr/>
          <p:nvPr/>
        </p:nvSpPr>
        <p:spPr>
          <a:xfrm>
            <a:off x="3657600" y="2505456"/>
            <a:ext cx="777240" cy="0"/>
          </a:xfrm>
          <a:prstGeom prst="line">
            <a:avLst/>
          </a:prstGeom>
          <a:noFill/>
          <a:ln w="20320">
            <a:solidFill>
              <a:srgbClr val="28D9FF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8" name="Shape 14"/>
          <p:cNvSpPr/>
          <p:nvPr/>
        </p:nvSpPr>
        <p:spPr>
          <a:xfrm>
            <a:off x="4572000" y="1463040"/>
            <a:ext cx="2697480" cy="2057400"/>
          </a:xfrm>
          <a:prstGeom prst="roundRect">
            <a:avLst>
              <a:gd name="adj" fmla="val 6222"/>
            </a:avLst>
          </a:prstGeom>
          <a:solidFill>
            <a:srgbClr val="0D2A47">
              <a:alpha val="97000"/>
            </a:srgbClr>
          </a:solidFill>
          <a:ln w="12700">
            <a:solidFill>
              <a:srgbClr val="286B8A">
                <a:alpha val="82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Shape 15"/>
          <p:cNvSpPr/>
          <p:nvPr/>
        </p:nvSpPr>
        <p:spPr>
          <a:xfrm>
            <a:off x="5637276" y="1664208"/>
            <a:ext cx="566928" cy="566928"/>
          </a:xfrm>
          <a:prstGeom prst="ellipse">
            <a:avLst/>
          </a:prstGeom>
          <a:solidFill>
            <a:srgbClr val="11395F">
              <a:alpha val="94000"/>
            </a:srgbClr>
          </a:solidFill>
          <a:ln w="15240">
            <a:solidFill>
              <a:srgbClr val="28D9FF">
                <a:alpha val="95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779008" y="1805940"/>
            <a:ext cx="283464" cy="283464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4681728" y="2331720"/>
            <a:ext cx="247802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AF8FF"/>
                </a:solidFill>
              </a:rPr>
              <a:t>Backend API</a:t>
            </a:r>
            <a:endParaRPr lang="en-US" sz="1500" dirty="0"/>
          </a:p>
        </p:txBody>
      </p:sp>
      <p:sp>
        <p:nvSpPr>
          <p:cNvPr id="22" name="Text 17"/>
          <p:cNvSpPr/>
          <p:nvPr/>
        </p:nvSpPr>
        <p:spPr>
          <a:xfrm>
            <a:off x="4773168" y="2734056"/>
            <a:ext cx="22951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pl-PL" sz="920">
                <a:solidFill>
                  <a:srgbClr val="B9D4E5"/>
                </a:solidFill>
              </a:rPr>
              <a:t>ASP.NET Core</a:t>
            </a:r>
          </a:p>
          <a:p>
            <a:pPr marL="0" indent="0" algn="ctr">
              <a:buNone/>
            </a:pPr>
            <a:r>
              <a:rPr lang="pl-PL" sz="920">
                <a:solidFill>
                  <a:srgbClr val="B9D4E5"/>
                </a:solidFill>
              </a:rPr>
              <a:t>logika biznesowa, autoryzacja i REST API</a:t>
            </a:r>
            <a:endParaRPr lang="en-US" sz="920" dirty="0"/>
          </a:p>
        </p:txBody>
      </p:sp>
      <p:sp>
        <p:nvSpPr>
          <p:cNvPr id="23" name="Shape 18"/>
          <p:cNvSpPr/>
          <p:nvPr/>
        </p:nvSpPr>
        <p:spPr>
          <a:xfrm>
            <a:off x="7360920" y="2505456"/>
            <a:ext cx="777240" cy="0"/>
          </a:xfrm>
          <a:prstGeom prst="line">
            <a:avLst/>
          </a:prstGeom>
          <a:noFill/>
          <a:ln w="20320">
            <a:solidFill>
              <a:srgbClr val="28D9FF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24" name="Shape 19"/>
          <p:cNvSpPr/>
          <p:nvPr/>
        </p:nvSpPr>
        <p:spPr>
          <a:xfrm>
            <a:off x="8275320" y="1463040"/>
            <a:ext cx="2697480" cy="2057400"/>
          </a:xfrm>
          <a:prstGeom prst="roundRect">
            <a:avLst>
              <a:gd name="adj" fmla="val 6222"/>
            </a:avLst>
          </a:prstGeom>
          <a:solidFill>
            <a:srgbClr val="0D2A47">
              <a:alpha val="97000"/>
            </a:srgbClr>
          </a:solidFill>
          <a:ln w="12700">
            <a:solidFill>
              <a:srgbClr val="286B8A">
                <a:alpha val="82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Shape 20"/>
          <p:cNvSpPr/>
          <p:nvPr/>
        </p:nvSpPr>
        <p:spPr>
          <a:xfrm>
            <a:off x="9340596" y="1664208"/>
            <a:ext cx="566928" cy="566928"/>
          </a:xfrm>
          <a:prstGeom prst="ellipse">
            <a:avLst/>
          </a:prstGeom>
          <a:solidFill>
            <a:srgbClr val="11395F">
              <a:alpha val="94000"/>
            </a:srgbClr>
          </a:solidFill>
          <a:ln w="15240">
            <a:solidFill>
              <a:srgbClr val="28D9FF">
                <a:alpha val="95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482328" y="1805940"/>
            <a:ext cx="283464" cy="283464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8385048" y="2331720"/>
            <a:ext cx="247802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AF8FF"/>
                </a:solidFill>
              </a:rPr>
              <a:t>Baza danych</a:t>
            </a:r>
            <a:endParaRPr lang="en-US" sz="1500" dirty="0"/>
          </a:p>
        </p:txBody>
      </p:sp>
      <p:sp>
        <p:nvSpPr>
          <p:cNvPr id="28" name="Text 22"/>
          <p:cNvSpPr/>
          <p:nvPr/>
        </p:nvSpPr>
        <p:spPr>
          <a:xfrm>
            <a:off x="8476488" y="2734056"/>
            <a:ext cx="22951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pl-PL" sz="920">
                <a:solidFill>
                  <a:srgbClr val="B9D4E5"/>
                </a:solidFill>
              </a:rPr>
              <a:t>PostgreSQL</a:t>
            </a:r>
          </a:p>
          <a:p>
            <a:pPr marL="0" indent="0" algn="ctr">
              <a:buNone/>
            </a:pPr>
            <a:r>
              <a:rPr lang="pl-PL" sz="920">
                <a:solidFill>
                  <a:srgbClr val="B9D4E5"/>
                </a:solidFill>
              </a:rPr>
              <a:t>użytkownicy, hale, maszyny i magazyn</a:t>
            </a:r>
            <a:endParaRPr lang="en-US" sz="920" dirty="0"/>
          </a:p>
        </p:txBody>
      </p:sp>
      <p:sp>
        <p:nvSpPr>
          <p:cNvPr id="29" name="Shape 23"/>
          <p:cNvSpPr/>
          <p:nvPr/>
        </p:nvSpPr>
        <p:spPr>
          <a:xfrm>
            <a:off x="1188720" y="4480560"/>
            <a:ext cx="4709160" cy="749808"/>
          </a:xfrm>
          <a:prstGeom prst="roundRect">
            <a:avLst>
              <a:gd name="adj" fmla="val 15854"/>
            </a:avLst>
          </a:prstGeom>
          <a:solidFill>
            <a:srgbClr val="07243E">
              <a:alpha val="97000"/>
            </a:srgbClr>
          </a:solidFill>
          <a:ln w="13970">
            <a:solidFill>
              <a:srgbClr val="28D9FF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0" name="Shape 24"/>
          <p:cNvSpPr/>
          <p:nvPr/>
        </p:nvSpPr>
        <p:spPr>
          <a:xfrm>
            <a:off x="1362456" y="4636008"/>
            <a:ext cx="402336" cy="402336"/>
          </a:xfrm>
          <a:prstGeom prst="ellipse">
            <a:avLst/>
          </a:prstGeom>
          <a:solidFill>
            <a:srgbClr val="0C3153">
              <a:alpha val="94000"/>
            </a:srgbClr>
          </a:solidFill>
          <a:ln w="15240">
            <a:solidFill>
              <a:srgbClr val="28D9FF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463040" y="4736592"/>
            <a:ext cx="201168" cy="201168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1901952" y="4626864"/>
            <a:ext cx="384962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EAF8FF"/>
                </a:solidFill>
              </a:rPr>
              <a:t>Logowanie, role i token JWT ograniczają dostęp do funkcji.</a:t>
            </a:r>
            <a:endParaRPr lang="en-US" sz="1200" dirty="0"/>
          </a:p>
        </p:txBody>
      </p:sp>
      <p:sp>
        <p:nvSpPr>
          <p:cNvPr id="33" name="Shape 26"/>
          <p:cNvSpPr/>
          <p:nvPr/>
        </p:nvSpPr>
        <p:spPr>
          <a:xfrm>
            <a:off x="6263640" y="4480560"/>
            <a:ext cx="4709160" cy="749808"/>
          </a:xfrm>
          <a:prstGeom prst="roundRect">
            <a:avLst>
              <a:gd name="adj" fmla="val 15854"/>
            </a:avLst>
          </a:prstGeom>
          <a:solidFill>
            <a:srgbClr val="07243E">
              <a:alpha val="97000"/>
            </a:srgbClr>
          </a:solidFill>
          <a:ln w="13970">
            <a:solidFill>
              <a:srgbClr val="28D9FF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4" name="Shape 27"/>
          <p:cNvSpPr/>
          <p:nvPr/>
        </p:nvSpPr>
        <p:spPr>
          <a:xfrm>
            <a:off x="6437376" y="4636008"/>
            <a:ext cx="402336" cy="402336"/>
          </a:xfrm>
          <a:prstGeom prst="ellipse">
            <a:avLst/>
          </a:prstGeom>
          <a:solidFill>
            <a:srgbClr val="0C3153">
              <a:alpha val="94000"/>
            </a:srgbClr>
          </a:solidFill>
          <a:ln w="15240">
            <a:solidFill>
              <a:srgbClr val="28D9FF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35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537960" y="4736592"/>
            <a:ext cx="201168" cy="201168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6976872" y="4626864"/>
            <a:ext cx="384962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pl-PL" sz="1200" b="1">
                <a:solidFill>
                  <a:srgbClr val="EAF8FF"/>
                </a:solidFill>
              </a:rPr>
              <a:t>Dane są rozdzielane między organizacjami.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61A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wide_clean_futuristic_industrial_tech_background.png"/>
          <p:cNvPicPr>
            <a:picLocks noChangeAspect="1"/>
          </p:cNvPicPr>
          <p:nvPr/>
        </p:nvPicPr>
        <p:blipFill>
          <a:blip r:embed="rId3"/>
          <a:srcRect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111F">
              <a:alpha val="90000"/>
            </a:srgbClr>
          </a:solidFill>
          <a:ln w="12700">
            <a:solidFill>
              <a:srgbClr val="03111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B31">
              <a:alpha val="75000"/>
            </a:srgbClr>
          </a:solidFill>
          <a:ln w="12700">
            <a:solidFill>
              <a:srgbClr val="071B3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Shape 2"/>
          <p:cNvSpPr/>
          <p:nvPr/>
        </p:nvSpPr>
        <p:spPr>
          <a:xfrm>
            <a:off x="512064" y="6528816"/>
            <a:ext cx="2011680" cy="0"/>
          </a:xfrm>
          <a:prstGeom prst="line">
            <a:avLst/>
          </a:prstGeom>
          <a:noFill/>
          <a:ln w="15240">
            <a:solidFill>
              <a:srgbClr val="28D9FF">
                <a:alpha val="88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Shape 3"/>
          <p:cNvSpPr/>
          <p:nvPr/>
        </p:nvSpPr>
        <p:spPr>
          <a:xfrm>
            <a:off x="9692640" y="347472"/>
            <a:ext cx="1920240" cy="0"/>
          </a:xfrm>
          <a:prstGeom prst="line">
            <a:avLst/>
          </a:prstGeom>
          <a:noFill/>
          <a:ln w="15240">
            <a:solidFill>
              <a:srgbClr val="28D9FF">
                <a:alpha val="74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4"/>
          <p:cNvSpPr/>
          <p:nvPr/>
        </p:nvSpPr>
        <p:spPr>
          <a:xfrm>
            <a:off x="640080" y="329184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EAF8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Podsumowanie i kierunki rozwoju</a:t>
            </a:r>
            <a:endParaRPr lang="en-US" sz="2500" dirty="0"/>
          </a:p>
        </p:txBody>
      </p:sp>
      <p:sp>
        <p:nvSpPr>
          <p:cNvPr id="8" name="Shape 5"/>
          <p:cNvSpPr/>
          <p:nvPr/>
        </p:nvSpPr>
        <p:spPr>
          <a:xfrm>
            <a:off x="640080" y="969264"/>
            <a:ext cx="1508760" cy="0"/>
          </a:xfrm>
          <a:prstGeom prst="line">
            <a:avLst/>
          </a:prstGeom>
          <a:noFill/>
          <a:ln w="26670">
            <a:solidFill>
              <a:srgbClr val="28D9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6"/>
          <p:cNvSpPr/>
          <p:nvPr/>
        </p:nvSpPr>
        <p:spPr>
          <a:xfrm>
            <a:off x="2322576" y="896112"/>
            <a:ext cx="5394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>
                <a:solidFill>
                  <a:srgbClr val="B9D4E5"/>
                </a:solidFill>
              </a:rPr>
              <a:t>najważniejsze rezultaty projektu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658368" y="6327648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3A9BE"/>
                </a:solidFill>
              </a:rPr>
              <a:t>FlowCraft — praca dyplomowa magisterska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11201400" y="632764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83A9B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750" dirty="0"/>
          </a:p>
        </p:txBody>
      </p:sp>
      <p:sp>
        <p:nvSpPr>
          <p:cNvPr id="12" name="Shape 9"/>
          <p:cNvSpPr/>
          <p:nvPr/>
        </p:nvSpPr>
        <p:spPr>
          <a:xfrm>
            <a:off x="1005840" y="1417320"/>
            <a:ext cx="9875520" cy="749808"/>
          </a:xfrm>
          <a:prstGeom prst="roundRect">
            <a:avLst>
              <a:gd name="adj" fmla="val 13415"/>
            </a:avLst>
          </a:prstGeom>
          <a:solidFill>
            <a:srgbClr val="102B48">
              <a:alpha val="96000"/>
            </a:srgbClr>
          </a:solidFill>
          <a:ln w="10160">
            <a:solidFill>
              <a:srgbClr val="2D7FA3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Shape 10"/>
          <p:cNvSpPr/>
          <p:nvPr/>
        </p:nvSpPr>
        <p:spPr>
          <a:xfrm>
            <a:off x="1179576" y="1600200"/>
            <a:ext cx="384048" cy="384048"/>
          </a:xfrm>
          <a:prstGeom prst="ellipse">
            <a:avLst/>
          </a:prstGeom>
          <a:solidFill>
            <a:srgbClr val="0B2846">
              <a:alpha val="94000"/>
            </a:srgbClr>
          </a:solidFill>
          <a:ln w="15240">
            <a:solidFill>
              <a:srgbClr val="28D9FF">
                <a:alpha val="84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75588" y="1696212"/>
            <a:ext cx="192024" cy="19202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719072" y="1563624"/>
            <a:ext cx="900684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pl-PL" sz="1220" b="1">
                <a:solidFill>
                  <a:srgbClr val="EAF8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Wspólny widok hali, maszyn i działań operacyjnych</a:t>
            </a:r>
            <a:endParaRPr lang="en-US" sz="1220" dirty="0"/>
          </a:p>
        </p:txBody>
      </p:sp>
      <p:sp>
        <p:nvSpPr>
          <p:cNvPr id="16" name="Shape 12"/>
          <p:cNvSpPr/>
          <p:nvPr/>
        </p:nvSpPr>
        <p:spPr>
          <a:xfrm>
            <a:off x="1005840" y="2450592"/>
            <a:ext cx="9875520" cy="749808"/>
          </a:xfrm>
          <a:prstGeom prst="roundRect">
            <a:avLst>
              <a:gd name="adj" fmla="val 13415"/>
            </a:avLst>
          </a:prstGeom>
          <a:solidFill>
            <a:srgbClr val="102B48">
              <a:alpha val="96000"/>
            </a:srgbClr>
          </a:solidFill>
          <a:ln w="10160">
            <a:solidFill>
              <a:srgbClr val="2D7FA3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Shape 13"/>
          <p:cNvSpPr/>
          <p:nvPr/>
        </p:nvSpPr>
        <p:spPr>
          <a:xfrm>
            <a:off x="1179576" y="2633472"/>
            <a:ext cx="384048" cy="384048"/>
          </a:xfrm>
          <a:prstGeom prst="ellipse">
            <a:avLst/>
          </a:prstGeom>
          <a:solidFill>
            <a:srgbClr val="0B2846">
              <a:alpha val="94000"/>
            </a:srgbClr>
          </a:solidFill>
          <a:ln w="15240">
            <a:solidFill>
              <a:srgbClr val="28D9FF">
                <a:alpha val="84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75588" y="2729484"/>
            <a:ext cx="192024" cy="19202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719072" y="2596896"/>
            <a:ext cx="900684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pl-PL" sz="1220" b="1">
                <a:solidFill>
                  <a:srgbClr val="EAF8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Powiązanie awarii, przeglądów, pracowników i magazynu</a:t>
            </a:r>
            <a:endParaRPr lang="en-US" sz="1220" dirty="0"/>
          </a:p>
        </p:txBody>
      </p:sp>
      <p:sp>
        <p:nvSpPr>
          <p:cNvPr id="20" name="Shape 15"/>
          <p:cNvSpPr/>
          <p:nvPr/>
        </p:nvSpPr>
        <p:spPr>
          <a:xfrm>
            <a:off x="1005840" y="3483864"/>
            <a:ext cx="9875520" cy="749808"/>
          </a:xfrm>
          <a:prstGeom prst="roundRect">
            <a:avLst>
              <a:gd name="adj" fmla="val 13415"/>
            </a:avLst>
          </a:prstGeom>
          <a:solidFill>
            <a:srgbClr val="102B48">
              <a:alpha val="96000"/>
            </a:srgbClr>
          </a:solidFill>
          <a:ln w="10160">
            <a:solidFill>
              <a:srgbClr val="2D7FA3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Shape 16"/>
          <p:cNvSpPr/>
          <p:nvPr/>
        </p:nvSpPr>
        <p:spPr>
          <a:xfrm>
            <a:off x="1179576" y="3666744"/>
            <a:ext cx="384048" cy="384048"/>
          </a:xfrm>
          <a:prstGeom prst="ellipse">
            <a:avLst/>
          </a:prstGeom>
          <a:solidFill>
            <a:srgbClr val="0B2846">
              <a:alpha val="94000"/>
            </a:srgbClr>
          </a:solidFill>
          <a:ln w="15240">
            <a:solidFill>
              <a:srgbClr val="28D9FF">
                <a:alpha val="84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75588" y="3762756"/>
            <a:ext cx="192024" cy="192024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719072" y="3630168"/>
            <a:ext cx="900684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pl-PL" sz="1220" b="1">
                <a:solidFill>
                  <a:srgbClr val="EAF8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Lepsza kontrola nad informacjami potrzebnymi w codziennej pracy</a:t>
            </a:r>
            <a:endParaRPr lang="en-US" sz="1220" dirty="0"/>
          </a:p>
        </p:txBody>
      </p:sp>
      <p:sp>
        <p:nvSpPr>
          <p:cNvPr id="24" name="Shape 18"/>
          <p:cNvSpPr/>
          <p:nvPr/>
        </p:nvSpPr>
        <p:spPr>
          <a:xfrm>
            <a:off x="1005840" y="4517136"/>
            <a:ext cx="9875520" cy="749808"/>
          </a:xfrm>
          <a:prstGeom prst="roundRect">
            <a:avLst>
              <a:gd name="adj" fmla="val 13415"/>
            </a:avLst>
          </a:prstGeom>
          <a:solidFill>
            <a:srgbClr val="102B48">
              <a:alpha val="96000"/>
            </a:srgbClr>
          </a:solidFill>
          <a:ln w="10160">
            <a:solidFill>
              <a:srgbClr val="2D7FA3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Shape 19"/>
          <p:cNvSpPr/>
          <p:nvPr/>
        </p:nvSpPr>
        <p:spPr>
          <a:xfrm>
            <a:off x="1179576" y="4700016"/>
            <a:ext cx="384048" cy="384048"/>
          </a:xfrm>
          <a:prstGeom prst="ellipse">
            <a:avLst/>
          </a:prstGeom>
          <a:solidFill>
            <a:srgbClr val="0B2846">
              <a:alpha val="94000"/>
            </a:srgbClr>
          </a:solidFill>
          <a:ln w="15240">
            <a:solidFill>
              <a:srgbClr val="28D9FF">
                <a:alpha val="84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75588" y="4796028"/>
            <a:ext cx="192024" cy="192024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719072" y="4663440"/>
            <a:ext cx="900684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pl-PL" sz="1220" b="1">
                <a:solidFill>
                  <a:srgbClr val="EAF8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Możliwy rozwój: integracje, dane z maszyn i analiza przepływu</a:t>
            </a:r>
            <a:endParaRPr lang="en-US" sz="1220" dirty="0"/>
          </a:p>
        </p:txBody>
      </p:sp>
      <p:sp>
        <p:nvSpPr>
          <p:cNvPr id="28" name="Text 21"/>
          <p:cNvSpPr/>
          <p:nvPr/>
        </p:nvSpPr>
        <p:spPr>
          <a:xfrm>
            <a:off x="1097280" y="562356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EEBFF"/>
                </a:solidFill>
              </a:rPr>
              <a:t>Wniosek:</a:t>
            </a:r>
            <a:endParaRPr lang="en-US" sz="1200" dirty="0"/>
          </a:p>
        </p:txBody>
      </p:sp>
      <p:sp>
        <p:nvSpPr>
          <p:cNvPr id="29" name="Text 22"/>
          <p:cNvSpPr/>
          <p:nvPr/>
        </p:nvSpPr>
        <p:spPr>
          <a:xfrm>
            <a:off x="2148840" y="5605272"/>
            <a:ext cx="7223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pl-PL" sz="1300">
                <a:solidFill>
                  <a:srgbClr val="EAF8FF"/>
                </a:solidFill>
              </a:rPr>
              <a:t>FlowCraft porządkuje dane operacyjne i wspiera szybsze podejmowanie decyzji.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707</Words>
  <Application>Microsoft Office PowerPoint</Application>
  <PresentationFormat>Widescreen</PresentationFormat>
  <Paragraphs>165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FlowCraft — system webowy do zarządzania halą</dc:title>
  <dc:subject>FlowCraft — prezentacja pracy dyplomowej</dc:subject>
  <dc:creator>OpenAI</dc:creator>
  <cp:lastModifiedBy>Maciej Szwast</cp:lastModifiedBy>
  <cp:revision>4</cp:revision>
  <dcterms:created xsi:type="dcterms:W3CDTF">2026-05-25T14:54:40Z</dcterms:created>
  <dcterms:modified xsi:type="dcterms:W3CDTF">2026-05-25T15:16:34Z</dcterms:modified>
</cp:coreProperties>
</file>