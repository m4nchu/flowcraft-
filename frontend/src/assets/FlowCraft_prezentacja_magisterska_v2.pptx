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77" d="100"/>
          <a:sy n="177" d="100"/>
        </p:scale>
        <p:origin x="12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6A255-E297-C454-4010-DBC1F6943D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A2C952-6343-5819-6193-7648BABA03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92EA5-D8C3-FCAF-4EF7-AC45439A8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ADA02-12A5-4FCD-935C-DA8D82E85050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04FB8-BEBB-7023-FD97-06F730B68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D821B-7354-CEF7-003B-16D8383B2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0DF07-682B-48DC-8F56-D3310A476A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4063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8F262-89B6-284B-6FA3-2EF382907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4D186-9C23-2B6A-0441-17442DADC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815EA-CCE2-4E9E-9756-4CD74E68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ADA02-12A5-4FCD-935C-DA8D82E85050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7CD3C-FB2D-EA0A-246B-A0DF3A66B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971BE-32F9-C230-CD02-23DF5AF2D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0DF07-682B-48DC-8F56-D3310A476A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3342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22F9D-1EAD-3896-1DBC-392532059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B8D32-1FA8-C71A-4A24-8A9C5B7B0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690C0-FA91-882B-6B97-E0E00EA5F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ADA02-12A5-4FCD-935C-DA8D82E85050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B6C73-7D46-E329-32B5-CF6510C1C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9433E-71FD-B9A4-D3F9-719152415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0DF07-682B-48DC-8F56-D3310A476A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5836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1FD41-788E-8A54-187A-ABA86CC02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A211B-0AF0-A0B7-2898-C50E3CE54D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586D4E-06AE-3131-5F8B-B13AEEBB29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498AB0-8A26-3EAB-7028-E4D49C6E3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ADA02-12A5-4FCD-935C-DA8D82E85050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A96A35-FD76-D434-0C09-0546222EA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BB6D7A-BED2-20BE-E839-C2F1F5824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0DF07-682B-48DC-8F56-D3310A476A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3399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A04A7-D179-34FE-9DFC-47788FC41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2FD06-D8AC-245C-145D-A37F8C02D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151CA4-0492-5590-C82A-B81B4C402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CD70-B01F-FF25-175A-E2EC8352C0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5F4C7C-864C-D286-5A2B-22210FFFE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E1F659-BE73-2E59-3DC9-AFA9B2079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ADA02-12A5-4FCD-935C-DA8D82E85050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CB6594-89CF-72CC-B37B-55EF5D846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AC4345-1024-9CA8-9979-E18EE9F7E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0DF07-682B-48DC-8F56-D3310A476A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9631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9EFDC-9D91-F824-D309-5F764CE16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1B33CE-55DC-1B97-AADB-D41ED102E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ADA02-12A5-4FCD-935C-DA8D82E85050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33AE4D-AC54-6FFE-335E-76414413A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AC69FA-08C6-99BA-FDF8-A330824B0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0DF07-682B-48DC-8F56-D3310A476A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6071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B07C91-4F8A-919C-4AF5-9CB198FDB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ADA02-12A5-4FCD-935C-DA8D82E85050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91D42-1F7B-F2BD-1249-3ACB2A58F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D41BD-951D-8FD5-5BB8-6E57AE83B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0DF07-682B-48DC-8F56-D3310A476A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4143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536AA-6EE3-C382-8B84-5FF57DCAE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FE2B3-4213-8020-A9C3-555CD0BC0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2B8F7E-812E-7126-069F-957F4D47EF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F388F3-F483-6045-5E63-FF0DD620A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ADA02-12A5-4FCD-935C-DA8D82E85050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E2B15-5923-DD7D-6073-0A1E8A99E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A9A20D-B257-893E-5CCF-28963ABB5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0DF07-682B-48DC-8F56-D3310A476A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0112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26442-4174-F42E-B75A-3931D5B39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E6CACA-8E12-32A8-CCB7-8EC7740408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C5401E-C977-4CFC-80B9-3A521E7530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CC5FE9-9760-1105-4AB3-64EEA8832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ADA02-12A5-4FCD-935C-DA8D82E85050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C728EF-DBB1-2943-A6C2-78D5C0954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EDA79-7C78-0B7A-5969-7D15ABB67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0DF07-682B-48DC-8F56-D3310A476A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1968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A5D75-4564-8CBD-DEEC-FDBB592E5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4C717-4229-911B-D13A-9254ADAB6E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C4BDF-1D09-B162-1727-2B31642F0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ADA02-12A5-4FCD-935C-DA8D82E85050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4D32E-CC0F-978B-20A4-DEBD8910C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3CE42-513E-92E3-93C5-9A3369E51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0DF07-682B-48DC-8F56-D3310A476A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7170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DD9EDB-340A-361C-E4D3-8FF5F5EB99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6F4860-5BA8-59B5-B88D-8C40CB7835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66960-C73F-B86F-F60B-72B201BE1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ADA02-12A5-4FCD-935C-DA8D82E85050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F048E-10C7-2A89-FD12-B754F8B84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B6F5A-7000-8F7D-4111-2DAE7A855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0DF07-682B-48DC-8F56-D3310A476A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6599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1D7C13-5CAE-9851-1474-488B290B1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4121D-4203-B9C4-D4F7-CD073B532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BE227-D2A8-7BDF-309C-814342F969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ADA02-12A5-4FCD-935C-DA8D82E85050}" type="datetimeFigureOut">
              <a:rPr lang="en-GB" smtClean="0"/>
              <a:t>06/05/2026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67E39-5D82-F5BA-30F7-26B4D2A09E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5847D-06BE-110A-2CFD-DC23EC7676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A0DF07-682B-48DC-8F56-D3310A476A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8499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EC257E-D155-1CDE-C269-919D96EDCAE1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E6220C-301A-1176-E827-1B05C1236619}"/>
              </a:ext>
            </a:extLst>
          </p:cNvPr>
          <p:cNvSpPr/>
          <p:nvPr/>
        </p:nvSpPr>
        <p:spPr>
          <a:xfrm>
            <a:off x="0" y="0"/>
            <a:ext cx="9144000" cy="3556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2D47B8-4A10-944B-69C0-7DB84D3982D9}"/>
              </a:ext>
            </a:extLst>
          </p:cNvPr>
          <p:cNvSpPr/>
          <p:nvPr/>
        </p:nvSpPr>
        <p:spPr>
          <a:xfrm>
            <a:off x="0" y="355600"/>
            <a:ext cx="889000" cy="53594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24A985-6661-D37E-9A27-518147375A47}"/>
              </a:ext>
            </a:extLst>
          </p:cNvPr>
          <p:cNvSpPr txBox="1"/>
          <p:nvPr/>
        </p:nvSpPr>
        <p:spPr>
          <a:xfrm>
            <a:off x="1168400" y="5842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 b="1">
                <a:solidFill>
                  <a:srgbClr val="0D9488"/>
                </a:solidFill>
                <a:latin typeface="Aptos Display" panose="020B0004020202020204" pitchFamily="34" charset="0"/>
              </a:rPr>
              <a:t>FlowCraft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D2E5DA-93DD-4DDA-F3C0-78C71FCACFA8}"/>
              </a:ext>
            </a:extLst>
          </p:cNvPr>
          <p:cNvSpPr/>
          <p:nvPr/>
        </p:nvSpPr>
        <p:spPr>
          <a:xfrm>
            <a:off x="1168400" y="1320800"/>
            <a:ext cx="3048000" cy="508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D084E0-7F83-125A-7DF5-DB3307398F27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702491-710E-A6E5-1FB4-D2E55BA956D4}"/>
              </a:ext>
            </a:extLst>
          </p:cNvPr>
          <p:cNvSpPr txBox="1"/>
          <p:nvPr/>
        </p:nvSpPr>
        <p:spPr>
          <a:xfrm>
            <a:off x="1168400" y="1905000"/>
            <a:ext cx="1422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l-PL" sz="2400">
                <a:solidFill>
                  <a:srgbClr val="1E293B"/>
                </a:solidFill>
                <a:latin typeface="Aptos" panose="020B0004020202020204" pitchFamily="34" charset="0"/>
              </a:rPr>
              <a:t>System webowy wspomagający zarządzanie zasobami, przestrzenią hali i procesami operacyjnymi</a:t>
            </a:r>
            <a:endParaRPr lang="en-GB" sz="240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2F4CE9-4F74-D0E3-A4DF-9F824F0596FB}"/>
              </a:ext>
            </a:extLst>
          </p:cNvPr>
          <p:cNvSpPr/>
          <p:nvPr/>
        </p:nvSpPr>
        <p:spPr>
          <a:xfrm>
            <a:off x="1168400" y="4127500"/>
            <a:ext cx="3556000" cy="43180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0E3644-4BFD-69EC-9DF1-E4045A97BC53}"/>
              </a:ext>
            </a:extLst>
          </p:cNvPr>
          <p:cNvSpPr txBox="1"/>
          <p:nvPr/>
        </p:nvSpPr>
        <p:spPr>
          <a:xfrm>
            <a:off x="1397000" y="4203700"/>
            <a:ext cx="3175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00" b="1">
                <a:solidFill>
                  <a:srgbClr val="334155"/>
                </a:solidFill>
                <a:latin typeface="Aptos" panose="020B0004020202020204" pitchFamily="34" charset="0"/>
              </a:rPr>
              <a:t>Prezentacja pracy magisterskiej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AE5F4C-66FC-7C6F-1A4F-96E203748A35}"/>
              </a:ext>
            </a:extLst>
          </p:cNvPr>
          <p:cNvSpPr txBox="1"/>
          <p:nvPr/>
        </p:nvSpPr>
        <p:spPr>
          <a:xfrm>
            <a:off x="1168400" y="5334000"/>
            <a:ext cx="1143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l-PL" sz="1800">
                <a:solidFill>
                  <a:srgbClr val="475569"/>
                </a:solidFill>
                <a:latin typeface="Aptos" panose="020B0004020202020204" pitchFamily="34" charset="0"/>
              </a:rPr>
              <a:t>Projekt i implementacja systemu wspieraj?cego zarz?dzanie operacyjne w ?rodowisku produkcyjnym</a:t>
            </a:r>
            <a:endParaRPr lang="en-GB" sz="180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0A7310-BE80-9620-7089-071428083188}"/>
              </a:ext>
            </a:extLst>
          </p:cNvPr>
          <p:cNvSpPr/>
          <p:nvPr/>
        </p:nvSpPr>
        <p:spPr>
          <a:xfrm>
            <a:off x="1168400" y="5105400"/>
            <a:ext cx="13817600" cy="1905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D68D3D-8A29-451A-0E24-6E0A46C7FE05}"/>
              </a:ext>
            </a:extLst>
          </p:cNvPr>
          <p:cNvSpPr txBox="1"/>
          <p:nvPr/>
        </p:nvSpPr>
        <p:spPr>
          <a:xfrm>
            <a:off x="1168400" y="5232400"/>
            <a:ext cx="482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>
                <a:solidFill>
                  <a:srgbClr val="64748B"/>
                </a:solidFill>
                <a:latin typeface="Aptos" panose="020B0004020202020204" pitchFamily="34" charset="0"/>
              </a:rPr>
              <a:t>FlowCraft | prezentacja syntetyczna</a:t>
            </a:r>
          </a:p>
        </p:txBody>
      </p:sp>
    </p:spTree>
    <p:extLst>
      <p:ext uri="{BB962C8B-B14F-4D97-AF65-F5344CB8AC3E}">
        <p14:creationId xmlns:p14="http://schemas.microsoft.com/office/powerpoint/2010/main" val="1131171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03829-FF19-C879-BD1C-0750F2EC98A3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755729-E85B-0998-383D-82280555CBE8}"/>
              </a:ext>
            </a:extLst>
          </p:cNvPr>
          <p:cNvSpPr/>
          <p:nvPr/>
        </p:nvSpPr>
        <p:spPr>
          <a:xfrm>
            <a:off x="0" y="0"/>
            <a:ext cx="9144000" cy="3556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DAF20C-54DE-05EC-1E54-F1D08EF3EC4D}"/>
              </a:ext>
            </a:extLst>
          </p:cNvPr>
          <p:cNvSpPr/>
          <p:nvPr/>
        </p:nvSpPr>
        <p:spPr>
          <a:xfrm>
            <a:off x="0" y="355600"/>
            <a:ext cx="889000" cy="53594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37B941-1477-D96A-8762-2C4C75BBBC35}"/>
              </a:ext>
            </a:extLst>
          </p:cNvPr>
          <p:cNvSpPr txBox="1"/>
          <p:nvPr/>
        </p:nvSpPr>
        <p:spPr>
          <a:xfrm>
            <a:off x="1168400" y="5842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 b="1">
                <a:solidFill>
                  <a:srgbClr val="0F172A"/>
                </a:solidFill>
                <a:latin typeface="Aptos Display" panose="020B0004020202020204" pitchFamily="34" charset="0"/>
              </a:rPr>
              <a:t>Problem i cel pracy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FF0978-2B24-F49D-C4E2-E0F095F5D1E4}"/>
              </a:ext>
            </a:extLst>
          </p:cNvPr>
          <p:cNvSpPr/>
          <p:nvPr/>
        </p:nvSpPr>
        <p:spPr>
          <a:xfrm>
            <a:off x="1168400" y="1320800"/>
            <a:ext cx="3048000" cy="508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02D8E1-63A1-3201-F814-3FF5582DF7F8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9FE053-A494-C858-498B-F3FFCE050A91}"/>
              </a:ext>
            </a:extLst>
          </p:cNvPr>
          <p:cNvSpPr txBox="1"/>
          <p:nvPr/>
        </p:nvSpPr>
        <p:spPr>
          <a:xfrm>
            <a:off x="1320800" y="1803400"/>
            <a:ext cx="14224000" cy="95667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W wielu zakładach dane o hali, maszynach, awariach, pracownikach i magazynie są rozproszone między różne narzędzia.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Taki model utrudnia szybkie podejmowanie decyzji oraz obniża spójność informacji operacyjnych.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Celem projektu było stworzenie jednego środowiska integrującego model przestrzenny hali z danymi eksploatacyjnymi.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System miał wspierać codzienną pracę operacyjną, a nie wyłącznie ewidencję danych historycznych.</a:t>
            </a:r>
            <a:endParaRPr lang="en-GB" sz="210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5EBA2B-6369-4D63-8907-22DB74048800}"/>
              </a:ext>
            </a:extLst>
          </p:cNvPr>
          <p:cNvSpPr/>
          <p:nvPr/>
        </p:nvSpPr>
        <p:spPr>
          <a:xfrm>
            <a:off x="12827000" y="711200"/>
            <a:ext cx="2159000" cy="43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1DBE11-A6AF-66A2-B84A-B645E33126BE}"/>
              </a:ext>
            </a:extLst>
          </p:cNvPr>
          <p:cNvSpPr txBox="1"/>
          <p:nvPr/>
        </p:nvSpPr>
        <p:spPr>
          <a:xfrm>
            <a:off x="13030200" y="800100"/>
            <a:ext cx="177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0F172A"/>
                </a:solidFill>
                <a:latin typeface="Aptos" panose="020B0004020202020204" pitchFamily="34" charset="0"/>
              </a:rPr>
              <a:t>Najwa?niejsze informacje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F67A61-A033-1025-25CC-EDE0F710E02A}"/>
              </a:ext>
            </a:extLst>
          </p:cNvPr>
          <p:cNvSpPr/>
          <p:nvPr/>
        </p:nvSpPr>
        <p:spPr>
          <a:xfrm>
            <a:off x="1168400" y="5105400"/>
            <a:ext cx="13817600" cy="1905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61F8C4-1227-92DF-5EBF-22A4503740AC}"/>
              </a:ext>
            </a:extLst>
          </p:cNvPr>
          <p:cNvSpPr txBox="1"/>
          <p:nvPr/>
        </p:nvSpPr>
        <p:spPr>
          <a:xfrm>
            <a:off x="1168400" y="5232400"/>
            <a:ext cx="482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>
                <a:solidFill>
                  <a:srgbClr val="64748B"/>
                </a:solidFill>
                <a:latin typeface="Aptos" panose="020B0004020202020204" pitchFamily="34" charset="0"/>
              </a:rPr>
              <a:t>FlowCraft | prezentacja syntetyczna</a:t>
            </a:r>
          </a:p>
        </p:txBody>
      </p:sp>
    </p:spTree>
    <p:extLst>
      <p:ext uri="{BB962C8B-B14F-4D97-AF65-F5344CB8AC3E}">
        <p14:creationId xmlns:p14="http://schemas.microsoft.com/office/powerpoint/2010/main" val="2486472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3E2DCC-611A-AC82-06E2-B7F83D4414E3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9A6113-382E-E054-1C44-583EE692FFDA}"/>
              </a:ext>
            </a:extLst>
          </p:cNvPr>
          <p:cNvSpPr/>
          <p:nvPr/>
        </p:nvSpPr>
        <p:spPr>
          <a:xfrm>
            <a:off x="0" y="0"/>
            <a:ext cx="9144000" cy="3556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BB6C32-7069-1479-D09E-4A34B6BEC485}"/>
              </a:ext>
            </a:extLst>
          </p:cNvPr>
          <p:cNvSpPr/>
          <p:nvPr/>
        </p:nvSpPr>
        <p:spPr>
          <a:xfrm>
            <a:off x="0" y="355600"/>
            <a:ext cx="889000" cy="53594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32EE50-FDF5-4EFB-82A4-83F93B8ADA4F}"/>
              </a:ext>
            </a:extLst>
          </p:cNvPr>
          <p:cNvSpPr txBox="1"/>
          <p:nvPr/>
        </p:nvSpPr>
        <p:spPr>
          <a:xfrm>
            <a:off x="1168400" y="5842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 b="1">
                <a:solidFill>
                  <a:srgbClr val="EA580C"/>
                </a:solidFill>
                <a:latin typeface="Aptos Display" panose="020B0004020202020204" pitchFamily="34" charset="0"/>
              </a:rPr>
              <a:t>Zakres funkcjonalny systemu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2E7BFC-C785-B717-ACA9-6A230A9CC9ED}"/>
              </a:ext>
            </a:extLst>
          </p:cNvPr>
          <p:cNvSpPr/>
          <p:nvPr/>
        </p:nvSpPr>
        <p:spPr>
          <a:xfrm>
            <a:off x="1168400" y="1320800"/>
            <a:ext cx="3048000" cy="508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83A99B-1520-66A5-71C4-6015220CF8D9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FD9D58-FBC0-FDC1-41A4-722678CBE137}"/>
              </a:ext>
            </a:extLst>
          </p:cNvPr>
          <p:cNvSpPr txBox="1"/>
          <p:nvPr/>
        </p:nvSpPr>
        <p:spPr>
          <a:xfrm>
            <a:off x="1320800" y="1803400"/>
            <a:ext cx="14224000" cy="117275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Zarządzanie halami, sekcjami oraz edytorem layoutu.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Ewidencja maszyn, kategorii technicznych i parametrów zasobów.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Obsługa awarii, przeglądów prewencyjnych i zleceń pracy.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Rejestr pracowników, uprawnień oraz przypisań do maszyn.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Moduł magazynowy, lean/kaizen, dashboard, raporty i lista działań bieżących.</a:t>
            </a:r>
            <a:endParaRPr lang="en-GB" sz="210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A13901-91E7-7070-54E7-488BBEFB7F90}"/>
              </a:ext>
            </a:extLst>
          </p:cNvPr>
          <p:cNvSpPr/>
          <p:nvPr/>
        </p:nvSpPr>
        <p:spPr>
          <a:xfrm>
            <a:off x="12827000" y="711200"/>
            <a:ext cx="2159000" cy="43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55E938-516B-20DA-FD32-D35106BC4362}"/>
              </a:ext>
            </a:extLst>
          </p:cNvPr>
          <p:cNvSpPr txBox="1"/>
          <p:nvPr/>
        </p:nvSpPr>
        <p:spPr>
          <a:xfrm>
            <a:off x="13030200" y="800100"/>
            <a:ext cx="177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EA580C"/>
                </a:solidFill>
                <a:latin typeface="Aptos" panose="020B0004020202020204" pitchFamily="34" charset="0"/>
              </a:rPr>
              <a:t>Najwa?niejsze informacje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589965-820F-1902-10DF-4C8BD526C68F}"/>
              </a:ext>
            </a:extLst>
          </p:cNvPr>
          <p:cNvSpPr/>
          <p:nvPr/>
        </p:nvSpPr>
        <p:spPr>
          <a:xfrm>
            <a:off x="1168400" y="5105400"/>
            <a:ext cx="13817600" cy="1905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9A571A-A86B-AF55-CB13-751435F7AB08}"/>
              </a:ext>
            </a:extLst>
          </p:cNvPr>
          <p:cNvSpPr txBox="1"/>
          <p:nvPr/>
        </p:nvSpPr>
        <p:spPr>
          <a:xfrm>
            <a:off x="1168400" y="5232400"/>
            <a:ext cx="482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>
                <a:solidFill>
                  <a:srgbClr val="64748B"/>
                </a:solidFill>
                <a:latin typeface="Aptos" panose="020B0004020202020204" pitchFamily="34" charset="0"/>
              </a:rPr>
              <a:t>FlowCraft | prezentacja syntetyczna</a:t>
            </a:r>
          </a:p>
        </p:txBody>
      </p:sp>
    </p:spTree>
    <p:extLst>
      <p:ext uri="{BB962C8B-B14F-4D97-AF65-F5344CB8AC3E}">
        <p14:creationId xmlns:p14="http://schemas.microsoft.com/office/powerpoint/2010/main" val="2321596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8CFC8D-762D-F6F4-AC1A-A0322DA7CE2D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09F2F5-A611-C21E-AF71-C8C656B23523}"/>
              </a:ext>
            </a:extLst>
          </p:cNvPr>
          <p:cNvSpPr/>
          <p:nvPr/>
        </p:nvSpPr>
        <p:spPr>
          <a:xfrm>
            <a:off x="0" y="0"/>
            <a:ext cx="9144000" cy="3556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CFA828-7AA3-999D-07AB-9D627FBC5116}"/>
              </a:ext>
            </a:extLst>
          </p:cNvPr>
          <p:cNvSpPr/>
          <p:nvPr/>
        </p:nvSpPr>
        <p:spPr>
          <a:xfrm>
            <a:off x="0" y="355600"/>
            <a:ext cx="889000" cy="53594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355E82-12D2-F723-D57B-BEF94870F89B}"/>
              </a:ext>
            </a:extLst>
          </p:cNvPr>
          <p:cNvSpPr txBox="1"/>
          <p:nvPr/>
        </p:nvSpPr>
        <p:spPr>
          <a:xfrm>
            <a:off x="1168400" y="5842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 b="1">
                <a:solidFill>
                  <a:srgbClr val="0D9488"/>
                </a:solidFill>
                <a:latin typeface="Aptos Display" panose="020B0004020202020204" pitchFamily="34" charset="0"/>
              </a:rPr>
              <a:t>Architektura rozwiązania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FAB895-3F8F-8358-76F6-F3068030909F}"/>
              </a:ext>
            </a:extLst>
          </p:cNvPr>
          <p:cNvSpPr/>
          <p:nvPr/>
        </p:nvSpPr>
        <p:spPr>
          <a:xfrm>
            <a:off x="1168400" y="1320800"/>
            <a:ext cx="3048000" cy="508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0D6000-DD76-D11B-9638-4735FEF5D06B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58F023-6584-1663-7F58-8EC9874D8689}"/>
              </a:ext>
            </a:extLst>
          </p:cNvPr>
          <p:cNvSpPr txBox="1"/>
          <p:nvPr/>
        </p:nvSpPr>
        <p:spPr>
          <a:xfrm>
            <a:off x="1320800" y="1803400"/>
            <a:ext cx="14224000" cy="117275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en-GB" sz="2100">
                <a:solidFill>
                  <a:srgbClr val="1E293B"/>
                </a:solidFill>
                <a:latin typeface="Aptos" panose="020B0004020202020204" pitchFamily="34" charset="0"/>
              </a:rPr>
              <a:t>Aplikacja została zrealizowana w architekturze klient-serwer.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en-GB" sz="2100">
                <a:solidFill>
                  <a:srgbClr val="1E293B"/>
                </a:solidFill>
                <a:latin typeface="Aptos" panose="020B0004020202020204" pitchFamily="34" charset="0"/>
              </a:rPr>
              <a:t>Frontend: React, TypeScript i Vite w modelu SPA.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en-GB" sz="2100">
                <a:solidFill>
                  <a:srgbClr val="1E293B"/>
                </a:solidFill>
                <a:latin typeface="Aptos" panose="020B0004020202020204" pitchFamily="34" charset="0"/>
              </a:rPr>
              <a:t>Backend: ASP.NET Core Web API z warstwami Domain, Application, Infrastructure i API.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en-GB" sz="2100">
                <a:solidFill>
                  <a:srgbClr val="1E293B"/>
                </a:solidFill>
                <a:latin typeface="Aptos" panose="020B0004020202020204" pitchFamily="34" charset="0"/>
              </a:rPr>
              <a:t>Baza danych: PostgreSQL z wykorzystaniem Entity Framework Core.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en-GB" sz="2100">
                <a:solidFill>
                  <a:srgbClr val="1E293B"/>
                </a:solidFill>
                <a:latin typeface="Aptos" panose="020B0004020202020204" pitchFamily="34" charset="0"/>
              </a:rPr>
              <a:t>Komunikacja między warstwami odbywa się przez REST oraz DTO.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97EBA2-F168-60DD-FF34-19F68F4A396C}"/>
              </a:ext>
            </a:extLst>
          </p:cNvPr>
          <p:cNvSpPr/>
          <p:nvPr/>
        </p:nvSpPr>
        <p:spPr>
          <a:xfrm>
            <a:off x="12827000" y="711200"/>
            <a:ext cx="2159000" cy="43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CEE5C-684B-8D17-7558-945027981C01}"/>
              </a:ext>
            </a:extLst>
          </p:cNvPr>
          <p:cNvSpPr txBox="1"/>
          <p:nvPr/>
        </p:nvSpPr>
        <p:spPr>
          <a:xfrm>
            <a:off x="13030200" y="800100"/>
            <a:ext cx="177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0D9488"/>
                </a:solidFill>
                <a:latin typeface="Aptos" panose="020B0004020202020204" pitchFamily="34" charset="0"/>
              </a:rPr>
              <a:t>Najwa?niejsze informacje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932366-6206-5A8E-B83B-3CF379648736}"/>
              </a:ext>
            </a:extLst>
          </p:cNvPr>
          <p:cNvSpPr/>
          <p:nvPr/>
        </p:nvSpPr>
        <p:spPr>
          <a:xfrm>
            <a:off x="1168400" y="5105400"/>
            <a:ext cx="13817600" cy="1905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CCDCA8-FF2D-6ECB-D335-629FBB261CA2}"/>
              </a:ext>
            </a:extLst>
          </p:cNvPr>
          <p:cNvSpPr txBox="1"/>
          <p:nvPr/>
        </p:nvSpPr>
        <p:spPr>
          <a:xfrm>
            <a:off x="1168400" y="5232400"/>
            <a:ext cx="482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>
                <a:solidFill>
                  <a:srgbClr val="64748B"/>
                </a:solidFill>
                <a:latin typeface="Aptos" panose="020B0004020202020204" pitchFamily="34" charset="0"/>
              </a:rPr>
              <a:t>FlowCraft | prezentacja syntetyczna</a:t>
            </a:r>
          </a:p>
        </p:txBody>
      </p:sp>
    </p:spTree>
    <p:extLst>
      <p:ext uri="{BB962C8B-B14F-4D97-AF65-F5344CB8AC3E}">
        <p14:creationId xmlns:p14="http://schemas.microsoft.com/office/powerpoint/2010/main" val="3746863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749B82-6529-349F-53F3-29187367FDA0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067CF5-5E36-FD44-5AF8-A37A8503571E}"/>
              </a:ext>
            </a:extLst>
          </p:cNvPr>
          <p:cNvSpPr/>
          <p:nvPr/>
        </p:nvSpPr>
        <p:spPr>
          <a:xfrm>
            <a:off x="0" y="0"/>
            <a:ext cx="9144000" cy="3556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35244F-7183-02E7-E956-9B6D7163B2F8}"/>
              </a:ext>
            </a:extLst>
          </p:cNvPr>
          <p:cNvSpPr/>
          <p:nvPr/>
        </p:nvSpPr>
        <p:spPr>
          <a:xfrm>
            <a:off x="0" y="355600"/>
            <a:ext cx="889000" cy="53594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CAB73D-7B43-795A-D744-82D4B339CDC1}"/>
              </a:ext>
            </a:extLst>
          </p:cNvPr>
          <p:cNvSpPr txBox="1"/>
          <p:nvPr/>
        </p:nvSpPr>
        <p:spPr>
          <a:xfrm>
            <a:off x="1168400" y="5842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l-PL" sz="2600" b="1">
                <a:solidFill>
                  <a:srgbClr val="0F172A"/>
                </a:solidFill>
                <a:latin typeface="Aptos Display" panose="020B0004020202020204" pitchFamily="34" charset="0"/>
              </a:rPr>
              <a:t>Model danych i założenia projektowe</a:t>
            </a:r>
            <a:endParaRPr lang="en-GB" sz="2600" b="1">
              <a:solidFill>
                <a:srgbClr val="0F172A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91C9F1-E56F-DCD8-867A-5264074D97B7}"/>
              </a:ext>
            </a:extLst>
          </p:cNvPr>
          <p:cNvSpPr/>
          <p:nvPr/>
        </p:nvSpPr>
        <p:spPr>
          <a:xfrm>
            <a:off x="1168400" y="1320800"/>
            <a:ext cx="3048000" cy="508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9E6651-7D9C-A3B2-DC09-E1D4A768A75A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6D599E-316F-5C00-9D8A-E0BED2F6D6D8}"/>
              </a:ext>
            </a:extLst>
          </p:cNvPr>
          <p:cNvSpPr txBox="1"/>
          <p:nvPr/>
        </p:nvSpPr>
        <p:spPr>
          <a:xfrm>
            <a:off x="1320800" y="1803400"/>
            <a:ext cx="14224000" cy="117275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Centralnym elementem modelu są zasoby techniczne powiązane z halą, sekcją i kategorią.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Maszyny łączą się z awariami, planami przeglądów, zleceniami pracy, uprawnieniami i magazynem.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Kategorie maszyn i pozycje magazynowe mogą być rozszerzane o własne parametry.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Separacja danych między organizacjami została oparta na identyfikatorze dzierżawy.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Model wspiera rozwój systemu bez przebudowy całej struktury.</a:t>
            </a:r>
            <a:endParaRPr lang="en-GB" sz="210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820EDD-5375-220F-E5B5-1D0BD4E2287A}"/>
              </a:ext>
            </a:extLst>
          </p:cNvPr>
          <p:cNvSpPr/>
          <p:nvPr/>
        </p:nvSpPr>
        <p:spPr>
          <a:xfrm>
            <a:off x="12827000" y="711200"/>
            <a:ext cx="2159000" cy="43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682DC-436F-819F-ECE0-4DB2E37687D4}"/>
              </a:ext>
            </a:extLst>
          </p:cNvPr>
          <p:cNvSpPr txBox="1"/>
          <p:nvPr/>
        </p:nvSpPr>
        <p:spPr>
          <a:xfrm>
            <a:off x="13030200" y="800100"/>
            <a:ext cx="177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0F172A"/>
                </a:solidFill>
                <a:latin typeface="Aptos" panose="020B0004020202020204" pitchFamily="34" charset="0"/>
              </a:rPr>
              <a:t>Najwa?niejsze informacje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4E0659-1842-67D3-0ACD-4C94E083389A}"/>
              </a:ext>
            </a:extLst>
          </p:cNvPr>
          <p:cNvSpPr/>
          <p:nvPr/>
        </p:nvSpPr>
        <p:spPr>
          <a:xfrm>
            <a:off x="1168400" y="5105400"/>
            <a:ext cx="13817600" cy="1905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E794B1-5126-1DD9-870C-C662D47403E2}"/>
              </a:ext>
            </a:extLst>
          </p:cNvPr>
          <p:cNvSpPr txBox="1"/>
          <p:nvPr/>
        </p:nvSpPr>
        <p:spPr>
          <a:xfrm>
            <a:off x="1168400" y="5232400"/>
            <a:ext cx="482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>
                <a:solidFill>
                  <a:srgbClr val="64748B"/>
                </a:solidFill>
                <a:latin typeface="Aptos" panose="020B0004020202020204" pitchFamily="34" charset="0"/>
              </a:rPr>
              <a:t>FlowCraft | prezentacja syntetyczna</a:t>
            </a:r>
          </a:p>
        </p:txBody>
      </p:sp>
    </p:spTree>
    <p:extLst>
      <p:ext uri="{BB962C8B-B14F-4D97-AF65-F5344CB8AC3E}">
        <p14:creationId xmlns:p14="http://schemas.microsoft.com/office/powerpoint/2010/main" val="2251967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0A4F5A-E754-AB5E-FB00-ED4EEC6978C0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74445D-5143-48FF-F7E7-740ECC73C2DD}"/>
              </a:ext>
            </a:extLst>
          </p:cNvPr>
          <p:cNvSpPr/>
          <p:nvPr/>
        </p:nvSpPr>
        <p:spPr>
          <a:xfrm>
            <a:off x="0" y="0"/>
            <a:ext cx="9144000" cy="3556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B6EEFF-A269-2D00-EA48-3477DE9C3843}"/>
              </a:ext>
            </a:extLst>
          </p:cNvPr>
          <p:cNvSpPr/>
          <p:nvPr/>
        </p:nvSpPr>
        <p:spPr>
          <a:xfrm>
            <a:off x="0" y="355600"/>
            <a:ext cx="889000" cy="53594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6D6AD0-437A-10FC-297D-BE8BD294A0BC}"/>
              </a:ext>
            </a:extLst>
          </p:cNvPr>
          <p:cNvSpPr txBox="1"/>
          <p:nvPr/>
        </p:nvSpPr>
        <p:spPr>
          <a:xfrm>
            <a:off x="1168400" y="5842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 b="1">
                <a:solidFill>
                  <a:srgbClr val="EA580C"/>
                </a:solidFill>
                <a:latin typeface="Aptos Display" panose="020B0004020202020204" pitchFamily="34" charset="0"/>
              </a:rPr>
              <a:t>Kluczowe moduły operacyjne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E68BA1-D794-A44E-0659-C2C8C5761EA0}"/>
              </a:ext>
            </a:extLst>
          </p:cNvPr>
          <p:cNvSpPr/>
          <p:nvPr/>
        </p:nvSpPr>
        <p:spPr>
          <a:xfrm>
            <a:off x="1168400" y="1320800"/>
            <a:ext cx="3048000" cy="508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D3BB56-3D96-D364-921E-404D1E04B4A3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44F74C-441D-50B7-02DC-9C2E27A342B7}"/>
              </a:ext>
            </a:extLst>
          </p:cNvPr>
          <p:cNvSpPr txBox="1"/>
          <p:nvPr/>
        </p:nvSpPr>
        <p:spPr>
          <a:xfrm>
            <a:off x="1320800" y="1803400"/>
            <a:ext cx="14224000" cy="95667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Edytor layoutu umożliwia wizualne rozmieszczanie elementów hali i pracę na płótnie graficznym.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Moduł maszyn agreguje dane techniczne, historię eksploatacji oraz powiązania z innymi obszarami.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Dashboard i raporty zapewniają syntetyczny widok stanu zakładu.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Interfejs został zaprojektowany tak, aby łączyć formularze, listy i widoki operacyjne w jednym środowisku.</a:t>
            </a:r>
            <a:endParaRPr lang="en-GB" sz="210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D8D50B-C69D-B491-F9A7-73CE223286E0}"/>
              </a:ext>
            </a:extLst>
          </p:cNvPr>
          <p:cNvSpPr/>
          <p:nvPr/>
        </p:nvSpPr>
        <p:spPr>
          <a:xfrm>
            <a:off x="12827000" y="711200"/>
            <a:ext cx="2159000" cy="43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66B153-0844-5BBF-2BE1-AA5FF3548244}"/>
              </a:ext>
            </a:extLst>
          </p:cNvPr>
          <p:cNvSpPr txBox="1"/>
          <p:nvPr/>
        </p:nvSpPr>
        <p:spPr>
          <a:xfrm>
            <a:off x="13030200" y="800100"/>
            <a:ext cx="177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EA580C"/>
                </a:solidFill>
                <a:latin typeface="Aptos" panose="020B0004020202020204" pitchFamily="34" charset="0"/>
              </a:rPr>
              <a:t>Najwa?niejsze informacje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ED2AB5-49A5-4C0D-AC40-6155B1E0461D}"/>
              </a:ext>
            </a:extLst>
          </p:cNvPr>
          <p:cNvSpPr/>
          <p:nvPr/>
        </p:nvSpPr>
        <p:spPr>
          <a:xfrm>
            <a:off x="1168400" y="5105400"/>
            <a:ext cx="13817600" cy="1905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893A6A-FA76-FCF9-15D6-DCC2A92AE671}"/>
              </a:ext>
            </a:extLst>
          </p:cNvPr>
          <p:cNvSpPr txBox="1"/>
          <p:nvPr/>
        </p:nvSpPr>
        <p:spPr>
          <a:xfrm>
            <a:off x="1168400" y="5232400"/>
            <a:ext cx="482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>
                <a:solidFill>
                  <a:srgbClr val="64748B"/>
                </a:solidFill>
                <a:latin typeface="Aptos" panose="020B0004020202020204" pitchFamily="34" charset="0"/>
              </a:rPr>
              <a:t>FlowCraft | prezentacja syntetyczna</a:t>
            </a:r>
          </a:p>
        </p:txBody>
      </p:sp>
    </p:spTree>
    <p:extLst>
      <p:ext uri="{BB962C8B-B14F-4D97-AF65-F5344CB8AC3E}">
        <p14:creationId xmlns:p14="http://schemas.microsoft.com/office/powerpoint/2010/main" val="3523086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6EB796-D6E5-9B9A-29C0-1076C3D76A71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61CF45-EFEA-A4F7-6935-19785F9BEB4D}"/>
              </a:ext>
            </a:extLst>
          </p:cNvPr>
          <p:cNvSpPr/>
          <p:nvPr/>
        </p:nvSpPr>
        <p:spPr>
          <a:xfrm>
            <a:off x="0" y="0"/>
            <a:ext cx="9144000" cy="3556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33D804-294A-3223-88C0-2DD849115697}"/>
              </a:ext>
            </a:extLst>
          </p:cNvPr>
          <p:cNvSpPr/>
          <p:nvPr/>
        </p:nvSpPr>
        <p:spPr>
          <a:xfrm>
            <a:off x="0" y="355600"/>
            <a:ext cx="889000" cy="53594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E3FF24-D7A4-FE9E-413C-B220EE238D64}"/>
              </a:ext>
            </a:extLst>
          </p:cNvPr>
          <p:cNvSpPr txBox="1"/>
          <p:nvPr/>
        </p:nvSpPr>
        <p:spPr>
          <a:xfrm>
            <a:off x="1168400" y="5842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 b="1">
                <a:solidFill>
                  <a:srgbClr val="0D9488"/>
                </a:solidFill>
                <a:latin typeface="Aptos Display" panose="020B0004020202020204" pitchFamily="34" charset="0"/>
              </a:rPr>
              <a:t>Utrzymanie ruchu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BA57E9-CB22-8658-0B8E-979A808F25A0}"/>
              </a:ext>
            </a:extLst>
          </p:cNvPr>
          <p:cNvSpPr/>
          <p:nvPr/>
        </p:nvSpPr>
        <p:spPr>
          <a:xfrm>
            <a:off x="1168400" y="1320800"/>
            <a:ext cx="3048000" cy="508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A22EE5-9C7C-EA63-E6C8-6FB219675103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0F363D-1003-3D8A-CC6E-282722E6BECD}"/>
              </a:ext>
            </a:extLst>
          </p:cNvPr>
          <p:cNvSpPr txBox="1"/>
          <p:nvPr/>
        </p:nvSpPr>
        <p:spPr>
          <a:xfrm>
            <a:off x="1320800" y="1803400"/>
            <a:ext cx="14224000" cy="95667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System obsługuje zgłoszenia awarii, kategorie przyczyn oraz analizę przestojów.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Zaimplementowano plany przeglądów czasowych i licznikowych wraz z rejestracją wykonań.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Zlecenia pracy mogą wynikać zarówno z awarii, jak i z działań prewencyjnych.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Rozwiązanie wspiera jednocześnie reakcję na bieżące problemy i planowanie działań zapobiegawczych.</a:t>
            </a:r>
            <a:endParaRPr lang="en-GB" sz="210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97804-22B3-6452-5752-12FC43F5D881}"/>
              </a:ext>
            </a:extLst>
          </p:cNvPr>
          <p:cNvSpPr/>
          <p:nvPr/>
        </p:nvSpPr>
        <p:spPr>
          <a:xfrm>
            <a:off x="12827000" y="711200"/>
            <a:ext cx="2159000" cy="43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B35FE5-06C5-D4AA-D3DC-F27477939D41}"/>
              </a:ext>
            </a:extLst>
          </p:cNvPr>
          <p:cNvSpPr txBox="1"/>
          <p:nvPr/>
        </p:nvSpPr>
        <p:spPr>
          <a:xfrm>
            <a:off x="13030200" y="800100"/>
            <a:ext cx="177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0D9488"/>
                </a:solidFill>
                <a:latin typeface="Aptos" panose="020B0004020202020204" pitchFamily="34" charset="0"/>
              </a:rPr>
              <a:t>Najwa?niejsze informacje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283748-E84F-0688-8395-1C28999DC010}"/>
              </a:ext>
            </a:extLst>
          </p:cNvPr>
          <p:cNvSpPr/>
          <p:nvPr/>
        </p:nvSpPr>
        <p:spPr>
          <a:xfrm>
            <a:off x="1168400" y="5105400"/>
            <a:ext cx="13817600" cy="1905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8D0D8B-E22E-ADF9-5C83-292054893D34}"/>
              </a:ext>
            </a:extLst>
          </p:cNvPr>
          <p:cNvSpPr txBox="1"/>
          <p:nvPr/>
        </p:nvSpPr>
        <p:spPr>
          <a:xfrm>
            <a:off x="1168400" y="5232400"/>
            <a:ext cx="482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>
                <a:solidFill>
                  <a:srgbClr val="64748B"/>
                </a:solidFill>
                <a:latin typeface="Aptos" panose="020B0004020202020204" pitchFamily="34" charset="0"/>
              </a:rPr>
              <a:t>FlowCraft | prezentacja syntetyczna</a:t>
            </a:r>
          </a:p>
        </p:txBody>
      </p:sp>
    </p:spTree>
    <p:extLst>
      <p:ext uri="{BB962C8B-B14F-4D97-AF65-F5344CB8AC3E}">
        <p14:creationId xmlns:p14="http://schemas.microsoft.com/office/powerpoint/2010/main" val="3855810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6C30C0-88F2-21CF-0252-C93863298078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564A0A-E52C-8A52-C599-C7EF7C4041B6}"/>
              </a:ext>
            </a:extLst>
          </p:cNvPr>
          <p:cNvSpPr/>
          <p:nvPr/>
        </p:nvSpPr>
        <p:spPr>
          <a:xfrm>
            <a:off x="0" y="0"/>
            <a:ext cx="9144000" cy="3556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07D5F6-1488-9C25-1BFF-6765CBB6CA7C}"/>
              </a:ext>
            </a:extLst>
          </p:cNvPr>
          <p:cNvSpPr/>
          <p:nvPr/>
        </p:nvSpPr>
        <p:spPr>
          <a:xfrm>
            <a:off x="0" y="355600"/>
            <a:ext cx="889000" cy="53594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C10C39-9843-9258-C0E8-0A2B24864F38}"/>
              </a:ext>
            </a:extLst>
          </p:cNvPr>
          <p:cNvSpPr txBox="1"/>
          <p:nvPr/>
        </p:nvSpPr>
        <p:spPr>
          <a:xfrm>
            <a:off x="1168400" y="5842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 b="1">
                <a:solidFill>
                  <a:srgbClr val="0F172A"/>
                </a:solidFill>
                <a:latin typeface="Aptos Display" panose="020B0004020202020204" pitchFamily="34" charset="0"/>
              </a:rPr>
              <a:t>Pracownicy i uprawnienia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F98AC8-F59C-72A5-2937-0E7070A5EA73}"/>
              </a:ext>
            </a:extLst>
          </p:cNvPr>
          <p:cNvSpPr/>
          <p:nvPr/>
        </p:nvSpPr>
        <p:spPr>
          <a:xfrm>
            <a:off x="1168400" y="1320800"/>
            <a:ext cx="3048000" cy="508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12C597-1471-DEDD-6978-5BE3B2021BF2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08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F28359-B857-8FB2-ED99-B2534FB12F2A}"/>
              </a:ext>
            </a:extLst>
          </p:cNvPr>
          <p:cNvSpPr txBox="1"/>
          <p:nvPr/>
        </p:nvSpPr>
        <p:spPr>
          <a:xfrm>
            <a:off x="1320800" y="1803400"/>
            <a:ext cx="14224000" cy="95667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System prowadzi rejestr pracowników i ich powiązania z działami organizacyjnymi.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Uprawnienia mogą być nadawane na poziomie kategorii maszyny lub konkretnego urządzenia.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Możliwe jest również przypisanie pracownika bezpośrednio do maszyny.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Takie podejście lepiej odzwierciedla rzeczywisty model odpowiedzialności i autoryzacji w zakładzie.</a:t>
            </a:r>
            <a:endParaRPr lang="en-GB" sz="210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136C83-CD3A-D0FF-134F-972C77AC6C4A}"/>
              </a:ext>
            </a:extLst>
          </p:cNvPr>
          <p:cNvSpPr/>
          <p:nvPr/>
        </p:nvSpPr>
        <p:spPr>
          <a:xfrm>
            <a:off x="12827000" y="711200"/>
            <a:ext cx="2159000" cy="43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2DCBA6-13F6-0B7D-B66C-9303E4C8A2D6}"/>
              </a:ext>
            </a:extLst>
          </p:cNvPr>
          <p:cNvSpPr txBox="1"/>
          <p:nvPr/>
        </p:nvSpPr>
        <p:spPr>
          <a:xfrm>
            <a:off x="13030200" y="800100"/>
            <a:ext cx="177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0F172A"/>
                </a:solidFill>
                <a:latin typeface="Aptos" panose="020B0004020202020204" pitchFamily="34" charset="0"/>
              </a:rPr>
              <a:t>Najwa?niejsze informacje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D9FCFF-9374-9043-23BC-FF40195FD06C}"/>
              </a:ext>
            </a:extLst>
          </p:cNvPr>
          <p:cNvSpPr/>
          <p:nvPr/>
        </p:nvSpPr>
        <p:spPr>
          <a:xfrm>
            <a:off x="1168400" y="5105400"/>
            <a:ext cx="13817600" cy="1905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46BD4D-3C0C-CB6E-902C-40698B01AA38}"/>
              </a:ext>
            </a:extLst>
          </p:cNvPr>
          <p:cNvSpPr txBox="1"/>
          <p:nvPr/>
        </p:nvSpPr>
        <p:spPr>
          <a:xfrm>
            <a:off x="1168400" y="5232400"/>
            <a:ext cx="482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>
                <a:solidFill>
                  <a:srgbClr val="64748B"/>
                </a:solidFill>
                <a:latin typeface="Aptos" panose="020B0004020202020204" pitchFamily="34" charset="0"/>
              </a:rPr>
              <a:t>FlowCraft | prezentacja syntetyczna</a:t>
            </a:r>
          </a:p>
        </p:txBody>
      </p:sp>
    </p:spTree>
    <p:extLst>
      <p:ext uri="{BB962C8B-B14F-4D97-AF65-F5344CB8AC3E}">
        <p14:creationId xmlns:p14="http://schemas.microsoft.com/office/powerpoint/2010/main" val="2318022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6A1951-436F-1815-B90D-3724A94E69C6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EB1909-0560-1F4E-4D4D-FCC3205D2E06}"/>
              </a:ext>
            </a:extLst>
          </p:cNvPr>
          <p:cNvSpPr/>
          <p:nvPr/>
        </p:nvSpPr>
        <p:spPr>
          <a:xfrm>
            <a:off x="0" y="0"/>
            <a:ext cx="9144000" cy="3556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A15A4B-6A97-C171-DE0C-AFBB162007CD}"/>
              </a:ext>
            </a:extLst>
          </p:cNvPr>
          <p:cNvSpPr/>
          <p:nvPr/>
        </p:nvSpPr>
        <p:spPr>
          <a:xfrm>
            <a:off x="0" y="355600"/>
            <a:ext cx="889000" cy="53594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8F2262-36D4-CCF9-32CC-12667219E9A0}"/>
              </a:ext>
            </a:extLst>
          </p:cNvPr>
          <p:cNvSpPr txBox="1"/>
          <p:nvPr/>
        </p:nvSpPr>
        <p:spPr>
          <a:xfrm>
            <a:off x="1168400" y="5842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 b="1">
                <a:solidFill>
                  <a:srgbClr val="EA580C"/>
                </a:solidFill>
                <a:latin typeface="Aptos Display" panose="020B0004020202020204" pitchFamily="34" charset="0"/>
              </a:rPr>
              <a:t>Magazyn i wsparcie decyzji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C24101-282C-53C0-2E1D-1781D1A6EAF0}"/>
              </a:ext>
            </a:extLst>
          </p:cNvPr>
          <p:cNvSpPr/>
          <p:nvPr/>
        </p:nvSpPr>
        <p:spPr>
          <a:xfrm>
            <a:off x="1168400" y="1320800"/>
            <a:ext cx="3048000" cy="50800"/>
          </a:xfrm>
          <a:prstGeom prst="rect">
            <a:avLst/>
          </a:prstGeom>
          <a:solidFill>
            <a:srgbClr val="EA580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65A5D4-C1A2-3151-4248-37A8AF415F47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09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CF533E-F57B-BDA9-8437-86FA783BC42E}"/>
              </a:ext>
            </a:extLst>
          </p:cNvPr>
          <p:cNvSpPr txBox="1"/>
          <p:nvPr/>
        </p:nvSpPr>
        <p:spPr>
          <a:xfrm>
            <a:off x="1320800" y="1803400"/>
            <a:ext cx="14224000" cy="95667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Moduł magazynowy obejmuje pozycje, stany minimalne, zamówienia oraz rekomendacje uzupełnienia.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Wprowadzono szybkie akcje i masowe dodawanie pozycji, aby skrócić ścieżki operacyjne użytkownika.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System łączy potrzeby materiałowe z obszarem utrzymania ruchu i gotowości technicznej.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Dodatkowo moduł lean i kaizen wspiera rejestrację oraz ocenę inicjatyw usprawniających.</a:t>
            </a:r>
            <a:endParaRPr lang="en-GB" sz="210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97FC08-8684-C510-8E3F-AB66F0884069}"/>
              </a:ext>
            </a:extLst>
          </p:cNvPr>
          <p:cNvSpPr/>
          <p:nvPr/>
        </p:nvSpPr>
        <p:spPr>
          <a:xfrm>
            <a:off x="12827000" y="711200"/>
            <a:ext cx="2159000" cy="43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379D0D-06AC-FC3F-FFC0-785C39FDB513}"/>
              </a:ext>
            </a:extLst>
          </p:cNvPr>
          <p:cNvSpPr txBox="1"/>
          <p:nvPr/>
        </p:nvSpPr>
        <p:spPr>
          <a:xfrm>
            <a:off x="13030200" y="800100"/>
            <a:ext cx="177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EA580C"/>
                </a:solidFill>
                <a:latin typeface="Aptos" panose="020B0004020202020204" pitchFamily="34" charset="0"/>
              </a:rPr>
              <a:t>Najwa?niejsze informacje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ABC1B5-7347-D237-5360-C7BBAC489A0A}"/>
              </a:ext>
            </a:extLst>
          </p:cNvPr>
          <p:cNvSpPr/>
          <p:nvPr/>
        </p:nvSpPr>
        <p:spPr>
          <a:xfrm>
            <a:off x="1168400" y="5105400"/>
            <a:ext cx="13817600" cy="1905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27B1D0-62D0-4E26-DDEC-A0A4C96AC3B3}"/>
              </a:ext>
            </a:extLst>
          </p:cNvPr>
          <p:cNvSpPr txBox="1"/>
          <p:nvPr/>
        </p:nvSpPr>
        <p:spPr>
          <a:xfrm>
            <a:off x="1168400" y="5232400"/>
            <a:ext cx="482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>
                <a:solidFill>
                  <a:srgbClr val="64748B"/>
                </a:solidFill>
                <a:latin typeface="Aptos" panose="020B0004020202020204" pitchFamily="34" charset="0"/>
              </a:rPr>
              <a:t>FlowCraft | prezentacja syntetyczna</a:t>
            </a:r>
          </a:p>
        </p:txBody>
      </p:sp>
    </p:spTree>
    <p:extLst>
      <p:ext uri="{BB962C8B-B14F-4D97-AF65-F5344CB8AC3E}">
        <p14:creationId xmlns:p14="http://schemas.microsoft.com/office/powerpoint/2010/main" val="2413640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00A6F9-3E62-6E55-5AF8-931F476A7A40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8FA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6ED432-4094-D85C-C076-4224B1EDA605}"/>
              </a:ext>
            </a:extLst>
          </p:cNvPr>
          <p:cNvSpPr/>
          <p:nvPr/>
        </p:nvSpPr>
        <p:spPr>
          <a:xfrm>
            <a:off x="0" y="0"/>
            <a:ext cx="9144000" cy="3556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F78F83-3D31-B67B-A14D-66097AF940D9}"/>
              </a:ext>
            </a:extLst>
          </p:cNvPr>
          <p:cNvSpPr/>
          <p:nvPr/>
        </p:nvSpPr>
        <p:spPr>
          <a:xfrm>
            <a:off x="0" y="355600"/>
            <a:ext cx="889000" cy="5359400"/>
          </a:xfrm>
          <a:prstGeom prst="rect">
            <a:avLst/>
          </a:prstGeom>
          <a:solidFill>
            <a:srgbClr val="F1F5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C60630-AF40-CAD0-7058-7F170C95DC28}"/>
              </a:ext>
            </a:extLst>
          </p:cNvPr>
          <p:cNvSpPr txBox="1"/>
          <p:nvPr/>
        </p:nvSpPr>
        <p:spPr>
          <a:xfrm>
            <a:off x="1168400" y="584200"/>
            <a:ext cx="104140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600" b="1">
                <a:solidFill>
                  <a:srgbClr val="0D9488"/>
                </a:solidFill>
                <a:latin typeface="Aptos Display" panose="020B0004020202020204" pitchFamily="34" charset="0"/>
              </a:rPr>
              <a:t>Wnioski końcowe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60EE7E-F3D8-F6EA-A744-EA272417DF0B}"/>
              </a:ext>
            </a:extLst>
          </p:cNvPr>
          <p:cNvSpPr/>
          <p:nvPr/>
        </p:nvSpPr>
        <p:spPr>
          <a:xfrm>
            <a:off x="1168400" y="1320800"/>
            <a:ext cx="3048000" cy="50800"/>
          </a:xfrm>
          <a:prstGeom prst="rect">
            <a:avLst/>
          </a:prstGeom>
          <a:solidFill>
            <a:srgbClr val="0D94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3DFAC-4D9F-3571-FCA1-884BCBC7E593}"/>
              </a:ext>
            </a:extLst>
          </p:cNvPr>
          <p:cNvSpPr txBox="1"/>
          <p:nvPr/>
        </p:nvSpPr>
        <p:spPr>
          <a:xfrm>
            <a:off x="228600" y="685800"/>
            <a:ext cx="4318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600" b="1">
                <a:solidFill>
                  <a:srgbClr val="475569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ACCBDE-925F-7B88-04E3-DC3C3197D022}"/>
              </a:ext>
            </a:extLst>
          </p:cNvPr>
          <p:cNvSpPr txBox="1"/>
          <p:nvPr/>
        </p:nvSpPr>
        <p:spPr>
          <a:xfrm>
            <a:off x="1320800" y="1803400"/>
            <a:ext cx="14224000" cy="95667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FlowCraft rozwinął się z narzędzia do wizualizacji hali w kierunku wielomodułowej platformy operacyjnej.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Największą wartością systemu jest integracja przestrzeni, zasobów, UR, pracowników i magazynu.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Architektura rozwiązania umożliwia dalszą rozbudowę przy zachowaniu spójności modelu.</a:t>
            </a:r>
          </a:p>
          <a:p>
            <a:pPr marL="457200" indent="-457200">
              <a:spcAft>
                <a:spcPts val="1000"/>
              </a:spcAft>
              <a:buFont typeface="+mj-lt"/>
              <a:buChar char="•"/>
            </a:pPr>
            <a:r>
              <a:rPr lang="pl-PL" sz="2100">
                <a:solidFill>
                  <a:srgbClr val="1E293B"/>
                </a:solidFill>
                <a:latin typeface="Aptos" panose="020B0004020202020204" pitchFamily="34" charset="0"/>
              </a:rPr>
              <a:t>Projekt potwierdza zasadność budowy jednego środowiska wspierającego bieżące zarządzanie zakładem.</a:t>
            </a:r>
            <a:endParaRPr lang="en-GB" sz="2100">
              <a:solidFill>
                <a:srgbClr val="1E293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589030-457B-C80D-7C33-15C90211C8E7}"/>
              </a:ext>
            </a:extLst>
          </p:cNvPr>
          <p:cNvSpPr/>
          <p:nvPr/>
        </p:nvSpPr>
        <p:spPr>
          <a:xfrm>
            <a:off x="12827000" y="711200"/>
            <a:ext cx="2159000" cy="431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7142E1-58FE-BDED-E466-6463AF7B9046}"/>
              </a:ext>
            </a:extLst>
          </p:cNvPr>
          <p:cNvSpPr txBox="1"/>
          <p:nvPr/>
        </p:nvSpPr>
        <p:spPr>
          <a:xfrm>
            <a:off x="13030200" y="800100"/>
            <a:ext cx="177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b="1">
                <a:solidFill>
                  <a:srgbClr val="0D9488"/>
                </a:solidFill>
                <a:latin typeface="Aptos" panose="020B0004020202020204" pitchFamily="34" charset="0"/>
              </a:rPr>
              <a:t>Najwa?niejsze informacje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E0A2C2-8C38-DED9-EBA3-10D3E352C2FE}"/>
              </a:ext>
            </a:extLst>
          </p:cNvPr>
          <p:cNvSpPr/>
          <p:nvPr/>
        </p:nvSpPr>
        <p:spPr>
          <a:xfrm>
            <a:off x="1168400" y="5105400"/>
            <a:ext cx="13817600" cy="19050"/>
          </a:xfrm>
          <a:prstGeom prst="rect">
            <a:avLst/>
          </a:prstGeom>
          <a:solidFill>
            <a:srgbClr val="CBD5E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BECCA7-6057-8E42-DA40-400B721BFDF8}"/>
              </a:ext>
            </a:extLst>
          </p:cNvPr>
          <p:cNvSpPr txBox="1"/>
          <p:nvPr/>
        </p:nvSpPr>
        <p:spPr>
          <a:xfrm>
            <a:off x="1168400" y="5232400"/>
            <a:ext cx="482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000">
                <a:solidFill>
                  <a:srgbClr val="64748B"/>
                </a:solidFill>
                <a:latin typeface="Aptos" panose="020B0004020202020204" pitchFamily="34" charset="0"/>
              </a:rPr>
              <a:t>FlowCraft | prezentacja syntetyczna</a:t>
            </a:r>
          </a:p>
        </p:txBody>
      </p:sp>
    </p:spTree>
    <p:extLst>
      <p:ext uri="{BB962C8B-B14F-4D97-AF65-F5344CB8AC3E}">
        <p14:creationId xmlns:p14="http://schemas.microsoft.com/office/powerpoint/2010/main" val="466916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617</Words>
  <Application>Microsoft Office PowerPoint</Application>
  <PresentationFormat>On-screen Show (16:10)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Maciej Szwast</dc:creator>
  <cp:lastModifiedBy>Maciej Szwast</cp:lastModifiedBy>
  <cp:revision>1</cp:revision>
  <dcterms:created xsi:type="dcterms:W3CDTF">2026-05-05T22:36:28Z</dcterms:created>
  <dcterms:modified xsi:type="dcterms:W3CDTF">2026-05-05T22:36:28Z</dcterms:modified>
</cp:coreProperties>
</file>