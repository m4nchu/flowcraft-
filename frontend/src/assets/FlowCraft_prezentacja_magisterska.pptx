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7" d="100"/>
          <a:sy n="177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E48A-CA6D-9E07-AF2F-EDC1A4243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DADC3-EE63-6411-AD14-5373BA164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783EC-8836-CF23-D3A6-F6942F4B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D2639-5D70-33D3-3B4F-225BCDEF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C315-A40A-B1A2-54BB-C8327CF9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10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F686-6E82-F0BA-9A88-4D2EC931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46CED-26B0-CA69-CE40-F80E9487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F21A4-1C0A-F44E-F26C-CE289A0D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9812D-468E-2896-D0BD-2B4FFE93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A036C-EE09-E956-E1E4-ABD5F1B6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80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EA88-07EB-DEDB-D7F9-85334025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94E3D-E0E1-0CA8-451C-538CFD854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9B2AA-5D74-B663-2875-6D0D7D77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4C63E-4016-84A3-8DF5-967E4077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020A-73D1-EC8C-815B-80C0F494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89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EF09-5790-5640-0BD0-4E3C978D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1EE3D-E828-FBF0-D19C-0B00EAEB0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64304-999D-9FE4-1ACA-BEC0996A5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55D57-FC3B-78B0-FB04-A34068E4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D393F-8574-FF7C-680A-9EC0C21A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5FC37-C29E-DCD5-1CF6-D76EEFC8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98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A9AD-CD0B-54C5-E59A-30749772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45641-3E5C-CDD2-CCAC-F98D881B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B4C77-5A96-0CF5-EF0C-9F1374620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15D35-2CC6-721C-0FCE-270BCCC2D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59E42-34B2-FA36-8958-C5CB4A641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CD7AA-31C0-C006-5F79-7BD85401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18246-8DCF-4912-C70C-B0D99FCAC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6FDDE6-0FF3-5269-FEE9-7248F957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5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E3A8-CDFD-49D9-4BBB-986FC14D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0075C-6700-CC04-2B88-8B2C9CB8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5731F-FC11-7FDB-B629-BF7272C3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1CA58-CAE5-E9D7-A868-3142F3E7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46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0467E7-A08D-361B-47BC-4FC39A3B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F954C-3803-4A9B-348D-FB2A5B189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7E57-C331-C198-C8A6-A8C2195F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08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0A19-9CA8-B550-4EA4-258E322F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A6972-2F23-C03C-9CB4-7D7163534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302B6-ABC9-7640-0626-5DAF579A7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F72A8-A607-1CA8-CEE4-5920923E4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C8CDD-8BED-C5D3-B981-BE877222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D0056-B1BA-620C-D184-0974BFA9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99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BAF-D86D-C982-1C89-61565030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2893A0-C393-540A-99A3-D36153455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826F2-5928-E3CD-DA5D-3B13A4AE9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219B9-DADC-EACC-D57F-240C7BB4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A107B-53C6-1F6B-9303-6629D4C0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2B373-EDD8-225D-9598-C8222621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38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8AF0-6FB2-0445-EAD0-B4A0DB08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B51E8-9DD4-1087-A4A3-A7880D013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82829-D8D7-C49A-AA26-959D06DB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141A9-4F26-127A-4E73-F92AD0CE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27009-F587-030E-0FDD-C1EE529E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581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9A213-9472-1E02-2F1E-0454156ED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C216F-480A-4218-19F0-DD9F09130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E246A-C1CD-242B-1925-06E0535A5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07B79-411A-4549-92EB-B8BB5CB8B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C7B2B-CB71-62ED-7ED3-C3ABD494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75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908BA-2A4B-414F-EB9F-DBDFC804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BE72B-8934-FB6C-0F27-855EFEDFA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AB75B-D27E-073C-AE30-543A8DA18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95105-2F98-46D7-88BE-8FB00BCA37F9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98316-C9BD-5A2D-98D9-D2422DF27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8369B-E076-A9E8-8F17-6DEC6318E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C4B50-66B2-4983-A1FA-ECD434B1BA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32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426C7D-87BB-E330-8026-D770B3AFB02B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EEAEF3-ECA3-FCA5-4830-BEFBC4F38AB9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86257-80CE-A72A-3250-7CCFAF217D27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E426B-B18B-69AC-C5F3-8CBA456E2120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FlowCraft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23BA9-EB85-4F30-1E07-550DF2D9C3D2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57E7E-194F-C60C-F315-E7BD12E6E34A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9BD9E-F870-E975-FB32-DAA1D8620347}"/>
              </a:ext>
            </a:extLst>
          </p:cNvPr>
          <p:cNvSpPr txBox="1"/>
          <p:nvPr/>
        </p:nvSpPr>
        <p:spPr>
          <a:xfrm>
            <a:off x="1168400" y="19050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2400">
                <a:solidFill>
                  <a:srgbClr val="1E293B"/>
                </a:solidFill>
                <a:latin typeface="Aptos" panose="020B0004020202020204" pitchFamily="34" charset="0"/>
              </a:rPr>
              <a:t>System webowy wspomagaj?cy zarz?dzanie zasobami, przestrzeni? hali i procesami operacyjnymi</a:t>
            </a:r>
            <a:endParaRPr lang="en-GB" sz="24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21AC47-F574-7954-A1DC-3149340BCB33}"/>
              </a:ext>
            </a:extLst>
          </p:cNvPr>
          <p:cNvSpPr/>
          <p:nvPr/>
        </p:nvSpPr>
        <p:spPr>
          <a:xfrm>
            <a:off x="1168400" y="4127500"/>
            <a:ext cx="3556000" cy="4318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1715DA-CC56-C23B-C2E8-444A7538F81D}"/>
              </a:ext>
            </a:extLst>
          </p:cNvPr>
          <p:cNvSpPr txBox="1"/>
          <p:nvPr/>
        </p:nvSpPr>
        <p:spPr>
          <a:xfrm>
            <a:off x="1397000" y="4203700"/>
            <a:ext cx="317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00" b="1">
                <a:solidFill>
                  <a:srgbClr val="334155"/>
                </a:solidFill>
                <a:latin typeface="Aptos" panose="020B0004020202020204" pitchFamily="34" charset="0"/>
              </a:rPr>
              <a:t>Prezentacja pracy magisterskiej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A021DE-43AB-E391-8686-84685DFF938B}"/>
              </a:ext>
            </a:extLst>
          </p:cNvPr>
          <p:cNvSpPr txBox="1"/>
          <p:nvPr/>
        </p:nvSpPr>
        <p:spPr>
          <a:xfrm>
            <a:off x="1168400" y="53340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1800">
                <a:solidFill>
                  <a:srgbClr val="475569"/>
                </a:solidFill>
                <a:latin typeface="Aptos" panose="020B0004020202020204" pitchFamily="34" charset="0"/>
              </a:rPr>
              <a:t>Projekt i implementacja systemu wspieraj?cego zarz?dzanie operacyjne w ?rodowisku produkcyjnym</a:t>
            </a:r>
            <a:endParaRPr lang="en-GB" sz="18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92B9A4-1701-9784-3961-2CE09E27E852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639A19-7E00-E271-F8F8-3E0B4248D3DD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77609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598F7B-B6A4-999C-BE27-104ABB8AC58E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9BF505-BC50-6D53-9D4C-F6A92C85D172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2C38A5-5470-DC99-AD5E-0E0DB27561F9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139D-DF06-64D0-3994-F408335A3BBD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F172A"/>
                </a:solidFill>
                <a:latin typeface="Aptos Display" panose="020B0004020202020204" pitchFamily="34" charset="0"/>
              </a:rPr>
              <a:t>Problem i cel pracy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F95E6-6D54-8FCA-4BE8-0896296DA35B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DBC0C-F5CF-E87C-8CDB-4DF17ABF4E5B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2FAA5-F652-3CB1-6420-A79BFC816F43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W wielu zak?adach dane o hali, maszynach, awariach, pracownikach i magazynie s? rozproszone mi?dzy r??ne narz?dzia.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Taki model utrudnia szybkie podejmowanie decyzji oraz obni?a sp?jno?? informacji operacyjnych.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Celem projektu by?o stworzenie jednego ?rodowiska integruj?cego model przestrzenny hali z danymi eksploatacyjnymi.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mia? wspiera? codzienn? prac? operacyjn?, a nie wy??cznie ewidencj? danych historycznych.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EC49B9-B9B4-7CA6-ABFD-AE99FE42F320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158A5-47F2-04F2-FB14-31F307BEA412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5BF658-E84B-8C7D-23DE-DD7191C65B5E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61ED9-CF1E-153C-818C-823A130AD6EC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199916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F597AC-621D-77B6-E9A2-DB6AAA1D0A6A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BF905D-9EA1-4C05-F86E-5F7ECE71F925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605F9-274E-D35A-1FE1-6F6195640F34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FCCA8-0F7A-CB7B-ABB3-0D66B68AE0F2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Zakres funkcjonalny systemu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72D54-CE5B-DD2C-B017-A30FCF560593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33016-EE67-8AB6-EE04-E99D2742F49D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85DB4F-BDE2-3031-825F-E6DF2083BECD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Zarz?dzanie halami, sekcjami oraz edytorem layoutu.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Ewidencja maszyn, kategorii technicznych i parametr?w zasob?w.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Obs?uga awarii, przegl?d?w prewencyjnych i zlece? pracy.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Rejestr pracownik?w, uprawnie? oraz przypisa? do maszyn.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Modu? magazynowy, lean/kaizen, dashboard, raporty i lista dzia?a? bie??cych.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2ED185-A2D7-6F43-C445-067530BA039A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E4FBB-8BA3-C1B8-8E04-01FDBBA7D8AF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DF0DD5-A5F6-D4DD-FEAB-FA512377B40B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7D2370-47F4-ED28-1839-304BA13178C9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099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926F47-C349-47DA-802D-4597FAB727F3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93FC97-89E3-6E78-F9DB-9511EB306AEB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6865D-B248-A8A9-766A-42E8A674770D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C3FE2-FC1A-4E6B-5572-9D68DC28AE21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Architektura rozwi?zania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F37E7F-F387-EEA1-6050-484690D09537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7D652-8C19-0FD3-CE5F-5E351710E895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AF57D-8C4C-A61E-DB48-2FA026C9F213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Aplikacja zosta?a zrealizowana w architekturze klient-serwer.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Frontend: React, TypeScript i Vite w modelu SPA.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Backend: ASP.NET Core Web API z warstwami Domain, Application, Infrastructure i API.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Baza danych: PostgreSQL z wykorzystaniem Entity Framework Core.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Komunikacja mi?dzy warstwami odbywa si? przez REST oraz DTO.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55220B-524F-C6B2-794E-C99FDE43A50B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AB5D17-0FDC-1B7F-AA46-48245F9D8970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F40E2D-F80F-8905-090A-E39263A19387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A4B54C-0560-5C8E-EAB9-8234C45A56AA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55150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BDF982-AD87-7F75-57FE-F4B7D643DC3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585BC-1164-AC67-81AF-FBD13A464869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10887D-9965-FF3C-693D-741EA60A663E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66C75-C1B1-7046-348F-B6D340DE53D5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2600" b="1">
                <a:solidFill>
                  <a:srgbClr val="0F172A"/>
                </a:solidFill>
                <a:latin typeface="Aptos Display" panose="020B0004020202020204" pitchFamily="34" charset="0"/>
              </a:rPr>
              <a:t>Model danych i za?o?enia projektowe</a:t>
            </a:r>
            <a:endParaRPr lang="en-GB" sz="2600" b="1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154DCF-C3C3-77A1-51D6-A76068A84806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A9CD2-1120-5150-FD86-0B14B8117D20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FEB0D-7994-AE6D-F701-BF4D58FDEBDB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Centralnym elementem modelu s? zasoby techniczne powi?zane z hal?, sekcj? i kategori?.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Maszyny ??cz? si? z awariami, planami przegl?d?w, zleceniami pracy, uprawnieniami i magazynem.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Kategorie maszyn i pozycje magazynowe mog? by? rozszerzane o w?asne parametry.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Separacja danych mi?dzy organizacjami zosta?a oparta na identyfikatorze dzier?awy.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Model wspiera rozw?j systemu bez przebudowy ca?ej struktury.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520D47-5D91-08B4-CBED-C191595EED22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2DB999-7C5C-D30C-B8A0-6C413BBC5C4F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0B758E-BF03-7114-2A15-AE28FFB223CB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13B19-0F20-9210-01BA-29B4D45BCE6C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847397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FD4409-0F7B-B0D9-76A7-BE54D3BCB27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E4D376-C87A-0E68-33E9-93082CBA509D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01CD19-62C4-C79E-D8C6-E54429CD4189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7078B9-9EA3-7EB0-2616-2C01E409E9D4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Kluczowe modu?y operacyjne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5287B-CD8C-62AC-BA67-8FADE367951E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679C3-129F-0488-6A60-EBFE172173F8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B3A91-CD32-F812-AC17-A5147D26BC5E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Edytor layoutu umo?liwia wizualne rozmieszczanie element?w hali i prac? na p??tnie graficznym.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Modu? maszyn agreguje dane techniczne, histori? eksploatacji oraz powi?zania z innymi obszarami.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Dashboard i raporty zapewniaj? syntetyczny widok stanu zak?adu.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Interfejs zosta? zaprojektowany tak, aby ??czy? formularze, listy i widoki operacyjne w jednym ?rodowisku.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995C5-5C6F-E774-4922-A4555F1C00BF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7805E-9050-CF22-C672-F32B275608D7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A6310-A90E-F343-72F4-A2AC7704BAF0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B47D6-BF67-578D-B876-61D171F93B7A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80997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70C775-5B89-1329-F38E-DAB08F9A4EB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13BD7-0424-F7C7-35A8-590DB7752198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3B7E7F-BC23-684F-3457-226266645504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9B480-7257-5B04-5066-623674BF291C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Utrzymanie ruchu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3F1D7-2209-3389-AFE4-1C35260C5503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39155-C523-ECFD-CB28-3E5CFE26C11F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C9693-82B5-4064-20E5-925E8D685151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obs?uguje zg?oszenia awarii, kategorie przyczyn oraz analiz? przestoj?w.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Zaimplementowano plany przegl?d?w czasowych i licznikowych wraz z rejestracj? wykona?.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Zlecenia pracy mog? wynika? zar?wno z awarii, jak i z dzia?a? prewencyjnych.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Rozwi?zanie wspiera jednocze?nie reakcj? na bie??ce problemy i planowanie dzia?a? zapobiegawczych.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7233B-3BF6-97B4-8EFD-60B10A611435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732B0-CCDD-2F71-183E-4BBAFBC25C38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F5098E-AEEB-5FE7-D45C-87AF4FA593AD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6338A-88E3-8AD1-4DF4-707D1B991F68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1530263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88BA22-43F7-4FD1-C595-2F7FF8F56D8B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84BA7-8399-D7F6-EFB1-83E52E85CFD1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AEA6B2-E12D-67D3-A477-C5AF5B8E51D5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9CAFB-5BB5-DC00-A314-90825D06BFD9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F172A"/>
                </a:solidFill>
                <a:latin typeface="Aptos Display" panose="020B0004020202020204" pitchFamily="34" charset="0"/>
              </a:rPr>
              <a:t>Pracownicy i uprawnienia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8E2E95-A15A-87C6-6B78-0FB3A58D9E19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2CF47-A9DC-1BA4-9316-2356ABD8CEE9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7C6A8-49BF-DC5D-DE17-C4693FDA462D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prowadzi rejestr pracownik?w i ich powi?zania z dzia?ami organizacyjnymi.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Uprawnienia mog? by? nadawane na poziomie kategorii maszyny lub konkretnego urz?dzenia.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Mo?liwe jest r?wnie? przypisanie pracownika bezpo?rednio do maszyny.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Takie podej?cie lepiej odzwierciedla rzeczywisty model odpowiedzialno?ci i autoryzacji w zak?adzie.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0FB654-A170-4D24-5135-29FD61C94EA5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2A983-6DD9-A577-E047-E73B4DB1D5E8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139886-A929-BFD6-E589-B566CF8C8AA0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B3F66-E639-42FA-5D18-6E7DBF0713F5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332700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2CB60D-812F-22E6-38D4-6CBFAFD19EE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F106F1-87A6-8AC4-63C1-128D3067F199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87E473-EC7D-FFC0-69D6-BC7F5C2DE4E1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C2873-106F-5A38-1F63-40BE054245DC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Magazyn i wsparcie decyzji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785F40-57CF-8129-90C2-2DBD1472A40F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CBDB4-75B4-C260-75A8-B10C0F21B989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13CDD-3A69-1D5F-DB03-F15CC9446D00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Modu? magazynowy obejmuje pozycje, stany minimalne, zam?wienia oraz rekomendacje uzupe?nienia.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Wprowadzono szybkie akcje i masowe dodawanie pozycji, aby skr?ci? ?cie?ki operacyjne u?ytkownika.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??czy potrzeby materia?owe z obszarem utrzymania ruchu i gotowo?ci technicznej.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Dodatkowo modu? lean i kaizen wspiera rejestracj? oraz ocen? inicjatyw usprawniaj?cych.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5429F7-30D5-FD61-0D4D-FF4220569B6D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FE0BB-DBA5-E4B3-E0FA-3EA2638AA162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14F729-5AB6-B653-CF96-C32980AFB93D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3265A-7EC0-1E8F-8F67-8DC8E54C40DE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1778044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47DFBD-8E2A-BB94-3C62-3214CA71D09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A229E-E512-623C-AE87-99B738F2281C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A32307-0360-7724-25AE-357531A8E9DA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3FF47-0BEF-08F2-68D6-A38B707FD424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Wnioski ko?cowe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583A3-2B47-26FC-F88E-F5C215DB271C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2645C1-864E-58CB-A487-89BB6668255C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F1336-7E40-CB5C-FC78-C86C476FCE6C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FlowCraft rozwin?? si? z narz?dzia do wizualizacji hali w kierunku wielomodu?owej platformy operacyjnej.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Najwi?ksz? warto?ci? systemu jest integracja przestrzeni, zasob?w, UR, pracownik?w i magazynu.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Architektura rozwi?zania umo?liwia dalsz? rozbudow? przy zachowaniu sp?jno?ci modelu.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Projekt potwierdza zasadno?? budowy jednego ?rodowiska wspieraj?cego bie??ce zarz?dzanie zak?adem.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B8983-D552-95C3-9DBA-4B84CCBABA7C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89D68-45EF-7291-F3A3-EC13C089FB05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95AF9-1982-3121-BF3E-C1415CE98ED4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351FA1-C809-B764-EEBE-9386525EFD70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1118918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Microsoft Office PowerPoint</Application>
  <PresentationFormat>On-screen Show (16:10)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Szwast</dc:creator>
  <cp:lastModifiedBy>Maciej Szwast</cp:lastModifiedBy>
  <cp:revision>1</cp:revision>
  <dcterms:created xsi:type="dcterms:W3CDTF">2026-05-05T22:27:47Z</dcterms:created>
  <dcterms:modified xsi:type="dcterms:W3CDTF">2026-05-05T22:27:47Z</dcterms:modified>
</cp:coreProperties>
</file>