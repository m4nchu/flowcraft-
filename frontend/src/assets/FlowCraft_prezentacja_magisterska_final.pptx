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7" d="100"/>
          <a:sy n="177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48E6B-F03E-028B-210F-969F4C95A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5AE48-C877-42C4-CC23-75D885804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1918F-40F8-C419-992D-3E26AD0D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BAF5E-7BFA-ADBA-1DBD-D0BBD1C9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877AB-3647-F967-D7F5-21AED504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68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25F0C-571F-E399-C090-F74F87254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DD7FA-95D8-8371-C425-5BE236B06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EB9A3-F956-56CC-40D3-E22F2D5CD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66909-1E1C-061C-4A4B-B34D5575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B955-E903-41B4-2CA5-E66FEEDF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84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C27F-E418-6B62-85F6-E70868F2C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DE984-19AB-8104-6043-3C90851F4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B9C8F-1754-BEE4-B3FA-BF11E183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7C46C-B78B-7133-F08E-ECA77F76E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7115-6D23-45F7-4B7D-7640A34F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2159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037D4-131B-4B72-04CA-8C5655A2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F2CEC-26D3-EC5A-0F28-F875599F8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70133-B5F5-A665-93CA-FA7D1A882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6BF06-62ED-E204-707B-6D2E2CFC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3B3EB-3FDE-2293-C249-47ED0B39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2D1DF-8E10-C815-8C79-9B6AFBBD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8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219B-52C2-E18C-66E4-5D825C64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2B021-0C77-F762-B9C3-CFF11B7B2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5F956-E735-2E25-2555-78078392E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3B70A-DA54-83B5-DC36-97C5828D0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7E820E-14D6-6CE5-44DF-695EFD3A2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D299DE-CAA2-CCF7-093A-A869F5EFC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C4D69-0E71-BBE9-E6B4-4F2089915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3DC121-65CC-784B-1046-3BB8DF16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0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E232-1010-5FDD-FEBE-B6F13FDF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064E-7CC2-BC49-1CF7-4ACB239E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6BFB1-2ABB-BAAA-6AEE-FF95E3929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2966E-8BF2-3583-EB4B-CEE54AA6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87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749D8-1CD2-7C66-66AE-59790E5AE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00FD3B-5604-AFBD-2D8B-ECC0956AF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6DA2E-0EEA-3096-9774-051F72B79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07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BF0C-CFF1-5F9A-8F61-1A6500EAA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DEB7F-0102-10E9-807C-1B7126E67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18BBB-8F94-D0E0-52D2-8806E63D2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CD361-CDEA-611C-C7C5-A8202F16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43812-AEAA-64C9-3FF0-5998D5010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C96A0-B89E-983E-BA5C-C20E9821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877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7B35-0870-1675-29C9-B4F13F45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6AC80-66B9-E54A-5007-EEECCFA7C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D2910-FE4D-6488-681C-B9773D3CE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8D11B-C44C-00B6-3F20-F91E47E09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6F67-8615-84C3-6F31-BCB66331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D09E1-3891-219F-2890-B3D9BBCC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016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F893-49F1-FE4D-2E4B-FD7593ABD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30515-86B4-2BF7-0C23-1F3B0773D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9D8A8-D017-0CE2-36B9-2C69BA8D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9A6C3-4674-C30E-5892-CAC63D18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6F033-2DC3-6FF1-8E93-B3BA7BDD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055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632487-C1B9-7CFA-B03D-A863DFAC4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EE25D-933C-5868-29BC-1CA13B955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041FA-CBE9-D224-F7FE-0A97128C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04E72-3F5F-E3FC-C74F-B43EC138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036B4-782B-D970-5E08-D95A3FD2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2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DBAF7-452E-0DD7-2F74-022FAD990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15FB7-6055-AC9D-A19E-2B3C98A13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9CD5D-C026-340E-E3EC-6840C0845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30BF7-990F-4425-9C16-F11E7CEAAD9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0C4D1-1A1C-7006-9C95-7ED7D417A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2425B-4F0A-376A-5D6B-D9C904940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67CA0-3B2F-41C0-9777-F9E022C2B3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75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8D888-9DF5-999C-9364-CFC9F7B96F02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000DE-1186-0CA8-7652-88327B88BE92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9FD31-2063-53A0-336D-471205FF0C14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289BE-BB9C-C9D8-8F52-488A5683167D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FlowCraft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B6EC61-B59E-5009-AD8D-DC6F48DCC2AF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23FC2-4D81-DD29-396C-5ABCFC361C1C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13405-19B6-69A4-1769-D90DA5C7063A}"/>
              </a:ext>
            </a:extLst>
          </p:cNvPr>
          <p:cNvSpPr txBox="1"/>
          <p:nvPr/>
        </p:nvSpPr>
        <p:spPr>
          <a:xfrm>
            <a:off x="1168400" y="19050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l-PL" sz="2400">
                <a:solidFill>
                  <a:srgbClr val="1E293B"/>
                </a:solidFill>
                <a:latin typeface="Aptos" panose="020B0004020202020204" pitchFamily="34" charset="0"/>
              </a:rPr>
              <a:t>System webowy wspomagaj?cy zarz?dzanie zasobami, przestrzeni? hali i procesami operacyjnymi</a:t>
            </a:r>
            <a:endParaRPr lang="en-GB" sz="24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50AB9A-36D7-2097-E9BD-2354537099AC}"/>
              </a:ext>
            </a:extLst>
          </p:cNvPr>
          <p:cNvSpPr/>
          <p:nvPr/>
        </p:nvSpPr>
        <p:spPr>
          <a:xfrm>
            <a:off x="1168400" y="4127500"/>
            <a:ext cx="3556000" cy="4318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6D0F2-BDAC-81DA-859C-CD1EA809AECB}"/>
              </a:ext>
            </a:extLst>
          </p:cNvPr>
          <p:cNvSpPr txBox="1"/>
          <p:nvPr/>
        </p:nvSpPr>
        <p:spPr>
          <a:xfrm>
            <a:off x="1397000" y="4203700"/>
            <a:ext cx="317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00" b="1">
                <a:solidFill>
                  <a:srgbClr val="334155"/>
                </a:solidFill>
                <a:latin typeface="Aptos" panose="020B0004020202020204" pitchFamily="34" charset="0"/>
              </a:rPr>
              <a:t>Prezentacja pracy magisterskiej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CD0CB8-FDFE-BA7D-2047-07FD66EF8117}"/>
              </a:ext>
            </a:extLst>
          </p:cNvPr>
          <p:cNvSpPr txBox="1"/>
          <p:nvPr/>
        </p:nvSpPr>
        <p:spPr>
          <a:xfrm>
            <a:off x="1168400" y="53340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l-PL" sz="1800">
                <a:solidFill>
                  <a:srgbClr val="475569"/>
                </a:solidFill>
                <a:latin typeface="Aptos" panose="020B0004020202020204" pitchFamily="34" charset="0"/>
              </a:rPr>
              <a:t>Projekt i implementacja systemu wspieraj?cego zarz?dzanie operacyjne w ?rodowisku produkcyjnym</a:t>
            </a:r>
            <a:endParaRPr lang="en-GB" sz="18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CFFAFB-8420-D740-8D75-7D9A83B28982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ED2D5-82EC-5597-DA9E-0A1D95341A5E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364098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741935-F2D1-7BB1-A831-2AAA4522FC4A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41F11A-2759-EA6F-1A1E-C6C6A41B8CFD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5A70DD-67B5-DAC1-217F-1EA1D3DB2FCF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50337-0D5F-5566-54F5-0FCF006C1BC7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F172A"/>
                </a:solidFill>
                <a:latin typeface="Aptos Display" panose="020B0004020202020204" pitchFamily="34" charset="0"/>
              </a:rPr>
              <a:t>Problem i cel pracy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E93E7-F88E-5F7C-5819-54C28FF4B1AC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49B48-D46E-4FAB-AB8F-101BE17D669F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8089-2377-FE3A-63AA-0A3722339D89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W wielu zak?adach dane o hali, maszynach, awariach, pracownikach i magazynie s? rozproszone mi?dzy r??ne narz?dzia.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Taki model utrudnia szybkie podejmowanie decyzji oraz obni?a sp?jno?? informacji operacyjnych.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Celem projektu by?o stworzenie jednego ?rodowiska integruj?cego model przestrzenny hali z danymi eksploatacyjnymi.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mia? wspiera? codzienn? prac? operacyjn?, a nie wy??cznie ewidencj? danych historycznych.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911A73-BF73-A31E-CC5D-6450A068A501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34F448-BA2B-9189-E1F0-6533C619BFEA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F172A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4EE5C6-BF11-9373-97EE-D196AE37C441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A5C540-34C7-F581-6AA4-C2997FEEB545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57862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D4B739-02B3-98B8-96E5-7C362066F522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778C3B-854E-0520-06A0-AD6317CF365D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8EA7E8-B345-E114-9C6C-FD537B6D6D8D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72ED2-840D-CA8A-FF7C-6D9F5C970B26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EA580C"/>
                </a:solidFill>
                <a:latin typeface="Aptos Display" panose="020B0004020202020204" pitchFamily="34" charset="0"/>
              </a:rPr>
              <a:t>Zakres funkcjonalny systemu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5A745-638A-608A-3DBF-54C246D62C40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A3588-FB64-A3FC-D0E5-22EE16F4AD8D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955CE-835B-0DBE-7666-00AA97517C91}"/>
              </a:ext>
            </a:extLst>
          </p:cNvPr>
          <p:cNvSpPr txBox="1"/>
          <p:nvPr/>
        </p:nvSpPr>
        <p:spPr>
          <a:xfrm>
            <a:off x="1320800" y="1803400"/>
            <a:ext cx="14224000" cy="117275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Zarz?dzanie halami, sekcjami oraz edytorem layoutu.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Ewidencja maszyn, kategorii technicznych i parametr?w zasob?w.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Obs?uga awarii, przegl?d?w prewencyjnych i zlece? pracy.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Rejestr pracownik?w, uprawnie? oraz przypisa? do maszyn.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Modu? magazynowy, lean/kaizen, dashboard, raporty i lista dzia?a? bie??cych.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57FE78-CB6E-26EE-05C2-F433814A8E57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2DB49-3CC2-703A-CA8E-1CB751521967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EA580C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B160A2-B7C1-234B-98DA-38862F8D6C84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68EE3E-46F4-5E4B-3D79-97A2FADF87BC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1036913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4EA42B-E64D-A3CC-109B-B7DC8F51B11F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572E11-7412-46F3-CB01-2717C742CCE1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B75CD-8C9D-0F18-B8CB-C2BBF022817C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AEF9A-4FC5-4BC8-F9C7-659B1E69BE0D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Architektura rozwi?zania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AA5F84-E824-8AD1-F26C-EA0C8E0BE6C5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CF152-E105-2563-FA1E-71E6AA04BEB9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75035-7F5A-C115-43CF-0F76F8FDE2D5}"/>
              </a:ext>
            </a:extLst>
          </p:cNvPr>
          <p:cNvSpPr txBox="1"/>
          <p:nvPr/>
        </p:nvSpPr>
        <p:spPr>
          <a:xfrm>
            <a:off x="1320800" y="1803400"/>
            <a:ext cx="14224000" cy="117275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Aplikacja zosta?a zrealizowana w architekturze klient-serwer.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Frontend: React, TypeScript i Vite w modelu SPA.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Backend: ASP.NET Core Web API z warstwami Domain, Application, Infrastructure i API.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Baza danych: PostgreSQL z wykorzystaniem Entity Framework Core.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Komunikacja mi?dzy warstwami odbywa si? przez REST oraz DTO.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D90A1A-FAD3-9FEB-D539-6C7819587808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38D00E-7097-D3B9-5618-2BF7075588FD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D9488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C52AD3-8057-A05E-CB83-DFD4C5A24780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58F72-D145-EBF5-C941-D11FD760CD2D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2773065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307CC4-9834-40B9-036A-03D7FC2982EB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452E48-F2C3-C2BB-5286-01C2DF0A3646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DAA0EC-EA5B-CA55-724A-421D30F8F8DB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FB0DA-90F5-1DD3-9059-7BB1BAC3EC8F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l-PL" sz="2600" b="1">
                <a:solidFill>
                  <a:srgbClr val="0F172A"/>
                </a:solidFill>
                <a:latin typeface="Aptos Display" panose="020B0004020202020204" pitchFamily="34" charset="0"/>
              </a:rPr>
              <a:t>Model danych i za?o?enia projektowe</a:t>
            </a:r>
            <a:endParaRPr lang="en-GB" sz="2600" b="1">
              <a:solidFill>
                <a:srgbClr val="0F172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8D91A-C0FD-1B7C-82AB-38E2B504813D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66587-C5E9-7DEF-0809-582AAAA56DDC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84617-D259-5D86-7ACE-D9734EA87E2A}"/>
              </a:ext>
            </a:extLst>
          </p:cNvPr>
          <p:cNvSpPr txBox="1"/>
          <p:nvPr/>
        </p:nvSpPr>
        <p:spPr>
          <a:xfrm>
            <a:off x="1320800" y="1803400"/>
            <a:ext cx="14224000" cy="117275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Centralnym elementem modelu s? zasoby techniczne powi?zane z hal?, sekcj? i kategori?.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Maszyny ??cz? si? z awariami, planami przegl?d?w, zleceniami pracy, uprawnieniami i magazynem.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Kategorie maszyn i pozycje magazynowe mog? by? rozszerzane o w?asne parametry.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Separacja danych mi?dzy organizacjami zosta?a oparta na identyfikatorze dzier?awy.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Model wspiera rozw?j systemu bez przebudowy ca?ej struktury.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AC57A6-C471-5EC3-A415-BEDE1238744E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067240-B2B7-E8C6-3281-7F4AEBD526D6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F172A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EA3048-3931-0510-7B63-81CA236CDEA7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E650FF-0AC9-3787-FB61-623D8ECDE5D7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35715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9C8BC7-EF14-94D6-4BF7-2E857F4771C2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17DEED-D34B-6FD9-445A-C2CFEC649761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0B03EC-8CF5-CCFE-0A96-E1D2C12B2AE2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F8A969-4E92-0682-9C2E-8A09B1F34F19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EA580C"/>
                </a:solidFill>
                <a:latin typeface="Aptos Display" panose="020B0004020202020204" pitchFamily="34" charset="0"/>
              </a:rPr>
              <a:t>Kluczowe modu?y operacyjne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4B7B0-9F7A-0684-6ED0-0E1C840AD7EA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E1DA9-F11E-809C-82DF-53B2675AA15C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C5B614-820F-074C-DE38-4419557CC174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Edytor layoutu umo?liwia wizualne rozmieszczanie element?w hali i prac? na p??tnie graficznym.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Modu? maszyn agreguje dane techniczne, histori? eksploatacji oraz powi?zania z innymi obszarami.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Dashboard i raporty zapewniaj? syntetyczny widok stanu zak?adu.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Interfejs zosta? zaprojektowany tak, aby ??czy? formularze, listy i widoki operacyjne w jednym ?rodowisku.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663700-235F-0131-C69D-FA5EE9BCCD62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52158-3193-CCFF-DFFE-960AEE100D0A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EA580C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A748E8-A905-557D-0AF1-614AE1E42ABD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ED0485-0C42-BA08-4D07-88518C95C1C5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349249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CB993F-D347-D55F-FB44-256D6FE83CBD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AA34FB-3B32-FA1E-5FC9-554F82C8BF7C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D2D82F-2A4E-B670-DDB2-FFAA434D3718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5D01F-1C3C-AFD4-5AD9-467B8DBB8CD1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Utrzymanie ruchu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6F3F69-9603-29D8-A30B-8DDA0BFC1805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2A3CF9-8387-4A46-840F-841724032618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3B0B28-6BD4-2433-AD7C-057EA4725CBB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obs?uguje zg?oszenia awarii, kategorie przyczyn oraz analiz? przestoj?w.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Zaimplementowano plany przegl?d?w czasowych i licznikowych wraz z rejestracj? wykona?.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Zlecenia pracy mog? wynika? zar?wno z awarii, jak i z dzia?a? prewencyjnych.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Rozwi?zanie wspiera jednocze?nie reakcj? na bie??ce problemy i planowanie dzia?a? zapobiegawczych.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9E7ED8-32E4-1A24-84C3-F678886DF113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474D16-6534-651A-A409-12565B98F28D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D9488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FF259F-AE6C-E6B6-FB42-5DCDF20818EE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E37FBB-A9AF-5D8E-883F-23A5481E2618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408262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4E0732-FD9A-FE52-863A-ED7A3BF02E6F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5D8CA8-AA97-969F-8E59-6CAED8B561A6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A0B1B-47C3-CC21-1900-1438FC6FF723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56C1D-24AC-BD0E-F6FB-ED9EF7D4A436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F172A"/>
                </a:solidFill>
                <a:latin typeface="Aptos Display" panose="020B0004020202020204" pitchFamily="34" charset="0"/>
              </a:rPr>
              <a:t>Pracownicy i uprawnienia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EAD78D-695F-5F35-9E8C-F1737474B203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A6350-9097-EA87-4E01-E8BE0E2E7D94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6FC94-CA05-4F27-8131-C9D1B646BB62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prowadzi rejestr pracownik?w i ich powi?zania z dzia?ami organizacyjnymi.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Uprawnienia mog? by? nadawane na poziomie kategorii maszyny lub konkretnego urz?dzenia.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Mo?liwe jest r?wnie? przypisanie pracownika bezpo?rednio do maszyny.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Takie podej?cie lepiej odzwierciedla rzeczywisty model odpowiedzialno?ci i autoryzacji w zak?adzie.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90B081-59B2-5247-B28A-6BB54F6D4CFE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4A9C1-BB3C-373C-0374-4453D6C7568E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F172A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E9ED07-1365-1AA3-8C9A-E68E85CCE6A2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EF7856-FCCC-8703-21F6-59BEA1B3D59C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1818349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7CFB9A-82B9-6AC2-8AF5-9CDFB52E88E3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93E2C2-0258-DFEA-D7ED-52FD09BE9959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CF8A67-4F5B-F062-ADAA-083A6A325971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7FAB6-980D-7599-5BDB-02496710B9BE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EA580C"/>
                </a:solidFill>
                <a:latin typeface="Aptos Display" panose="020B0004020202020204" pitchFamily="34" charset="0"/>
              </a:rPr>
              <a:t>Magazyn i wsparcie decyzji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E1B4F-D43B-C76B-CC33-3AA0B0FBA22C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FAF5D-A56F-431E-DD01-6CEDC201A35D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82C56-BDC2-E36C-4B23-6E9E41ADDB2F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Modu? magazynowy obejmuje pozycje, stany minimalne, zam?wienia oraz rekomendacje uzupe?nienia.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Wprowadzono szybkie akcje i masowe dodawanie pozycji, aby skr?ci? ?cie?ki operacyjne u?ytkownika.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??czy potrzeby materia?owe z obszarem utrzymania ruchu i gotowo?ci technicznej.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Dodatkowo modu? lean i kaizen wspiera rejestracj? oraz ocen? inicjatyw usprawniaj?cych.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717337-D80C-2301-71EE-7CEC1D490DEB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99A15A-F5CB-D046-6EFB-68D75DBBE3E0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EA580C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0D9585-48EF-933E-1B23-8757C6934B3E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2B615E-E2C6-42A9-3EA3-659A3FACBE5A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2153337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691F2C-7FDB-E0C2-F327-03EDCC7BC098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BB7832-13B7-143C-A3C7-DAED810BDF23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7545C1-52F8-EA9B-9B0A-CBB6D358BCAB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BD6AD-E393-EA9F-D6E5-5F636F6C6DD3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Wnioski ko?cowe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DEB65D-963C-7B9A-F842-7897AD43B3BE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A1C0BD-6349-F401-6895-70B52F86BFE0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EE2833-2189-1891-EB84-1A2A2981DBD1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FlowCraft rozwin?? si? z narz?dzia do wizualizacji hali w kierunku wielomodu?owej platformy operacyjnej.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Najwi?ksz? warto?ci? systemu jest integracja przestrzeni, zasob?w, UR, pracownik?w i magazynu.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Architektura rozwi?zania umo?liwia dalsz? rozbudow? przy zachowaniu sp?jno?ci modelu.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Projekt potwierdza zasadno?? budowy jednego ?rodowiska wspieraj?cego bie??ce zarz?dzanie zak?adem.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16C334-B702-351A-C4B2-420A6E6B787C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A27A6-E0E2-97C0-0F59-8A5857515BC7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D9488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A3CC29-2232-A1D8-7167-D81C6DDB899D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0E68F0-6D45-4DCB-B5B3-248676393F6A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420693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Microsoft Office PowerPoint</Application>
  <PresentationFormat>On-screen Show (16:10)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Szwast</dc:creator>
  <cp:lastModifiedBy>Maciej Szwast</cp:lastModifiedBy>
  <cp:revision>1</cp:revision>
  <dcterms:created xsi:type="dcterms:W3CDTF">2026-05-05T22:29:52Z</dcterms:created>
  <dcterms:modified xsi:type="dcterms:W3CDTF">2026-05-05T22:29:52Z</dcterms:modified>
</cp:coreProperties>
</file>