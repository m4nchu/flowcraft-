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0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E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8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7.svg"/><Relationship Id="rId10" Type="http://schemas.openxmlformats.org/officeDocument/2006/relationships/image" Target="../media/image10.svg"/><Relationship Id="rId4" Type="http://schemas.openxmlformats.org/officeDocument/2006/relationships/image" Target="../media/image12.svg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5.svg"/><Relationship Id="rId10" Type="http://schemas.openxmlformats.org/officeDocument/2006/relationships/image" Target="../media/image16.svg"/><Relationship Id="rId4" Type="http://schemas.openxmlformats.org/officeDocument/2006/relationships/image" Target="../media/image14.sv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9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17.sv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93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8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13232" y="960120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FlowCraft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768096" y="1755648"/>
            <a:ext cx="2057400" cy="0"/>
          </a:xfrm>
          <a:prstGeom prst="line">
            <a:avLst/>
          </a:prstGeom>
          <a:noFill/>
          <a:ln w="3810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49808" y="2039112"/>
            <a:ext cx="58978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AF8FF"/>
                </a:solidFill>
              </a:rPr>
              <a:t>System webowy do zarządzania halą produkcyjno-magazynową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8096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EEBFF"/>
                </a:solidFill>
              </a:rPr>
              <a:t>Najważniejsze założenia: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32104" y="3561588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051560" y="3493008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8FF"/>
                </a:solidFill>
              </a:rPr>
              <a:t>cyfrowy plan hali z rozmieszczeniem maszyn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832104" y="4018788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051560" y="395020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8FF"/>
                </a:solidFill>
              </a:rPr>
              <a:t>awarie, przeglądy, części i raporty w jednym panelu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406640" y="1060704"/>
            <a:ext cx="3566160" cy="3566160"/>
          </a:xfrm>
          <a:prstGeom prst="roundRect">
            <a:avLst>
              <a:gd name="adj" fmla="val 4615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8878824" y="2157984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4272" y="2313432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07808" y="282549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F"/>
                </a:solidFill>
              </a:rPr>
              <a:t>miejsce na zrzut ekranu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626096" y="32278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D4E5"/>
                </a:solidFill>
              </a:rPr>
              <a:t>dashboard lub layout hali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68096" y="5715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3A9BE"/>
                </a:solidFill>
              </a:rPr>
              <a:t>Maciej Szwast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68096" y="5961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A9BE"/>
                </a:solidFill>
              </a:rPr>
              <a:t>Praca dyplomowa magisterska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informacje w wielu miejscach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brak jednego widoku utrudnia szybką ocenę sytuacji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7724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659636" y="161848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1368" y="176022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86968" y="2286000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Ewidencja maszyn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78408" y="2688336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lista urządzeń i podstawowe dane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356616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448556" y="161848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0288" y="176022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675888" y="2286000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Zgłoszenia awarii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767328" y="2688336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informacje o problemach technicznych</a:t>
            </a:r>
            <a:endParaRPr lang="en-US" sz="920" dirty="0"/>
          </a:p>
        </p:txBody>
      </p:sp>
      <p:sp>
        <p:nvSpPr>
          <p:cNvPr id="22" name="Shape 17"/>
          <p:cNvSpPr/>
          <p:nvPr/>
        </p:nvSpPr>
        <p:spPr>
          <a:xfrm>
            <a:off x="635508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237476" y="161848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9208" y="176022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64808" y="2286000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Magazyn części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556248" y="2688336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stany, rezerwacje i zamówienia</a:t>
            </a:r>
            <a:endParaRPr lang="en-US" sz="920" dirty="0"/>
          </a:p>
        </p:txBody>
      </p:sp>
      <p:sp>
        <p:nvSpPr>
          <p:cNvPr id="27" name="Shape 21"/>
          <p:cNvSpPr/>
          <p:nvPr/>
        </p:nvSpPr>
        <p:spPr>
          <a:xfrm>
            <a:off x="914400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10026396" y="161848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8128" y="176022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53728" y="2286000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Uprawnienia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9345168" y="2688336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pracownicy i zakres odpowiedzialności</a:t>
            </a:r>
            <a:endParaRPr lang="en-US" sz="920" dirty="0"/>
          </a:p>
        </p:txBody>
      </p:sp>
      <p:sp>
        <p:nvSpPr>
          <p:cNvPr id="32" name="Shape 25"/>
          <p:cNvSpPr/>
          <p:nvPr/>
        </p:nvSpPr>
        <p:spPr>
          <a:xfrm>
            <a:off x="1097280" y="3977640"/>
            <a:ext cx="9875520" cy="0"/>
          </a:xfrm>
          <a:prstGeom prst="line">
            <a:avLst/>
          </a:prstGeom>
          <a:noFill/>
          <a:ln w="15240">
            <a:solidFill>
              <a:srgbClr val="49728A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896112" y="4389120"/>
            <a:ext cx="502920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27"/>
          <p:cNvSpPr/>
          <p:nvPr/>
        </p:nvSpPr>
        <p:spPr>
          <a:xfrm>
            <a:off x="1069848" y="454456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32" y="4645152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609344" y="4535424"/>
            <a:ext cx="4169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Trudniej ustalić, które dane są aktualne i ze sobą powiązane.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6537960" y="4315968"/>
            <a:ext cx="4251960" cy="1115568"/>
          </a:xfrm>
          <a:prstGeom prst="roundRect">
            <a:avLst>
              <a:gd name="adj" fmla="val 13115"/>
            </a:avLst>
          </a:prstGeom>
          <a:solidFill>
            <a:srgbClr val="061A2F">
              <a:alpha val="78000"/>
            </a:srgbClr>
          </a:solidFill>
          <a:ln w="1397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0"/>
          <p:cNvSpPr/>
          <p:nvPr/>
        </p:nvSpPr>
        <p:spPr>
          <a:xfrm>
            <a:off x="6720840" y="4599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EAF8FF"/>
                </a:solidFill>
              </a:rPr>
              <a:t>miejsce na 3–4 miniatury</a:t>
            </a:r>
            <a:endParaRPr lang="en-US" sz="1220" dirty="0"/>
          </a:p>
        </p:txBody>
      </p:sp>
      <p:sp>
        <p:nvSpPr>
          <p:cNvPr id="39" name="Text 31"/>
          <p:cNvSpPr/>
          <p:nvPr/>
        </p:nvSpPr>
        <p:spPr>
          <a:xfrm>
            <a:off x="6720840" y="49286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B9D4E5"/>
                </a:solidFill>
              </a:rPr>
              <a:t>np. arkusz, lista awarii, magazyn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 projektu: uporządkowanie pracy na hali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wspólny widok dla danych przestrzennych, technicznych i organizacyjnych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68096" y="1444752"/>
            <a:ext cx="4983480" cy="4069080"/>
          </a:xfrm>
          <a:prstGeom prst="roundRect">
            <a:avLst>
              <a:gd name="adj" fmla="val 4045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948940" y="2793492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388" y="294894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9264" y="3461004"/>
            <a:ext cx="4581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F"/>
                </a:solidFill>
              </a:rPr>
              <a:t>miejsce na zrzut ekranu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87552" y="3863340"/>
            <a:ext cx="4544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D4E5"/>
                </a:solidFill>
              </a:rPr>
              <a:t>najlepiej ekran główny aplikacji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263640" y="1417320"/>
            <a:ext cx="512064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6437376" y="157276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7960" y="1673352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76872" y="1563624"/>
            <a:ext cx="4261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Pokazanie układu hali i rozmieszczenia maszyn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63640" y="2404872"/>
            <a:ext cx="512064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6437376" y="2560320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7960" y="2660904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76872" y="2551176"/>
            <a:ext cx="4261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Powiązanie maszyny z awariami, przeglądami i zadaniami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63640" y="3392424"/>
            <a:ext cx="512064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6437376" y="3547872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7960" y="3648456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76872" y="3538728"/>
            <a:ext cx="4261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Kontrola dostępności części potrzebnych do napraw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63640" y="4379976"/>
            <a:ext cx="512064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6437376" y="4535424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7960" y="4636008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76872" y="4526280"/>
            <a:ext cx="4261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Szybka ocena sytuacji dzięki dashboardowi i raportom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Użytkownicy systemu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różne role, ale wspólne źródło informacji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13232" y="1389888"/>
            <a:ext cx="5157216" cy="822960"/>
          </a:xfrm>
          <a:prstGeom prst="roundRect">
            <a:avLst>
              <a:gd name="adj" fmla="val 12222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886968" y="1586484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410" y="1693926"/>
            <a:ext cx="214884" cy="2148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26464" y="1536192"/>
            <a:ext cx="42885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Kierownik</a:t>
            </a:r>
            <a:endParaRPr lang="en-US" sz="1220" dirty="0"/>
          </a:p>
        </p:txBody>
      </p:sp>
      <p:sp>
        <p:nvSpPr>
          <p:cNvPr id="16" name="Text 12"/>
          <p:cNvSpPr/>
          <p:nvPr/>
        </p:nvSpPr>
        <p:spPr>
          <a:xfrm>
            <a:off x="1426464" y="1828800"/>
            <a:ext cx="42885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analizuje raporty, awarie i zadania wymagające reakcji</a:t>
            </a:r>
            <a:endParaRPr lang="en-US" sz="890" dirty="0"/>
          </a:p>
        </p:txBody>
      </p:sp>
      <p:sp>
        <p:nvSpPr>
          <p:cNvPr id="17" name="Shape 13"/>
          <p:cNvSpPr/>
          <p:nvPr/>
        </p:nvSpPr>
        <p:spPr>
          <a:xfrm>
            <a:off x="713232" y="2432304"/>
            <a:ext cx="5157216" cy="822960"/>
          </a:xfrm>
          <a:prstGeom prst="roundRect">
            <a:avLst>
              <a:gd name="adj" fmla="val 12222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886968" y="262890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410" y="2736342"/>
            <a:ext cx="214884" cy="2148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26464" y="2578608"/>
            <a:ext cx="42885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Utrzymanie ruchu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1426464" y="2871216"/>
            <a:ext cx="42885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obsługuje awarie, zlecenia pracy i przeglądy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713232" y="3474720"/>
            <a:ext cx="5157216" cy="822960"/>
          </a:xfrm>
          <a:prstGeom prst="roundRect">
            <a:avLst>
              <a:gd name="adj" fmla="val 12222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886968" y="3671316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4410" y="3778758"/>
            <a:ext cx="214884" cy="2148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26464" y="3621024"/>
            <a:ext cx="42885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Magazyn</a:t>
            </a:r>
            <a:endParaRPr lang="en-US" sz="1220" dirty="0"/>
          </a:p>
        </p:txBody>
      </p:sp>
      <p:sp>
        <p:nvSpPr>
          <p:cNvPr id="26" name="Text 20"/>
          <p:cNvSpPr/>
          <p:nvPr/>
        </p:nvSpPr>
        <p:spPr>
          <a:xfrm>
            <a:off x="1426464" y="3913632"/>
            <a:ext cx="42885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kontroluje części, braki i zamówienia uzupełniające</a:t>
            </a:r>
            <a:endParaRPr lang="en-US" sz="890" dirty="0"/>
          </a:p>
        </p:txBody>
      </p:sp>
      <p:sp>
        <p:nvSpPr>
          <p:cNvPr id="27" name="Shape 21"/>
          <p:cNvSpPr/>
          <p:nvPr/>
        </p:nvSpPr>
        <p:spPr>
          <a:xfrm>
            <a:off x="713232" y="4517136"/>
            <a:ext cx="5157216" cy="822960"/>
          </a:xfrm>
          <a:prstGeom prst="roundRect">
            <a:avLst>
              <a:gd name="adj" fmla="val 12222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886968" y="4713732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4410" y="4821174"/>
            <a:ext cx="214884" cy="2148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26464" y="4663440"/>
            <a:ext cx="42885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Administrator</a:t>
            </a:r>
            <a:endParaRPr lang="en-US" sz="1220" dirty="0"/>
          </a:p>
        </p:txBody>
      </p:sp>
      <p:sp>
        <p:nvSpPr>
          <p:cNvPr id="31" name="Text 24"/>
          <p:cNvSpPr/>
          <p:nvPr/>
        </p:nvSpPr>
        <p:spPr>
          <a:xfrm>
            <a:off x="1426464" y="4956048"/>
            <a:ext cx="42885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zarządza kontami, rolami i dostępem do danych</a:t>
            </a:r>
            <a:endParaRPr lang="en-US" sz="890" dirty="0"/>
          </a:p>
        </p:txBody>
      </p:sp>
      <p:sp>
        <p:nvSpPr>
          <p:cNvPr id="32" name="Shape 25"/>
          <p:cNvSpPr/>
          <p:nvPr/>
        </p:nvSpPr>
        <p:spPr>
          <a:xfrm>
            <a:off x="6565392" y="1481328"/>
            <a:ext cx="4526280" cy="3886200"/>
          </a:xfrm>
          <a:prstGeom prst="roundRect">
            <a:avLst>
              <a:gd name="adj" fmla="val 4235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8517636" y="2738628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73084" y="2894076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66560" y="340614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F"/>
                </a:solidFill>
              </a:rPr>
              <a:t>miejsce na zrzut ekranu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784848" y="3808476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D4E5"/>
                </a:solidFill>
              </a:rPr>
              <a:t>np. menu z modułami aplikacji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-192024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Maszyna jako centrum informacji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maszyna = konkretne urządzenie, stanowisko lub obiekt na hali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838700" y="2491740"/>
            <a:ext cx="2514600" cy="1865376"/>
          </a:xfrm>
          <a:prstGeom prst="ellipse">
            <a:avLst/>
          </a:prstGeom>
          <a:solidFill>
            <a:srgbClr val="0B2E50">
              <a:alpha val="98000"/>
            </a:srgbClr>
          </a:solidFill>
          <a:ln w="17780">
            <a:solidFill>
              <a:srgbClr val="28D9FF">
                <a:alpha val="97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785104" y="2825496"/>
            <a:ext cx="621792" cy="621792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0552" y="298094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03876" y="339699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EAF8FF"/>
                </a:solidFill>
              </a:rPr>
              <a:t>Maszyna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46320" y="37947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49808" y="1481328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923544" y="1737360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9556" y="1833372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1627632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Miejsce na hali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1463040" y="1920240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gdzie znajduje się urządzenie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4700321" y="1225296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4874057" y="1481328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0069" y="1577340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13553" y="1371600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Awarie</a:t>
            </a:r>
            <a:endParaRPr lang="en-US" sz="1220" dirty="0"/>
          </a:p>
        </p:txBody>
      </p:sp>
      <p:sp>
        <p:nvSpPr>
          <p:cNvPr id="26" name="Text 20"/>
          <p:cNvSpPr/>
          <p:nvPr/>
        </p:nvSpPr>
        <p:spPr>
          <a:xfrm>
            <a:off x="5413553" y="1664208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co zostało zgłoszone</a:t>
            </a:r>
            <a:endParaRPr lang="en-US" sz="890" dirty="0"/>
          </a:p>
        </p:txBody>
      </p:sp>
      <p:sp>
        <p:nvSpPr>
          <p:cNvPr id="27" name="Shape 21"/>
          <p:cNvSpPr/>
          <p:nvPr/>
        </p:nvSpPr>
        <p:spPr>
          <a:xfrm>
            <a:off x="8650224" y="1481328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8823960" y="1737360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9972" y="1833372"/>
            <a:ext cx="192024" cy="1920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63456" y="1627632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Przeglądy</a:t>
            </a:r>
            <a:endParaRPr lang="en-US" sz="1220" dirty="0"/>
          </a:p>
        </p:txBody>
      </p:sp>
      <p:sp>
        <p:nvSpPr>
          <p:cNvPr id="31" name="Text 24"/>
          <p:cNvSpPr/>
          <p:nvPr/>
        </p:nvSpPr>
        <p:spPr>
          <a:xfrm>
            <a:off x="9363456" y="1920240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co trzeba wykonać okresowo</a:t>
            </a:r>
            <a:endParaRPr lang="en-US" sz="890" dirty="0"/>
          </a:p>
        </p:txBody>
      </p:sp>
      <p:sp>
        <p:nvSpPr>
          <p:cNvPr id="32" name="Shape 25"/>
          <p:cNvSpPr/>
          <p:nvPr/>
        </p:nvSpPr>
        <p:spPr>
          <a:xfrm>
            <a:off x="749808" y="4251960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923544" y="450799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556" y="4604004"/>
            <a:ext cx="192024" cy="1920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463040" y="4398264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Pracownicy</a:t>
            </a:r>
            <a:endParaRPr lang="en-US" sz="1220" dirty="0"/>
          </a:p>
        </p:txBody>
      </p:sp>
      <p:sp>
        <p:nvSpPr>
          <p:cNvPr id="36" name="Text 28"/>
          <p:cNvSpPr/>
          <p:nvPr/>
        </p:nvSpPr>
        <p:spPr>
          <a:xfrm>
            <a:off x="1463040" y="4690872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kto może obsługiwać maszynę</a:t>
            </a:r>
            <a:endParaRPr lang="en-US" sz="890" dirty="0"/>
          </a:p>
        </p:txBody>
      </p:sp>
      <p:sp>
        <p:nvSpPr>
          <p:cNvPr id="37" name="Shape 29"/>
          <p:cNvSpPr/>
          <p:nvPr/>
        </p:nvSpPr>
        <p:spPr>
          <a:xfrm>
            <a:off x="4700016" y="4709160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4873752" y="496519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9764" y="5061204"/>
            <a:ext cx="192024" cy="1920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413248" y="4855464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Części</a:t>
            </a:r>
            <a:endParaRPr lang="en-US" sz="1220" dirty="0"/>
          </a:p>
        </p:txBody>
      </p:sp>
      <p:sp>
        <p:nvSpPr>
          <p:cNvPr id="41" name="Text 32"/>
          <p:cNvSpPr/>
          <p:nvPr/>
        </p:nvSpPr>
        <p:spPr>
          <a:xfrm>
            <a:off x="5413248" y="5148072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jakie materiały są potrzebne</a:t>
            </a:r>
            <a:endParaRPr lang="en-US" sz="890" dirty="0"/>
          </a:p>
        </p:txBody>
      </p:sp>
      <p:sp>
        <p:nvSpPr>
          <p:cNvPr id="42" name="Shape 33"/>
          <p:cNvSpPr/>
          <p:nvPr/>
        </p:nvSpPr>
        <p:spPr>
          <a:xfrm>
            <a:off x="8650224" y="4251960"/>
            <a:ext cx="2761488" cy="896112"/>
          </a:xfrm>
          <a:prstGeom prst="roundRect">
            <a:avLst>
              <a:gd name="adj" fmla="val 1122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8823960" y="450799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19972" y="4604004"/>
            <a:ext cx="192024" cy="19202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363456" y="4398264"/>
            <a:ext cx="1892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Raporty</a:t>
            </a:r>
            <a:endParaRPr lang="en-US" sz="1220" dirty="0"/>
          </a:p>
        </p:txBody>
      </p:sp>
      <p:sp>
        <p:nvSpPr>
          <p:cNvPr id="46" name="Text 36"/>
          <p:cNvSpPr/>
          <p:nvPr/>
        </p:nvSpPr>
        <p:spPr>
          <a:xfrm>
            <a:off x="9363456" y="4690872"/>
            <a:ext cx="18928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co wynika z danych</a:t>
            </a:r>
            <a:endParaRPr lang="en-US" sz="890" dirty="0"/>
          </a:p>
        </p:txBody>
      </p:sp>
      <p:sp>
        <p:nvSpPr>
          <p:cNvPr id="47" name="Text 37"/>
          <p:cNvSpPr/>
          <p:nvPr/>
        </p:nvSpPr>
        <p:spPr>
          <a:xfrm>
            <a:off x="1170432" y="5815584"/>
            <a:ext cx="982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Zakres funkcjonalny systemu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najważniejsze moduły wykonane w aplikacji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914400" y="146304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088136" y="171450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578" y="1821942"/>
            <a:ext cx="214884" cy="2148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27632" y="160934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Hale</a:t>
            </a:r>
            <a:endParaRPr lang="en-US" sz="1220" dirty="0"/>
          </a:p>
        </p:txBody>
      </p:sp>
      <p:sp>
        <p:nvSpPr>
          <p:cNvPr id="16" name="Text 12"/>
          <p:cNvSpPr/>
          <p:nvPr/>
        </p:nvSpPr>
        <p:spPr>
          <a:xfrm>
            <a:off x="1627632" y="190195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struktura zakładu</a:t>
            </a:r>
            <a:endParaRPr lang="en-US" sz="890" dirty="0"/>
          </a:p>
        </p:txBody>
      </p:sp>
      <p:sp>
        <p:nvSpPr>
          <p:cNvPr id="17" name="Shape 13"/>
          <p:cNvSpPr/>
          <p:nvPr/>
        </p:nvSpPr>
        <p:spPr>
          <a:xfrm>
            <a:off x="4434840" y="146304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608576" y="171450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6018" y="1821942"/>
            <a:ext cx="214884" cy="2148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48072" y="160934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5148072" y="190195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plan hali w aplikacji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7955280" y="146304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8129016" y="171450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458" y="1821942"/>
            <a:ext cx="214884" cy="2148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68512" y="160934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Maszyny</a:t>
            </a:r>
            <a:endParaRPr lang="en-US" sz="1220" dirty="0"/>
          </a:p>
        </p:txBody>
      </p:sp>
      <p:sp>
        <p:nvSpPr>
          <p:cNvPr id="26" name="Text 20"/>
          <p:cNvSpPr/>
          <p:nvPr/>
        </p:nvSpPr>
        <p:spPr>
          <a:xfrm>
            <a:off x="8668512" y="190195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urządzenia i parametry</a:t>
            </a:r>
            <a:endParaRPr lang="en-US" sz="890" dirty="0"/>
          </a:p>
        </p:txBody>
      </p:sp>
      <p:sp>
        <p:nvSpPr>
          <p:cNvPr id="27" name="Shape 21"/>
          <p:cNvSpPr/>
          <p:nvPr/>
        </p:nvSpPr>
        <p:spPr>
          <a:xfrm>
            <a:off x="914400" y="288036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1088136" y="313182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5578" y="3239262"/>
            <a:ext cx="214884" cy="2148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27632" y="302666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Awarie</a:t>
            </a:r>
            <a:endParaRPr lang="en-US" sz="1220" dirty="0"/>
          </a:p>
        </p:txBody>
      </p:sp>
      <p:sp>
        <p:nvSpPr>
          <p:cNvPr id="31" name="Text 24"/>
          <p:cNvSpPr/>
          <p:nvPr/>
        </p:nvSpPr>
        <p:spPr>
          <a:xfrm>
            <a:off x="1627632" y="331927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zgłoszenia i naprawy</a:t>
            </a:r>
            <a:endParaRPr lang="en-US" sz="890" dirty="0"/>
          </a:p>
        </p:txBody>
      </p:sp>
      <p:sp>
        <p:nvSpPr>
          <p:cNvPr id="32" name="Shape 25"/>
          <p:cNvSpPr/>
          <p:nvPr/>
        </p:nvSpPr>
        <p:spPr>
          <a:xfrm>
            <a:off x="4434840" y="288036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4608576" y="313182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6018" y="3239262"/>
            <a:ext cx="214884" cy="2148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48072" y="302666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Magazyn</a:t>
            </a:r>
            <a:endParaRPr lang="en-US" sz="1220" dirty="0"/>
          </a:p>
        </p:txBody>
      </p:sp>
      <p:sp>
        <p:nvSpPr>
          <p:cNvPr id="36" name="Text 28"/>
          <p:cNvSpPr/>
          <p:nvPr/>
        </p:nvSpPr>
        <p:spPr>
          <a:xfrm>
            <a:off x="5148072" y="331927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części i zamówienia</a:t>
            </a:r>
            <a:endParaRPr lang="en-US" sz="890" dirty="0"/>
          </a:p>
        </p:txBody>
      </p:sp>
      <p:sp>
        <p:nvSpPr>
          <p:cNvPr id="37" name="Shape 29"/>
          <p:cNvSpPr/>
          <p:nvPr/>
        </p:nvSpPr>
        <p:spPr>
          <a:xfrm>
            <a:off x="7955280" y="2880360"/>
            <a:ext cx="2999232" cy="932688"/>
          </a:xfrm>
          <a:prstGeom prst="roundRect">
            <a:avLst>
              <a:gd name="adj" fmla="val 10784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8129016" y="3131820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36458" y="3239262"/>
            <a:ext cx="214884" cy="21488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668512" y="3026664"/>
            <a:ext cx="213055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Raporty</a:t>
            </a:r>
            <a:endParaRPr lang="en-US" sz="1220" dirty="0"/>
          </a:p>
        </p:txBody>
      </p:sp>
      <p:sp>
        <p:nvSpPr>
          <p:cNvPr id="41" name="Text 32"/>
          <p:cNvSpPr/>
          <p:nvPr/>
        </p:nvSpPr>
        <p:spPr>
          <a:xfrm>
            <a:off x="8668512" y="3319272"/>
            <a:ext cx="2130552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ocena bieżącej sytuacji</a:t>
            </a:r>
            <a:endParaRPr lang="en-US" sz="890" dirty="0"/>
          </a:p>
        </p:txBody>
      </p:sp>
      <p:sp>
        <p:nvSpPr>
          <p:cNvPr id="42" name="Shape 33"/>
          <p:cNvSpPr/>
          <p:nvPr/>
        </p:nvSpPr>
        <p:spPr>
          <a:xfrm>
            <a:off x="1417320" y="4892040"/>
            <a:ext cx="9235440" cy="731520"/>
          </a:xfrm>
          <a:prstGeom prst="roundRect">
            <a:avLst>
              <a:gd name="adj" fmla="val 16250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1591056" y="504748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91640" y="5148072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2130552" y="5038344"/>
            <a:ext cx="8375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Moduły są połączone: awaria dotyczy konkretnej maszyny, a naprawa może wymagać części z magazynu.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 hali: plan zamiast samej listy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wizualne rozmieszczenie maszyn i obszarów pracy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49808" y="1325880"/>
            <a:ext cx="6035040" cy="4434840"/>
          </a:xfrm>
          <a:prstGeom prst="roundRect">
            <a:avLst>
              <a:gd name="adj" fmla="val 3711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456432" y="2857500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1880" y="301294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50976" y="3525012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F"/>
                </a:solidFill>
              </a:rPr>
              <a:t>zrzut: edytor layoutu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69264" y="3927348"/>
            <a:ext cx="5596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D4E5"/>
                </a:solidFill>
              </a:rPr>
              <a:t>widok z planem hali i elementami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360920" y="1760220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7580376" y="16916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AF8FF"/>
                </a:solidFill>
              </a:rPr>
              <a:t>widok pokazuje położenie maszyn na hali</a:t>
            </a:r>
            <a:endParaRPr lang="en-US" sz="1120" dirty="0"/>
          </a:p>
        </p:txBody>
      </p:sp>
      <p:sp>
        <p:nvSpPr>
          <p:cNvPr id="19" name="Shape 15"/>
          <p:cNvSpPr/>
          <p:nvPr/>
        </p:nvSpPr>
        <p:spPr>
          <a:xfrm>
            <a:off x="7360920" y="2400300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7580376" y="23317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AF8FF"/>
                </a:solidFill>
              </a:rPr>
              <a:t>elementy można rozmieszczać na planie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7360920" y="3040380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7580376" y="29718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AF8FF"/>
                </a:solidFill>
              </a:rPr>
              <a:t>obiekt na planie prowadzi do danych maszyny</a:t>
            </a:r>
            <a:endParaRPr lang="en-US" sz="1120" dirty="0"/>
          </a:p>
        </p:txBody>
      </p:sp>
      <p:sp>
        <p:nvSpPr>
          <p:cNvPr id="23" name="Shape 19"/>
          <p:cNvSpPr/>
          <p:nvPr/>
        </p:nvSpPr>
        <p:spPr>
          <a:xfrm>
            <a:off x="7360920" y="3680460"/>
            <a:ext cx="109728" cy="109728"/>
          </a:xfrm>
          <a:prstGeom prst="ellipse">
            <a:avLst/>
          </a:prstGeom>
          <a:solidFill>
            <a:srgbClr val="28D9FF"/>
          </a:solidFill>
          <a:ln w="12700">
            <a:solidFill>
              <a:srgbClr val="28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7580376" y="36118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AF8FF"/>
                </a:solidFill>
              </a:rPr>
              <a:t>łatwiej analizować układ hali jako całość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Utrzymanie ruchu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obsługa awarii, zleceń pracy i przeglądów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41248" y="2029968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865376" y="2231136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7108" y="237286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50976" y="2898648"/>
            <a:ext cx="2395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Zgłoszenie awarii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42416" y="3300984"/>
            <a:ext cx="2212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co się stało i której maszyny dotyczy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3566160" y="3035808"/>
            <a:ext cx="896112" cy="0"/>
          </a:xfrm>
          <a:prstGeom prst="line">
            <a:avLst/>
          </a:prstGeom>
          <a:noFill/>
          <a:ln w="22860">
            <a:solidFill>
              <a:srgbClr val="28D9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608576" y="2029968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5632704" y="2231136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4436" y="237286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18304" y="2898648"/>
            <a:ext cx="2395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Zlecenie pracy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809744" y="3300984"/>
            <a:ext cx="2212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jakie działanie należy wykonać</a:t>
            </a:r>
            <a:endParaRPr lang="en-US" sz="920" dirty="0"/>
          </a:p>
        </p:txBody>
      </p:sp>
      <p:sp>
        <p:nvSpPr>
          <p:cNvPr id="23" name="Shape 18"/>
          <p:cNvSpPr/>
          <p:nvPr/>
        </p:nvSpPr>
        <p:spPr>
          <a:xfrm>
            <a:off x="7333488" y="3035808"/>
            <a:ext cx="896112" cy="0"/>
          </a:xfrm>
          <a:prstGeom prst="line">
            <a:avLst/>
          </a:prstGeom>
          <a:noFill/>
          <a:ln w="22860">
            <a:solidFill>
              <a:srgbClr val="28D9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8375904" y="2029968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9400032" y="2231136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1764" y="2372868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485632" y="2898648"/>
            <a:ext cx="2395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Przegląd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577072" y="3300984"/>
            <a:ext cx="2212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działanie zaplanowane lub okresowe</a:t>
            </a:r>
            <a:endParaRPr lang="en-US" sz="920" dirty="0"/>
          </a:p>
        </p:txBody>
      </p:sp>
      <p:sp>
        <p:nvSpPr>
          <p:cNvPr id="29" name="Shape 23"/>
          <p:cNvSpPr/>
          <p:nvPr/>
        </p:nvSpPr>
        <p:spPr>
          <a:xfrm>
            <a:off x="1234440" y="4754880"/>
            <a:ext cx="964692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1408176" y="491032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8760" y="5010912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947672" y="4901184"/>
            <a:ext cx="87873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Historia zdarzeń jest przypisana do maszyny, dlatego można analizować problemy powtarzające się w czasie.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Magazyn części i zaopatrzenie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dostępność części wpływa na czas napraw i przeglądów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748272" y="1353312"/>
            <a:ext cx="4434840" cy="4069080"/>
          </a:xfrm>
          <a:prstGeom prst="roundRect">
            <a:avLst>
              <a:gd name="adj" fmla="val 4045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8654796" y="2702052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0244" y="285750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9440" y="3369564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F"/>
                </a:solidFill>
              </a:rPr>
              <a:t>zrzut: magazyn części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967728" y="3771900"/>
            <a:ext cx="3995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D4E5"/>
                </a:solidFill>
              </a:rPr>
              <a:t>lista pozycji i rekomendacje zakupowe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68680" y="1426464"/>
            <a:ext cx="4800600" cy="841248"/>
          </a:xfrm>
          <a:prstGeom prst="roundRect">
            <a:avLst>
              <a:gd name="adj" fmla="val 11957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1042416" y="1632204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858" y="1739646"/>
            <a:ext cx="214884" cy="2148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81912" y="1572768"/>
            <a:ext cx="3931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 magazynowy</a:t>
            </a:r>
            <a:endParaRPr lang="en-US" sz="1220" dirty="0"/>
          </a:p>
        </p:txBody>
      </p:sp>
      <p:sp>
        <p:nvSpPr>
          <p:cNvPr id="21" name="Text 16"/>
          <p:cNvSpPr/>
          <p:nvPr/>
        </p:nvSpPr>
        <p:spPr>
          <a:xfrm>
            <a:off x="1581912" y="1865376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ile części jest dostępnych</a:t>
            </a:r>
            <a:endParaRPr lang="en-US" sz="890" dirty="0"/>
          </a:p>
        </p:txBody>
      </p:sp>
      <p:sp>
        <p:nvSpPr>
          <p:cNvPr id="22" name="Shape 17"/>
          <p:cNvSpPr/>
          <p:nvPr/>
        </p:nvSpPr>
        <p:spPr>
          <a:xfrm>
            <a:off x="868680" y="2487168"/>
            <a:ext cx="4800600" cy="841248"/>
          </a:xfrm>
          <a:prstGeom prst="roundRect">
            <a:avLst>
              <a:gd name="adj" fmla="val 11957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1042416" y="2692908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9858" y="2800350"/>
            <a:ext cx="214884" cy="2148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81912" y="2633472"/>
            <a:ext cx="3931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Poziom minimalny</a:t>
            </a:r>
            <a:endParaRPr lang="en-US" sz="1220" dirty="0"/>
          </a:p>
        </p:txBody>
      </p:sp>
      <p:sp>
        <p:nvSpPr>
          <p:cNvPr id="26" name="Text 20"/>
          <p:cNvSpPr/>
          <p:nvPr/>
        </p:nvSpPr>
        <p:spPr>
          <a:xfrm>
            <a:off x="1581912" y="2926080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kiedy zapas wymaga uzupełnienia</a:t>
            </a:r>
            <a:endParaRPr lang="en-US" sz="890" dirty="0"/>
          </a:p>
        </p:txBody>
      </p:sp>
      <p:sp>
        <p:nvSpPr>
          <p:cNvPr id="27" name="Shape 21"/>
          <p:cNvSpPr/>
          <p:nvPr/>
        </p:nvSpPr>
        <p:spPr>
          <a:xfrm>
            <a:off x="868680" y="3547872"/>
            <a:ext cx="4800600" cy="841248"/>
          </a:xfrm>
          <a:prstGeom prst="roundRect">
            <a:avLst>
              <a:gd name="adj" fmla="val 11957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1042416" y="3753612"/>
            <a:ext cx="429768" cy="42976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9858" y="3861054"/>
            <a:ext cx="214884" cy="2148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81912" y="3694176"/>
            <a:ext cx="3931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Rekomendacje zakupowe</a:t>
            </a:r>
            <a:endParaRPr lang="en-US" sz="1220" dirty="0"/>
          </a:p>
        </p:txBody>
      </p:sp>
      <p:sp>
        <p:nvSpPr>
          <p:cNvPr id="31" name="Text 24"/>
          <p:cNvSpPr/>
          <p:nvPr/>
        </p:nvSpPr>
        <p:spPr>
          <a:xfrm>
            <a:off x="1581912" y="3986784"/>
            <a:ext cx="3931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B9D4E5"/>
                </a:solidFill>
              </a:rPr>
              <a:t>które pozycje warto zamówić</a:t>
            </a:r>
            <a:endParaRPr lang="en-US" sz="890" dirty="0"/>
          </a:p>
        </p:txBody>
      </p:sp>
      <p:sp>
        <p:nvSpPr>
          <p:cNvPr id="32" name="Shape 25"/>
          <p:cNvSpPr/>
          <p:nvPr/>
        </p:nvSpPr>
        <p:spPr>
          <a:xfrm>
            <a:off x="868680" y="4864608"/>
            <a:ext cx="4800600" cy="685800"/>
          </a:xfrm>
          <a:prstGeom prst="roundRect">
            <a:avLst>
              <a:gd name="adj" fmla="val 17333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1042416" y="5020056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5120640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581912" y="5010912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Magazyn wspiera realizację napraw, przeglądów i zleceń pracy.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i raporty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widok zbiorczy najważniejszych informacji operacyjnych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49808" y="1298448"/>
            <a:ext cx="5989320" cy="4498848"/>
          </a:xfrm>
          <a:prstGeom prst="roundRect">
            <a:avLst>
              <a:gd name="adj" fmla="val 3659"/>
            </a:avLst>
          </a:prstGeom>
          <a:solidFill>
            <a:srgbClr val="061A2F">
              <a:alpha val="80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433572" y="2862072"/>
            <a:ext cx="621792" cy="621792"/>
          </a:xfrm>
          <a:prstGeom prst="ellipse">
            <a:avLst/>
          </a:prstGeom>
          <a:solidFill>
            <a:srgbClr val="08223D">
              <a:alpha val="94000"/>
            </a:srgbClr>
          </a:solidFill>
          <a:ln w="15240">
            <a:solidFill>
              <a:srgbClr val="28D9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9020" y="301752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50976" y="3529584"/>
            <a:ext cx="5586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8FF"/>
                </a:solidFill>
              </a:rPr>
              <a:t>zrzut: dashboard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69264" y="3931920"/>
            <a:ext cx="5550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D4E5"/>
                </a:solidFill>
              </a:rPr>
              <a:t>kafle, wskaźniki i lista działań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150608" y="1417320"/>
            <a:ext cx="4160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7324344" y="1600200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0356" y="1696212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3840" y="1563624"/>
            <a:ext cx="3291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Awarie krytyczne</a:t>
            </a:r>
            <a:endParaRPr lang="en-US" sz="1220" dirty="0"/>
          </a:p>
        </p:txBody>
      </p:sp>
      <p:sp>
        <p:nvSpPr>
          <p:cNvPr id="21" name="Shape 16"/>
          <p:cNvSpPr/>
          <p:nvPr/>
        </p:nvSpPr>
        <p:spPr>
          <a:xfrm>
            <a:off x="7150608" y="2432304"/>
            <a:ext cx="4160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7324344" y="2615184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0356" y="2711196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63840" y="2578608"/>
            <a:ext cx="3291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Przeglądy po terminie</a:t>
            </a:r>
            <a:endParaRPr lang="en-US" sz="1220" dirty="0"/>
          </a:p>
        </p:txBody>
      </p:sp>
      <p:sp>
        <p:nvSpPr>
          <p:cNvPr id="25" name="Shape 19"/>
          <p:cNvSpPr/>
          <p:nvPr/>
        </p:nvSpPr>
        <p:spPr>
          <a:xfrm>
            <a:off x="7150608" y="3447288"/>
            <a:ext cx="4160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7324344" y="3630168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0356" y="3726180"/>
            <a:ext cx="192024" cy="1920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63840" y="3593592"/>
            <a:ext cx="3291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Niedobory magazynowe</a:t>
            </a:r>
            <a:endParaRPr lang="en-US" sz="1220" dirty="0"/>
          </a:p>
        </p:txBody>
      </p:sp>
      <p:sp>
        <p:nvSpPr>
          <p:cNvPr id="29" name="Shape 22"/>
          <p:cNvSpPr/>
          <p:nvPr/>
        </p:nvSpPr>
        <p:spPr>
          <a:xfrm>
            <a:off x="7150608" y="4462272"/>
            <a:ext cx="4160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25C7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7324344" y="464515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0356" y="4741164"/>
            <a:ext cx="192024" cy="1920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63840" y="4608576"/>
            <a:ext cx="3291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Braki w uprawnieniach</a:t>
            </a:r>
            <a:endParaRPr lang="en-US" sz="1220" dirty="0"/>
          </a:p>
        </p:txBody>
      </p:sp>
      <p:sp>
        <p:nvSpPr>
          <p:cNvPr id="33" name="Text 25"/>
          <p:cNvSpPr/>
          <p:nvPr/>
        </p:nvSpPr>
        <p:spPr>
          <a:xfrm>
            <a:off x="7269480" y="5440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AF8FF"/>
                </a:solidFill>
              </a:rPr>
              <a:t>Cel widoku: szybkie wskazanie obszarów wymagających reakcji.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86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0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Architektura rozwiązania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podział na interfejs, API i bazę danych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68680" y="1463040"/>
            <a:ext cx="2697480" cy="2057400"/>
          </a:xfrm>
          <a:prstGeom prst="roundRect">
            <a:avLst>
              <a:gd name="adj" fmla="val 6222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933956" y="166420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5688" y="18059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78408" y="2331720"/>
            <a:ext cx="2478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Frontend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69848" y="2734056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React + TypeScript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widoki, formularze i layout hali</a:t>
            </a:r>
            <a:endParaRPr lang="en-US" sz="920" dirty="0"/>
          </a:p>
        </p:txBody>
      </p:sp>
      <p:sp>
        <p:nvSpPr>
          <p:cNvPr id="17" name="Shape 13"/>
          <p:cNvSpPr/>
          <p:nvPr/>
        </p:nvSpPr>
        <p:spPr>
          <a:xfrm>
            <a:off x="3657600" y="2505456"/>
            <a:ext cx="777240" cy="0"/>
          </a:xfrm>
          <a:prstGeom prst="line">
            <a:avLst/>
          </a:prstGeom>
          <a:noFill/>
          <a:ln w="20320">
            <a:solidFill>
              <a:srgbClr val="28D9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572000" y="1463040"/>
            <a:ext cx="2697480" cy="2057400"/>
          </a:xfrm>
          <a:prstGeom prst="roundRect">
            <a:avLst>
              <a:gd name="adj" fmla="val 6222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5637276" y="166420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9008" y="1805940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81728" y="2331720"/>
            <a:ext cx="2478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Backend API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773168" y="2734056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ASP.NET Core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logika biznesowa i autoryzacja</a:t>
            </a:r>
            <a:endParaRPr lang="en-US" sz="920" dirty="0"/>
          </a:p>
        </p:txBody>
      </p:sp>
      <p:sp>
        <p:nvSpPr>
          <p:cNvPr id="23" name="Shape 18"/>
          <p:cNvSpPr/>
          <p:nvPr/>
        </p:nvSpPr>
        <p:spPr>
          <a:xfrm>
            <a:off x="7360920" y="2505456"/>
            <a:ext cx="777240" cy="0"/>
          </a:xfrm>
          <a:prstGeom prst="line">
            <a:avLst/>
          </a:prstGeom>
          <a:noFill/>
          <a:ln w="20320">
            <a:solidFill>
              <a:srgbClr val="28D9F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8275320" y="1463040"/>
            <a:ext cx="2697480" cy="2057400"/>
          </a:xfrm>
          <a:prstGeom prst="roundRect">
            <a:avLst>
              <a:gd name="adj" fmla="val 6222"/>
            </a:avLst>
          </a:prstGeom>
          <a:solidFill>
            <a:srgbClr val="0D2A47">
              <a:alpha val="97000"/>
            </a:srgbClr>
          </a:solidFill>
          <a:ln w="12700">
            <a:solidFill>
              <a:srgbClr val="286B8A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9340596" y="1664208"/>
            <a:ext cx="566928" cy="566928"/>
          </a:xfrm>
          <a:prstGeom prst="ellipse">
            <a:avLst/>
          </a:prstGeom>
          <a:solidFill>
            <a:srgbClr val="11395F">
              <a:alpha val="94000"/>
            </a:srgbClr>
          </a:solidFill>
          <a:ln w="15240">
            <a:solidFill>
              <a:srgbClr val="28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82328" y="1805940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85048" y="2331720"/>
            <a:ext cx="2478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Baza danych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476488" y="2734056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PostgreSQL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B9D4E5"/>
                </a:solidFill>
              </a:rPr>
              <a:t>użytkownicy, hale, maszyny i magazyn</a:t>
            </a:r>
            <a:endParaRPr lang="en-US" sz="920" dirty="0"/>
          </a:p>
        </p:txBody>
      </p:sp>
      <p:sp>
        <p:nvSpPr>
          <p:cNvPr id="29" name="Shape 23"/>
          <p:cNvSpPr/>
          <p:nvPr/>
        </p:nvSpPr>
        <p:spPr>
          <a:xfrm>
            <a:off x="1188720" y="4480560"/>
            <a:ext cx="470916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1362456" y="463600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3040" y="4736592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901952" y="4626864"/>
            <a:ext cx="3849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Logowanie, role i token JWT ograniczają dostęp do funkcji.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263640" y="4480560"/>
            <a:ext cx="4709160" cy="749808"/>
          </a:xfrm>
          <a:prstGeom prst="roundRect">
            <a:avLst>
              <a:gd name="adj" fmla="val 15854"/>
            </a:avLst>
          </a:prstGeom>
          <a:solidFill>
            <a:srgbClr val="07243E">
              <a:alpha val="97000"/>
            </a:srgbClr>
          </a:solidFill>
          <a:ln w="13970">
            <a:solidFill>
              <a:srgbClr val="28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27"/>
          <p:cNvSpPr/>
          <p:nvPr/>
        </p:nvSpPr>
        <p:spPr>
          <a:xfrm>
            <a:off x="6437376" y="4636008"/>
            <a:ext cx="402336" cy="402336"/>
          </a:xfrm>
          <a:prstGeom prst="ellipse">
            <a:avLst/>
          </a:prstGeom>
          <a:solidFill>
            <a:srgbClr val="0C3153">
              <a:alpha val="94000"/>
            </a:srgbClr>
          </a:solidFill>
          <a:ln w="15240">
            <a:solidFill>
              <a:srgbClr val="28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7960" y="4736592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76872" y="4626864"/>
            <a:ext cx="3849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AF8FF"/>
                </a:solidFill>
              </a:rPr>
              <a:t>Dane mogą być rozdzielone między organizacjami.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futuristic_industrial_tech_background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90000"/>
            </a:srgbClr>
          </a:solidFill>
          <a:ln w="12700">
            <a:solidFill>
              <a:srgbClr val="03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1">
              <a:alpha val="75000"/>
            </a:srgbClr>
          </a:solidFill>
          <a:ln w="12700">
            <a:solidFill>
              <a:srgbClr val="071B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12064" y="6528816"/>
            <a:ext cx="2011680" cy="0"/>
          </a:xfrm>
          <a:prstGeom prst="line">
            <a:avLst/>
          </a:prstGeom>
          <a:noFill/>
          <a:ln w="15240">
            <a:solidFill>
              <a:srgbClr val="28D9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692640" y="347472"/>
            <a:ext cx="1920240" cy="0"/>
          </a:xfrm>
          <a:prstGeom prst="line">
            <a:avLst/>
          </a:prstGeom>
          <a:noFill/>
          <a:ln w="15240">
            <a:solidFill>
              <a:srgbClr val="28D9FF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329184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Podsumowanie i kierunki rozwoju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40080" y="969264"/>
            <a:ext cx="1508760" cy="0"/>
          </a:xfrm>
          <a:prstGeom prst="line">
            <a:avLst/>
          </a:prstGeom>
          <a:noFill/>
          <a:ln w="26670">
            <a:solidFill>
              <a:srgbClr val="28D9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322576" y="8961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D4E5"/>
                </a:solidFill>
              </a:rPr>
              <a:t>najważniejsze rezultaty pracy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6327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A9BE"/>
                </a:solidFill>
              </a:rPr>
              <a:t>FlowCraft — praca dyplomowa magisterska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01400" y="63276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005840" y="1417320"/>
            <a:ext cx="9875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D7FA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1179576" y="1600200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5588" y="1696212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19072" y="1563624"/>
            <a:ext cx="9006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Wspólny widok hali, maszyn i działań operacyjnych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1005840" y="2450592"/>
            <a:ext cx="9875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D7FA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1179576" y="2633472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5588" y="272948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19072" y="2596896"/>
            <a:ext cx="9006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Powiązanie awarii, przeglądów, pracowników i części</a:t>
            </a:r>
            <a:endParaRPr lang="en-US" sz="1220" dirty="0"/>
          </a:p>
        </p:txBody>
      </p:sp>
      <p:sp>
        <p:nvSpPr>
          <p:cNvPr id="20" name="Shape 15"/>
          <p:cNvSpPr/>
          <p:nvPr/>
        </p:nvSpPr>
        <p:spPr>
          <a:xfrm>
            <a:off x="1005840" y="3483864"/>
            <a:ext cx="9875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D7FA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1179576" y="3666744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5588" y="3762756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19072" y="3630168"/>
            <a:ext cx="9006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Lepsza kontrola nad informacjami potrzebnymi do codziennej pracy</a:t>
            </a:r>
            <a:endParaRPr lang="en-US" sz="1220" dirty="0"/>
          </a:p>
        </p:txBody>
      </p:sp>
      <p:sp>
        <p:nvSpPr>
          <p:cNvPr id="24" name="Shape 18"/>
          <p:cNvSpPr/>
          <p:nvPr/>
        </p:nvSpPr>
        <p:spPr>
          <a:xfrm>
            <a:off x="1005840" y="4517136"/>
            <a:ext cx="9875520" cy="749808"/>
          </a:xfrm>
          <a:prstGeom prst="roundRect">
            <a:avLst>
              <a:gd name="adj" fmla="val 13415"/>
            </a:avLst>
          </a:prstGeom>
          <a:solidFill>
            <a:srgbClr val="102B48">
              <a:alpha val="96000"/>
            </a:srgbClr>
          </a:solidFill>
          <a:ln w="10160">
            <a:solidFill>
              <a:srgbClr val="2D7FA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1179576" y="4700016"/>
            <a:ext cx="384048" cy="384048"/>
          </a:xfrm>
          <a:prstGeom prst="ellipse">
            <a:avLst/>
          </a:prstGeom>
          <a:solidFill>
            <a:srgbClr val="0B2846">
              <a:alpha val="94000"/>
            </a:srgbClr>
          </a:solidFill>
          <a:ln w="15240">
            <a:solidFill>
              <a:srgbClr val="28D9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5588" y="4796028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19072" y="4663440"/>
            <a:ext cx="90068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Możliwy rozwój: IoT, dane z maszyn i integracje z systemami zewnętrznymi</a:t>
            </a:r>
            <a:endParaRPr lang="en-US" sz="1220" dirty="0"/>
          </a:p>
        </p:txBody>
      </p:sp>
      <p:sp>
        <p:nvSpPr>
          <p:cNvPr id="28" name="Text 21"/>
          <p:cNvSpPr/>
          <p:nvPr/>
        </p:nvSpPr>
        <p:spPr>
          <a:xfrm>
            <a:off x="1097280" y="5623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BFF"/>
                </a:solidFill>
              </a:rPr>
              <a:t>Wniosek: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2148840" y="56052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8FF"/>
                </a:solidFill>
              </a:rPr>
              <a:t>FlowCraft porządkuje informacje o hali i wspiera podejmowanie decyzji operacyjnych.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672</Words>
  <Application>Microsoft Office PowerPoint</Application>
  <PresentationFormat>Widescreen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FlowCraft — system webowy do zarządzania halą</dc:title>
  <dc:subject>FlowCraft — prezentacja pracy dyplomowej</dc:subject>
  <dc:creator>OpenAI</dc:creator>
  <cp:lastModifiedBy>Maciej Szwast</cp:lastModifiedBy>
  <cp:revision>3</cp:revision>
  <dcterms:created xsi:type="dcterms:W3CDTF">2026-05-25T14:54:40Z</dcterms:created>
  <dcterms:modified xsi:type="dcterms:W3CDTF">2026-05-25T15:00:51Z</dcterms:modified>
</cp:coreProperties>
</file>